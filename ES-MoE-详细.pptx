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</p:sldIdLst>
  <p:sldSz cx="12192000" cy="6858000"/>
  <p:notesSz cx="6858000" cy="9144000"/>
  <p:embeddedFontLst>
    <p:embeddedFont>
      <p:font typeface="Microsoft YaHei" panose="020B0503020204020204" pitchFamily="34" charset="-122"/>
      <p:regular r:id="rId87"/>
      <p:bold r:id="rId88"/>
    </p:embeddedFont>
    <p:embeddedFont>
      <p:font typeface="Consolas" panose="020B0609020204030204" pitchFamily="49" charset="0"/>
      <p:regular r:id="rId89"/>
      <p:bold r:id="rId90"/>
      <p:italic r:id="rId91"/>
      <p:boldItalic r:id="rId9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65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font" Target="fonts/font3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font" Target="fonts/font4.fntdata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font" Target="fonts/font2.fntdata"/><Relationship Id="rId91" Type="http://schemas.openxmlformats.org/officeDocument/2006/relationships/font" Target="fonts/font5.fntdata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6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1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103120"/>
            <a:ext cx="11057839" cy="3167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700" b="0" dirty="0" err="1">
                <a:solidFill>
                  <a:srgbClr val="1F8A80"/>
                </a:solidFill>
                <a:latin typeface="Microsoft YaHei"/>
              </a:rPr>
              <a:t>腾讯犀牛鸟开源人才培养计划</a:t>
            </a:r>
            <a:r>
              <a:rPr sz="1700" b="0" dirty="0">
                <a:solidFill>
                  <a:srgbClr val="1F8A80"/>
                </a:solidFill>
                <a:latin typeface="Microsoft YaHei"/>
              </a:rPr>
              <a:t> · </a:t>
            </a:r>
            <a:r>
              <a:rPr sz="1700" b="0" dirty="0" err="1">
                <a:solidFill>
                  <a:srgbClr val="1F8A80"/>
                </a:solidFill>
                <a:latin typeface="Microsoft YaHei"/>
              </a:rPr>
              <a:t>课题</a:t>
            </a:r>
            <a:r>
              <a:rPr sz="1700" b="0" dirty="0">
                <a:solidFill>
                  <a:srgbClr val="1F8A80"/>
                </a:solidFill>
                <a:latin typeface="Microsoft YaHei"/>
              </a:rPr>
              <a:t> E1 · </a:t>
            </a:r>
            <a:r>
              <a:rPr sz="1700" b="0" dirty="0" err="1">
                <a:solidFill>
                  <a:srgbClr val="1F8A80"/>
                </a:solidFill>
                <a:latin typeface="Microsoft YaHei"/>
              </a:rPr>
              <a:t>结项</a:t>
            </a:r>
            <a:endParaRPr sz="1700" b="0" dirty="0">
              <a:solidFill>
                <a:srgbClr val="1F8A80"/>
              </a:solidFill>
              <a:latin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2514600"/>
            <a:ext cx="11057839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4600" b="0">
                <a:solidFill>
                  <a:srgbClr val="1B1F24"/>
                </a:solidFill>
                <a:latin typeface="Microsoft YaHei"/>
              </a:rPr>
              <a:t>ES-MoE：从一篇论文到一个可安装的插件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931920"/>
            <a:ext cx="110578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400" b="0">
                <a:solidFill>
                  <a:srgbClr val="667085"/>
                </a:solidFill>
                <a:latin typeface="Microsoft YaHei"/>
              </a:rPr>
              <a:t>把 YOLO-Master 的 ES-MoE 块做成装在官方 Ultralytics 上的插件：不改框架、不用 fork，路由的负载均衡损失真的进优化器。</a:t>
            </a: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endParaRPr sz="1400" b="0">
              <a:solidFill>
                <a:srgbClr val="667085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400" b="0">
                <a:solidFill>
                  <a:srgbClr val="667085"/>
                </a:solidFill>
                <a:latin typeface="Microsoft YaHei"/>
              </a:rPr>
              <a:t>仓库 github.com/Lfan-ke/ES-MoE　　文档 lfan-ke.github.io/ES-MoE　　包 pypi.org/project/esmoe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导览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这份讲解怎么读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导览</a:t>
            </a:r>
            <a:r>
              <a:rPr sz="950">
                <a:solidFill>
                  <a:srgbClr val="667085"/>
                </a:solidFill>
                <a:latin typeface="Consolas"/>
              </a:rPr>
              <a:t>　·　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3619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500" b="0">
                <a:solidFill>
                  <a:srgbClr val="1B1F24"/>
                </a:solidFill>
                <a:latin typeface="Microsoft YaHei"/>
              </a:rPr>
              <a:t>四章，前两章是背景与题面，后两章是我们做了什么、测出了什么。只想看结论的，翻到第四章。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84832"/>
            <a:ext cx="2613583" cy="192024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第一章
YOLO-Master 讲透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论文说了什么、上游代码怎么落地的，一行一行对着源码看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1679" y="2084832"/>
            <a:ext cx="2613583" cy="192024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第二章
E1 的题面与我们的思考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任务书要什么
我们判断难点在哪、方法论怎么定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6430" y="2084832"/>
            <a:ext cx="2613583" cy="192024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第三章
我们的包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每个入口、每段块代码、每个小巧思，以及它对应上游的哪一处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1181" y="2084832"/>
            <a:ext cx="2613583" cy="192024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第四章
实验与数据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协议、噪声底、八轮判读线、与上游的同配置对照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462272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全篇的配色约定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846320"/>
            <a:ext cx="274320" cy="274320"/>
          </a:xfrm>
          <a:prstGeom prst="round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488289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专家 · 核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21408" y="4846320"/>
            <a:ext cx="274320" cy="27432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87168" y="488289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专家 · 核 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75888" y="4846320"/>
            <a:ext cx="274320" cy="274320"/>
          </a:xfrm>
          <a:prstGeom prst="roundRect">
            <a:avLst/>
          </a:prstGeom>
          <a:solidFill>
            <a:srgbClr val="1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41648" y="488289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专家 · 核 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30368" y="4846320"/>
            <a:ext cx="274320" cy="274320"/>
          </a:xfrm>
          <a:prstGeom prst="roundRect">
            <a:avLst/>
          </a:prstGeom>
          <a:solidFill>
            <a:srgbClr val="6C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96128" y="488289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专家 · 核 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50608" y="4846320"/>
            <a:ext cx="274320" cy="27432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16368" y="488289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上游 YOLO-Master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28048" y="4846320"/>
            <a:ext cx="274320" cy="274320"/>
          </a:xfrm>
          <a:prstGeom prst="roundRect">
            <a:avLst/>
          </a:prstGeom>
          <a:solidFill>
            <a:srgbClr val="1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93808" y="488289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本包 esmoe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导览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先给答案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导览</a:t>
            </a:r>
            <a:r>
              <a:rPr sz="950">
                <a:solidFill>
                  <a:srgbClr val="667085"/>
                </a:solidFill>
                <a:latin typeface="Consolas"/>
              </a:rPr>
              <a:t>　·　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2613583" cy="173736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包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PyPI esmoe 1.0.0，三个调用接进任意一份官方 YOLO 配置，七代主干都能装能训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1679" y="1536192"/>
            <a:ext cx="2613583" cy="173736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证据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199 条记录、142 条满协议运行，权重与逐轮曲线全部公开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6430" y="1536192"/>
            <a:ext cx="2613583" cy="173736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方法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八轮判读线先于结果提交，被推翻的预测照原文留在判读线里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11181" y="1536192"/>
            <a:ext cx="2613583" cy="173736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上游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修复已合入 #241；发布模型用本包重建，COCO 指标逐位一致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639312"/>
            <a:ext cx="11057839" cy="2529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 dirty="0" err="1">
                <a:solidFill>
                  <a:srgbClr val="1B1F24"/>
                </a:solidFill>
                <a:latin typeface="Microsoft YaHei"/>
              </a:rPr>
              <a:t>实验数字</a:t>
            </a:r>
            <a:r>
              <a:rPr lang="zh-CN" altLang="en-US" sz="1350" b="0" dirty="0">
                <a:solidFill>
                  <a:srgbClr val="1B1F2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均位于</a:t>
            </a:r>
            <a:r>
              <a:rPr sz="1350" b="0" dirty="0">
                <a:solidFill>
                  <a:srgbClr val="1B1F2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sz="1350" b="1" dirty="0">
                <a:solidFill>
                  <a:srgbClr val="B3272D"/>
                </a:solidFill>
                <a:latin typeface="Microsoft YaHei"/>
              </a:rPr>
              <a:t>results/</a:t>
            </a:r>
            <a:r>
              <a:rPr sz="1350" b="0" dirty="0">
                <a:solidFill>
                  <a:srgbClr val="1B1F24"/>
                </a:solidFill>
                <a:latin typeface="Microsoft YaHei"/>
              </a:rPr>
              <a:t> </a:t>
            </a:r>
            <a:r>
              <a:rPr lang="en-US" sz="1350" b="0" dirty="0">
                <a:solidFill>
                  <a:srgbClr val="1B1F24"/>
                </a:solidFill>
                <a:latin typeface="Microsoft YaHei"/>
              </a:rPr>
              <a:t>     </a:t>
            </a:r>
            <a:r>
              <a:rPr sz="1350" b="0" dirty="0" err="1">
                <a:solidFill>
                  <a:srgbClr val="1B1F24"/>
                </a:solidFill>
                <a:latin typeface="Microsoft YaHei"/>
              </a:rPr>
              <a:t>重跑</a:t>
            </a:r>
            <a:r>
              <a:rPr sz="1350" b="0" dirty="0">
                <a:solidFill>
                  <a:srgbClr val="1B1F24"/>
                </a:solidFill>
                <a:latin typeface="Microsoft YaHei"/>
              </a:rPr>
              <a:t> </a:t>
            </a:r>
            <a:r>
              <a:rPr sz="1300" b="0" dirty="0" err="1">
                <a:solidFill>
                  <a:srgbClr val="1B1F24"/>
                </a:solidFill>
                <a:latin typeface="Consolas"/>
              </a:rPr>
              <a:t>uv</a:t>
            </a:r>
            <a:r>
              <a:rPr sz="1300" b="0" dirty="0">
                <a:solidFill>
                  <a:srgbClr val="1B1F24"/>
                </a:solidFill>
                <a:latin typeface="Consolas"/>
              </a:rPr>
              <a:t> run python talk.py</a:t>
            </a:r>
            <a:r>
              <a:rPr sz="1350" b="0" dirty="0">
                <a:solidFill>
                  <a:srgbClr val="1B1F24"/>
                </a:solidFill>
                <a:latin typeface="Microsoft YaHei"/>
              </a:rPr>
              <a:t> </a:t>
            </a:r>
            <a:r>
              <a:rPr sz="1350" b="0" dirty="0" err="1">
                <a:solidFill>
                  <a:srgbClr val="1B1F24"/>
                </a:solidFill>
                <a:latin typeface="Microsoft YaHei"/>
              </a:rPr>
              <a:t>就会按最新记录重画</a:t>
            </a:r>
            <a:r>
              <a:rPr sz="1350" b="0" dirty="0">
                <a:solidFill>
                  <a:srgbClr val="1B1F24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377440"/>
            <a:ext cx="1105783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0">
                <a:solidFill>
                  <a:srgbClr val="1F8A80"/>
                </a:solidFill>
                <a:latin typeface="Microsoft YaHei"/>
              </a:rPr>
              <a:t>第一章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88920"/>
            <a:ext cx="11057839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800" b="0">
                <a:solidFill>
                  <a:srgbClr val="1B1F24"/>
                </a:solidFill>
                <a:latin typeface="Microsoft YaHei"/>
              </a:rPr>
              <a:t>YOLO-Master 讲透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931920"/>
            <a:ext cx="8229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450" b="0">
                <a:solidFill>
                  <a:srgbClr val="667085"/>
                </a:solidFill>
                <a:latin typeface="Microsoft YaHei"/>
              </a:rPr>
              <a:t>先把检测器和 Ultralytics 的配置讲清楚，再读论文的四个式子，最后把上游的实现一行一行摊开。</a:t>
            </a: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450" b="0">
                <a:solidFill>
                  <a:srgbClr val="667085"/>
                </a:solidFill>
                <a:latin typeface="Microsoft YaHei"/>
              </a:rPr>
              <a:t>这一章不谈我们的包，只谈「他们做了什么、怎么做的」。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第一章 · 先把检测器讲清楚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一张图进来，一组损失出去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第一章　YOLO-Master 讲透</a:t>
            </a:r>
            <a:r>
              <a:rPr sz="950">
                <a:solidFill>
                  <a:srgbClr val="667085"/>
                </a:solidFill>
                <a:latin typeface="Consolas"/>
              </a:rPr>
              <a:t>　·　5</a:t>
            </a:r>
          </a:p>
        </p:txBody>
      </p:sp>
      <p:sp>
        <p:nvSpPr>
          <p:cNvPr id="5" name="stage-backbone"/>
          <p:cNvSpPr/>
          <p:nvPr/>
        </p:nvSpPr>
        <p:spPr>
          <a:xfrm>
            <a:off x="566928" y="1993392"/>
            <a:ext cx="2468880" cy="137160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500" b="1">
                <a:solidFill>
                  <a:srgbClr val="1B1F24"/>
                </a:solidFill>
                <a:latin typeface="Microsoft YaHei"/>
              </a:rPr>
              <a:t>主干 Backbone</a:t>
            </a:r>
          </a:p>
        </p:txBody>
      </p:sp>
      <p:sp>
        <p:nvSpPr>
          <p:cNvPr id="6" name="stage-backbone-note"/>
          <p:cNvSpPr txBox="1"/>
          <p:nvPr/>
        </p:nvSpPr>
        <p:spPr>
          <a:xfrm>
            <a:off x="566928" y="347472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把图像压成多尺度特征
P3 / P4 / P5</a:t>
            </a:r>
          </a:p>
        </p:txBody>
      </p:sp>
      <p:sp>
        <p:nvSpPr>
          <p:cNvPr id="7" name="stage-neck"/>
          <p:cNvSpPr/>
          <p:nvPr/>
        </p:nvSpPr>
        <p:spPr>
          <a:xfrm>
            <a:off x="3419856" y="1993392"/>
            <a:ext cx="246888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500" b="1">
                <a:solidFill>
                  <a:srgbClr val="667085"/>
                </a:solidFill>
                <a:latin typeface="Microsoft YaHei"/>
              </a:rPr>
              <a:t>颈 Neck</a:t>
            </a:r>
          </a:p>
        </p:txBody>
      </p:sp>
      <p:sp>
        <p:nvSpPr>
          <p:cNvPr id="8" name="stage-neck-note"/>
          <p:cNvSpPr txBox="1"/>
          <p:nvPr/>
        </p:nvSpPr>
        <p:spPr>
          <a:xfrm>
            <a:off x="3419856" y="347472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D8DEE6"/>
                </a:solidFill>
                <a:latin typeface="Microsoft YaHei"/>
              </a:rPr>
              <a:t>让大尺度与小尺度
互相补信息</a:t>
            </a:r>
          </a:p>
        </p:txBody>
      </p:sp>
      <p:cxnSp>
        <p:nvCxnSpPr>
          <p:cNvPr id="9" name="arrow-1"/>
          <p:cNvCxnSpPr/>
          <p:nvPr/>
        </p:nvCxnSpPr>
        <p:spPr>
          <a:xfrm>
            <a:off x="3035808" y="2679192"/>
            <a:ext cx="384048" cy="0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age-head"/>
          <p:cNvSpPr/>
          <p:nvPr/>
        </p:nvSpPr>
        <p:spPr>
          <a:xfrm>
            <a:off x="6272784" y="1993392"/>
            <a:ext cx="246888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500" b="1">
                <a:solidFill>
                  <a:srgbClr val="667085"/>
                </a:solidFill>
                <a:latin typeface="Microsoft YaHei"/>
              </a:rPr>
              <a:t>头 Head</a:t>
            </a:r>
          </a:p>
        </p:txBody>
      </p:sp>
      <p:sp>
        <p:nvSpPr>
          <p:cNvPr id="11" name="stage-head-note"/>
          <p:cNvSpPr txBox="1"/>
          <p:nvPr/>
        </p:nvSpPr>
        <p:spPr>
          <a:xfrm>
            <a:off x="6272784" y="347472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D8DEE6"/>
                </a:solidFill>
                <a:latin typeface="Microsoft YaHei"/>
              </a:rPr>
              <a:t>每个位置预测
框的位置与类别</a:t>
            </a:r>
          </a:p>
        </p:txBody>
      </p:sp>
      <p:cxnSp>
        <p:nvCxnSpPr>
          <p:cNvPr id="12" name="arrow-2"/>
          <p:cNvCxnSpPr/>
          <p:nvPr/>
        </p:nvCxnSpPr>
        <p:spPr>
          <a:xfrm>
            <a:off x="5888736" y="2679192"/>
            <a:ext cx="384048" cy="0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ge-loss"/>
          <p:cNvSpPr/>
          <p:nvPr/>
        </p:nvSpPr>
        <p:spPr>
          <a:xfrm>
            <a:off x="9125712" y="1993392"/>
            <a:ext cx="246888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500" b="1">
                <a:solidFill>
                  <a:srgbClr val="667085"/>
                </a:solidFill>
                <a:latin typeface="Microsoft YaHei"/>
              </a:rPr>
              <a:t>损失 Loss</a:t>
            </a:r>
          </a:p>
        </p:txBody>
      </p:sp>
      <p:sp>
        <p:nvSpPr>
          <p:cNvPr id="14" name="stage-loss-note"/>
          <p:cNvSpPr txBox="1"/>
          <p:nvPr/>
        </p:nvSpPr>
        <p:spPr>
          <a:xfrm>
            <a:off x="9125712" y="347472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D8DEE6"/>
                </a:solidFill>
                <a:latin typeface="Microsoft YaHei"/>
              </a:rPr>
              <a:t>box / cls / dfl
三项相加再反向传播</a:t>
            </a:r>
          </a:p>
        </p:txBody>
      </p:sp>
      <p:cxnSp>
        <p:nvCxnSpPr>
          <p:cNvPr id="15" name="arrow-3"/>
          <p:cNvCxnSpPr/>
          <p:nvPr/>
        </p:nvCxnSpPr>
        <p:spPr>
          <a:xfrm>
            <a:off x="8741664" y="2679192"/>
            <a:ext cx="384048" cy="0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455371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500" b="0">
                <a:solidFill>
                  <a:srgbClr val="1B1F24"/>
                </a:solidFill>
                <a:latin typeface="Microsoft YaHei"/>
              </a:rPr>
              <a:t>先看清楚一件事：检测器的这四段里，ES-MoE 这类块只换主干里「特征怎么算出来」，头和损失的结构都不动。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第一章 · 先把检测器讲清楚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一张图进来，一组损失出去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第一章　YOLO-Master 讲透</a:t>
            </a:r>
            <a:r>
              <a:rPr sz="950">
                <a:solidFill>
                  <a:srgbClr val="667085"/>
                </a:solidFill>
                <a:latin typeface="Consolas"/>
              </a:rPr>
              <a:t>　·　6</a:t>
            </a:r>
          </a:p>
        </p:txBody>
      </p:sp>
      <p:sp>
        <p:nvSpPr>
          <p:cNvPr id="5" name="stage-backbone"/>
          <p:cNvSpPr/>
          <p:nvPr/>
        </p:nvSpPr>
        <p:spPr>
          <a:xfrm>
            <a:off x="566928" y="1993392"/>
            <a:ext cx="2468880" cy="137160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500" b="1">
                <a:solidFill>
                  <a:srgbClr val="1B1F24"/>
                </a:solidFill>
                <a:latin typeface="Microsoft YaHei"/>
              </a:rPr>
              <a:t>主干 Backbone</a:t>
            </a:r>
          </a:p>
        </p:txBody>
      </p:sp>
      <p:sp>
        <p:nvSpPr>
          <p:cNvPr id="6" name="stage-backbone-note"/>
          <p:cNvSpPr txBox="1"/>
          <p:nvPr/>
        </p:nvSpPr>
        <p:spPr>
          <a:xfrm>
            <a:off x="566928" y="347472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把图像压成多尺度特征
P3 / P4 / P5</a:t>
            </a:r>
          </a:p>
        </p:txBody>
      </p:sp>
      <p:sp>
        <p:nvSpPr>
          <p:cNvPr id="7" name="stage-neck"/>
          <p:cNvSpPr/>
          <p:nvPr/>
        </p:nvSpPr>
        <p:spPr>
          <a:xfrm>
            <a:off x="3419856" y="1993392"/>
            <a:ext cx="2468880" cy="137160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500" b="1">
                <a:solidFill>
                  <a:srgbClr val="1B1F24"/>
                </a:solidFill>
                <a:latin typeface="Microsoft YaHei"/>
              </a:rPr>
              <a:t>颈 Neck</a:t>
            </a:r>
          </a:p>
        </p:txBody>
      </p:sp>
      <p:sp>
        <p:nvSpPr>
          <p:cNvPr id="8" name="stage-neck-note"/>
          <p:cNvSpPr txBox="1"/>
          <p:nvPr/>
        </p:nvSpPr>
        <p:spPr>
          <a:xfrm>
            <a:off x="3419856" y="347472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让大尺度与小尺度
互相补信息</a:t>
            </a:r>
          </a:p>
        </p:txBody>
      </p:sp>
      <p:cxnSp>
        <p:nvCxnSpPr>
          <p:cNvPr id="9" name="arrow-1"/>
          <p:cNvCxnSpPr/>
          <p:nvPr/>
        </p:nvCxnSpPr>
        <p:spPr>
          <a:xfrm>
            <a:off x="3035808" y="2679192"/>
            <a:ext cx="384048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age-head"/>
          <p:cNvSpPr/>
          <p:nvPr/>
        </p:nvSpPr>
        <p:spPr>
          <a:xfrm>
            <a:off x="6272784" y="1993392"/>
            <a:ext cx="246888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500" b="1">
                <a:solidFill>
                  <a:srgbClr val="667085"/>
                </a:solidFill>
                <a:latin typeface="Microsoft YaHei"/>
              </a:rPr>
              <a:t>头 Head</a:t>
            </a:r>
          </a:p>
        </p:txBody>
      </p:sp>
      <p:sp>
        <p:nvSpPr>
          <p:cNvPr id="11" name="stage-head-note"/>
          <p:cNvSpPr txBox="1"/>
          <p:nvPr/>
        </p:nvSpPr>
        <p:spPr>
          <a:xfrm>
            <a:off x="6272784" y="347472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D8DEE6"/>
                </a:solidFill>
                <a:latin typeface="Microsoft YaHei"/>
              </a:rPr>
              <a:t>每个位置预测
框的位置与类别</a:t>
            </a:r>
          </a:p>
        </p:txBody>
      </p:sp>
      <p:cxnSp>
        <p:nvCxnSpPr>
          <p:cNvPr id="12" name="arrow-2"/>
          <p:cNvCxnSpPr/>
          <p:nvPr/>
        </p:nvCxnSpPr>
        <p:spPr>
          <a:xfrm>
            <a:off x="5888736" y="2679192"/>
            <a:ext cx="384048" cy="0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ge-loss"/>
          <p:cNvSpPr/>
          <p:nvPr/>
        </p:nvSpPr>
        <p:spPr>
          <a:xfrm>
            <a:off x="9125712" y="1993392"/>
            <a:ext cx="246888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500" b="1">
                <a:solidFill>
                  <a:srgbClr val="667085"/>
                </a:solidFill>
                <a:latin typeface="Microsoft YaHei"/>
              </a:rPr>
              <a:t>损失 Loss</a:t>
            </a:r>
          </a:p>
        </p:txBody>
      </p:sp>
      <p:sp>
        <p:nvSpPr>
          <p:cNvPr id="14" name="stage-loss-note"/>
          <p:cNvSpPr txBox="1"/>
          <p:nvPr/>
        </p:nvSpPr>
        <p:spPr>
          <a:xfrm>
            <a:off x="9125712" y="347472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D8DEE6"/>
                </a:solidFill>
                <a:latin typeface="Microsoft YaHei"/>
              </a:rPr>
              <a:t>box / cls / dfl
三项相加再反向传播</a:t>
            </a:r>
          </a:p>
        </p:txBody>
      </p:sp>
      <p:cxnSp>
        <p:nvCxnSpPr>
          <p:cNvPr id="15" name="arrow-3"/>
          <p:cNvCxnSpPr/>
          <p:nvPr/>
        </p:nvCxnSpPr>
        <p:spPr>
          <a:xfrm>
            <a:off x="8741664" y="2679192"/>
            <a:ext cx="384048" cy="0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455371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500" b="0">
                <a:solidFill>
                  <a:srgbClr val="1B1F24"/>
                </a:solidFill>
                <a:latin typeface="Microsoft YaHei"/>
              </a:rPr>
              <a:t>主干把图像逐级下采样，交出三种尺度的特征图：P3 看小目标，P4 看中等，P5 看大目标。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4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第一章 · 先把检测器讲清楚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一张图进来，一组损失出去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第一章　YOLO-Master 讲透</a:t>
            </a:r>
            <a:r>
              <a:rPr sz="950">
                <a:solidFill>
                  <a:srgbClr val="667085"/>
                </a:solidFill>
                <a:latin typeface="Consolas"/>
              </a:rPr>
              <a:t>　·　7</a:t>
            </a:r>
          </a:p>
        </p:txBody>
      </p:sp>
      <p:sp>
        <p:nvSpPr>
          <p:cNvPr id="5" name="stage-backbone"/>
          <p:cNvSpPr/>
          <p:nvPr/>
        </p:nvSpPr>
        <p:spPr>
          <a:xfrm>
            <a:off x="566928" y="1993392"/>
            <a:ext cx="2468880" cy="137160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500" b="1">
                <a:solidFill>
                  <a:srgbClr val="1B1F24"/>
                </a:solidFill>
                <a:latin typeface="Microsoft YaHei"/>
              </a:rPr>
              <a:t>主干 Backbone</a:t>
            </a:r>
          </a:p>
        </p:txBody>
      </p:sp>
      <p:sp>
        <p:nvSpPr>
          <p:cNvPr id="6" name="stage-backbone-note"/>
          <p:cNvSpPr txBox="1"/>
          <p:nvPr/>
        </p:nvSpPr>
        <p:spPr>
          <a:xfrm>
            <a:off x="566928" y="347472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把图像压成多尺度特征
P3 / P4 / P5</a:t>
            </a:r>
          </a:p>
        </p:txBody>
      </p:sp>
      <p:sp>
        <p:nvSpPr>
          <p:cNvPr id="7" name="stage-neck"/>
          <p:cNvSpPr/>
          <p:nvPr/>
        </p:nvSpPr>
        <p:spPr>
          <a:xfrm>
            <a:off x="3419856" y="1993392"/>
            <a:ext cx="2468880" cy="137160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500" b="1">
                <a:solidFill>
                  <a:srgbClr val="1B1F24"/>
                </a:solidFill>
                <a:latin typeface="Microsoft YaHei"/>
              </a:rPr>
              <a:t>颈 Neck</a:t>
            </a:r>
          </a:p>
        </p:txBody>
      </p:sp>
      <p:sp>
        <p:nvSpPr>
          <p:cNvPr id="8" name="stage-neck-note"/>
          <p:cNvSpPr txBox="1"/>
          <p:nvPr/>
        </p:nvSpPr>
        <p:spPr>
          <a:xfrm>
            <a:off x="3419856" y="347472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让大尺度与小尺度
互相补信息</a:t>
            </a:r>
          </a:p>
        </p:txBody>
      </p:sp>
      <p:cxnSp>
        <p:nvCxnSpPr>
          <p:cNvPr id="9" name="arrow-1"/>
          <p:cNvCxnSpPr/>
          <p:nvPr/>
        </p:nvCxnSpPr>
        <p:spPr>
          <a:xfrm>
            <a:off x="3035808" y="2679192"/>
            <a:ext cx="384048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age-head"/>
          <p:cNvSpPr/>
          <p:nvPr/>
        </p:nvSpPr>
        <p:spPr>
          <a:xfrm>
            <a:off x="6272784" y="1993392"/>
            <a:ext cx="2468880" cy="137160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500" b="1">
                <a:solidFill>
                  <a:srgbClr val="1B1F24"/>
                </a:solidFill>
                <a:latin typeface="Microsoft YaHei"/>
              </a:rPr>
              <a:t>头 Head</a:t>
            </a:r>
          </a:p>
        </p:txBody>
      </p:sp>
      <p:sp>
        <p:nvSpPr>
          <p:cNvPr id="11" name="stage-head-note"/>
          <p:cNvSpPr txBox="1"/>
          <p:nvPr/>
        </p:nvSpPr>
        <p:spPr>
          <a:xfrm>
            <a:off x="6272784" y="347472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每个位置预测
框的位置与类别</a:t>
            </a:r>
          </a:p>
        </p:txBody>
      </p:sp>
      <p:cxnSp>
        <p:nvCxnSpPr>
          <p:cNvPr id="12" name="arrow-2"/>
          <p:cNvCxnSpPr/>
          <p:nvPr/>
        </p:nvCxnSpPr>
        <p:spPr>
          <a:xfrm>
            <a:off x="5888736" y="2679192"/>
            <a:ext cx="384048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ge-loss"/>
          <p:cNvSpPr/>
          <p:nvPr/>
        </p:nvSpPr>
        <p:spPr>
          <a:xfrm>
            <a:off x="9125712" y="1993392"/>
            <a:ext cx="246888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500" b="1">
                <a:solidFill>
                  <a:srgbClr val="667085"/>
                </a:solidFill>
                <a:latin typeface="Microsoft YaHei"/>
              </a:rPr>
              <a:t>损失 Loss</a:t>
            </a:r>
          </a:p>
        </p:txBody>
      </p:sp>
      <p:sp>
        <p:nvSpPr>
          <p:cNvPr id="14" name="stage-loss-note"/>
          <p:cNvSpPr txBox="1"/>
          <p:nvPr/>
        </p:nvSpPr>
        <p:spPr>
          <a:xfrm>
            <a:off x="9125712" y="347472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D8DEE6"/>
                </a:solidFill>
                <a:latin typeface="Microsoft YaHei"/>
              </a:rPr>
              <a:t>box / cls / dfl
三项相加再反向传播</a:t>
            </a:r>
          </a:p>
        </p:txBody>
      </p:sp>
      <p:cxnSp>
        <p:nvCxnSpPr>
          <p:cNvPr id="15" name="arrow-3"/>
          <p:cNvCxnSpPr/>
          <p:nvPr/>
        </p:nvCxnSpPr>
        <p:spPr>
          <a:xfrm>
            <a:off x="8741664" y="2679192"/>
            <a:ext cx="384048" cy="0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455371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500" b="0">
                <a:solidFill>
                  <a:srgbClr val="1B1F24"/>
                </a:solidFill>
                <a:latin typeface="Microsoft YaHei"/>
              </a:rPr>
              <a:t>颈把这三种尺度上下融合一遍——小目标也能借到深层的语义。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4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第一章 · 先把检测器讲清楚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一张图进来，一组损失出去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第一章　YOLO-Master 讲透</a:t>
            </a:r>
            <a:r>
              <a:rPr sz="950">
                <a:solidFill>
                  <a:srgbClr val="667085"/>
                </a:solidFill>
                <a:latin typeface="Consolas"/>
              </a:rPr>
              <a:t>　·　8</a:t>
            </a:r>
          </a:p>
        </p:txBody>
      </p:sp>
      <p:sp>
        <p:nvSpPr>
          <p:cNvPr id="5" name="stage-backbone"/>
          <p:cNvSpPr/>
          <p:nvPr/>
        </p:nvSpPr>
        <p:spPr>
          <a:xfrm>
            <a:off x="566928" y="1993392"/>
            <a:ext cx="2468880" cy="137160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500" b="1">
                <a:solidFill>
                  <a:srgbClr val="1B1F24"/>
                </a:solidFill>
                <a:latin typeface="Microsoft YaHei"/>
              </a:rPr>
              <a:t>主干 Backbone</a:t>
            </a:r>
          </a:p>
        </p:txBody>
      </p:sp>
      <p:sp>
        <p:nvSpPr>
          <p:cNvPr id="6" name="stage-backbone-note"/>
          <p:cNvSpPr txBox="1"/>
          <p:nvPr/>
        </p:nvSpPr>
        <p:spPr>
          <a:xfrm>
            <a:off x="566928" y="347472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把图像压成多尺度特征
P3 / P4 / P5</a:t>
            </a:r>
          </a:p>
        </p:txBody>
      </p:sp>
      <p:sp>
        <p:nvSpPr>
          <p:cNvPr id="7" name="stage-neck"/>
          <p:cNvSpPr/>
          <p:nvPr/>
        </p:nvSpPr>
        <p:spPr>
          <a:xfrm>
            <a:off x="3419856" y="1993392"/>
            <a:ext cx="2468880" cy="137160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500" b="1">
                <a:solidFill>
                  <a:srgbClr val="1B1F24"/>
                </a:solidFill>
                <a:latin typeface="Microsoft YaHei"/>
              </a:rPr>
              <a:t>颈 Neck</a:t>
            </a:r>
          </a:p>
        </p:txBody>
      </p:sp>
      <p:sp>
        <p:nvSpPr>
          <p:cNvPr id="8" name="stage-neck-note"/>
          <p:cNvSpPr txBox="1"/>
          <p:nvPr/>
        </p:nvSpPr>
        <p:spPr>
          <a:xfrm>
            <a:off x="3419856" y="347472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让大尺度与小尺度
互相补信息</a:t>
            </a:r>
          </a:p>
        </p:txBody>
      </p:sp>
      <p:cxnSp>
        <p:nvCxnSpPr>
          <p:cNvPr id="9" name="arrow-1"/>
          <p:cNvCxnSpPr/>
          <p:nvPr/>
        </p:nvCxnSpPr>
        <p:spPr>
          <a:xfrm>
            <a:off x="3035808" y="2679192"/>
            <a:ext cx="384048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age-head"/>
          <p:cNvSpPr/>
          <p:nvPr/>
        </p:nvSpPr>
        <p:spPr>
          <a:xfrm>
            <a:off x="6272784" y="1993392"/>
            <a:ext cx="2468880" cy="137160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500" b="1">
                <a:solidFill>
                  <a:srgbClr val="1B1F24"/>
                </a:solidFill>
                <a:latin typeface="Microsoft YaHei"/>
              </a:rPr>
              <a:t>头 Head</a:t>
            </a:r>
          </a:p>
        </p:txBody>
      </p:sp>
      <p:sp>
        <p:nvSpPr>
          <p:cNvPr id="11" name="stage-head-note"/>
          <p:cNvSpPr txBox="1"/>
          <p:nvPr/>
        </p:nvSpPr>
        <p:spPr>
          <a:xfrm>
            <a:off x="6272784" y="347472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每个位置预测
框的位置与类别</a:t>
            </a:r>
          </a:p>
        </p:txBody>
      </p:sp>
      <p:cxnSp>
        <p:nvCxnSpPr>
          <p:cNvPr id="12" name="arrow-2"/>
          <p:cNvCxnSpPr/>
          <p:nvPr/>
        </p:nvCxnSpPr>
        <p:spPr>
          <a:xfrm>
            <a:off x="5888736" y="2679192"/>
            <a:ext cx="384048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age-loss"/>
          <p:cNvSpPr/>
          <p:nvPr/>
        </p:nvSpPr>
        <p:spPr>
          <a:xfrm>
            <a:off x="9125712" y="1993392"/>
            <a:ext cx="2468880" cy="137160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500" b="1">
                <a:solidFill>
                  <a:srgbClr val="1B1F24"/>
                </a:solidFill>
                <a:latin typeface="Microsoft YaHei"/>
              </a:rPr>
              <a:t>损失 Loss</a:t>
            </a:r>
          </a:p>
        </p:txBody>
      </p:sp>
      <p:sp>
        <p:nvSpPr>
          <p:cNvPr id="14" name="stage-loss-note"/>
          <p:cNvSpPr txBox="1"/>
          <p:nvPr/>
        </p:nvSpPr>
        <p:spPr>
          <a:xfrm>
            <a:off x="9125712" y="347472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box / cls / dfl
三项相加再反向传播</a:t>
            </a:r>
          </a:p>
        </p:txBody>
      </p:sp>
      <p:cxnSp>
        <p:nvCxnSpPr>
          <p:cNvPr id="15" name="arrow-3"/>
          <p:cNvCxnSpPr/>
          <p:nvPr/>
        </p:nvCxnSpPr>
        <p:spPr>
          <a:xfrm>
            <a:off x="8741664" y="2679192"/>
            <a:ext cx="384048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455371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500" b="0">
                <a:solidFill>
                  <a:srgbClr val="1B1F24"/>
                </a:solidFill>
                <a:latin typeface="Microsoft YaHei"/>
              </a:rPr>
              <a:t>头在每个位置预测框与类别；损失把预测和标注比对，得到 box、cls、dfl 三项。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4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第一章 · 先把检测器讲清楚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标签怎么变成三项损失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第一章　YOLO-Master 讲透</a:t>
            </a:r>
            <a:r>
              <a:rPr sz="950">
                <a:solidFill>
                  <a:srgbClr val="667085"/>
                </a:solidFill>
                <a:latin typeface="Consolas"/>
              </a:rPr>
              <a:t>　·　9</a:t>
            </a:r>
          </a:p>
        </p:txBody>
      </p:sp>
      <p:pic>
        <p:nvPicPr>
          <p:cNvPr id="5" name="Picture 4" descr="loss-te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1536192"/>
            <a:ext cx="8778240" cy="31776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473659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1">
                <a:solidFill>
                  <a:srgbClr val="B3272D"/>
                </a:solidFill>
                <a:latin typeface="Microsoft YaHei"/>
              </a:rPr>
              <a:t>三项不是三个模型，是同一批预测的三种量法。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  box 量框贴不贴，cls 量类别对不对，dfl 量边界回归得锐不锐利。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关键细节（后面第一章末尾会用到）：</a:t>
            </a:r>
            <a:r>
              <a:rPr sz="1350" b="0">
                <a:solidFill>
                  <a:srgbClr val="1B1F24"/>
                </a:solidFill>
                <a:latin typeface="Consolas"/>
              </a:rPr>
              <a:t>ultralytics/utils/loss.py:409-476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 返回的是一个三元向量再乘 batch，不是一个标量。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第一章 · 先把检测器讲清楚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模型是从一份 yaml 拼出来的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第一章　YOLO-Master 讲透</a:t>
            </a:r>
            <a:r>
              <a:rPr sz="950">
                <a:solidFill>
                  <a:srgbClr val="667085"/>
                </a:solidFill>
                <a:latin typeface="Consolas"/>
              </a:rPr>
              <a:t>　·　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6035040" cy="2242819"/>
          </a:xfrm>
          <a:prstGeom prst="roundRect">
            <a:avLst>
              <a:gd name="adj" fmla="val 4392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1B1F24"/>
                </a:solidFill>
                <a:latin typeface="Consolas"/>
              </a:rPr>
              <a:t>backbone: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1B1F24"/>
                </a:solidFill>
                <a:latin typeface="Consolas"/>
              </a:rPr>
              <a:t>  - [-1, 1, Conv,  [64, 3, 2]]   # 第 0 层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1B1F24"/>
                </a:solidFill>
                <a:latin typeface="Consolas"/>
              </a:rPr>
              <a:t>  - [-1, 1, Conv,  [128, 3, 2]]  # 第 1 层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1B1F24"/>
                </a:solidFill>
                <a:latin typeface="Consolas"/>
              </a:rPr>
              <a:t>  - [-1, 2, C3k2,  [256, False]] # 第 2 层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1B1F24"/>
                </a:solidFill>
                <a:latin typeface="Consolas"/>
              </a:rPr>
              <a:t>  …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1B1F24"/>
                </a:solidFill>
                <a:latin typeface="Consolas"/>
              </a:rPr>
              <a:t>head: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B3272D"/>
                </a:solidFill>
                <a:latin typeface="Consolas"/>
              </a:rPr>
              <a:t>▸ - [[-1, 6], 1, </a:t>
            </a:r>
            <a:r>
              <a:rPr sz="1250" dirty="0" err="1">
                <a:solidFill>
                  <a:srgbClr val="B3272D"/>
                </a:solidFill>
                <a:latin typeface="Consolas"/>
              </a:rPr>
              <a:t>Concat</a:t>
            </a:r>
            <a:r>
              <a:rPr sz="1250" dirty="0">
                <a:solidFill>
                  <a:srgbClr val="B3272D"/>
                </a:solidFill>
                <a:latin typeface="Consolas"/>
              </a:rPr>
              <a:t>, [1]]     # </a:t>
            </a:r>
            <a:r>
              <a:rPr sz="1250" dirty="0" err="1">
                <a:solidFill>
                  <a:srgbClr val="B3272D"/>
                </a:solidFill>
                <a:latin typeface="Consolas"/>
              </a:rPr>
              <a:t>取「第</a:t>
            </a:r>
            <a:r>
              <a:rPr sz="1250" dirty="0">
                <a:solidFill>
                  <a:srgbClr val="B3272D"/>
                </a:solidFill>
                <a:latin typeface="Consolas"/>
              </a:rPr>
              <a:t> 6 层」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1B1F24"/>
                </a:solidFill>
                <a:latin typeface="Consolas"/>
              </a:rPr>
              <a:t>  - [-1, 2, C3k2, [512, True]]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52163"/>
            <a:ext cx="6035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050" b="0">
                <a:solidFill>
                  <a:srgbClr val="667085"/>
                </a:solidFill>
                <a:latin typeface="Consolas"/>
              </a:rPr>
              <a:t>from</a:t>
            </a:r>
            <a:r>
              <a:rPr sz="1100" b="0">
                <a:solidFill>
                  <a:srgbClr val="667085"/>
                </a:solidFill>
                <a:latin typeface="Microsoft YaHei"/>
              </a:rPr>
              <a:t> 写 -1 是「上一层」，写数字就是绝对层号——插一层进去，这些数字全要改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67728" y="1536192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Ultralytics 的 </a:t>
            </a:r>
            <a:r>
              <a:rPr sz="1350" b="0">
                <a:solidFill>
                  <a:srgbClr val="1B1F24"/>
                </a:solidFill>
                <a:latin typeface="Consolas"/>
              </a:rPr>
              <a:t>parse_model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 按行读这份 yaml：每行是 </a:t>
            </a:r>
            <a:r>
              <a:rPr sz="1350" b="0">
                <a:solidFill>
                  <a:srgbClr val="1B1F24"/>
                </a:solidFill>
                <a:latin typeface="Consolas"/>
              </a:rPr>
              <a:t>[from, repeats, module, args]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0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这带来两件事：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其一，第三方模块只要能按名字找到，就能写进 yaml；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其二，层号是绝对的，往主干里插一层，head 里所有按号引用的地方都会错位。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0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第三章讲的 </a:t>
            </a:r>
            <a:r>
              <a:rPr sz="1350" b="0">
                <a:solidFill>
                  <a:srgbClr val="1B1F24"/>
                </a:solidFill>
                <a:latin typeface="Consolas"/>
              </a:rPr>
              <a:t>graft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，做的就是「插一层 + 把错位的号全部修回去」。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第一章 · 上游是什么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YOLO-Master 是 Ultralytics 的一个分支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第一章　YOLO-Master 讲透</a:t>
            </a:r>
            <a:r>
              <a:rPr sz="950">
                <a:solidFill>
                  <a:srgbClr val="667085"/>
                </a:solidFill>
                <a:latin typeface="Consolas"/>
              </a:rPr>
              <a:t>　·　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3551834" cy="164592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它加了什么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MoE 一族的块（ES_MOE / MoT / MoA）、路由器、专家组、辅助损失的合成与守卫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930" y="1536192"/>
            <a:ext cx="3551834" cy="164592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它改了训练器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多路参数分组、专家预热、epoch 末强制更新、非有限梯度的回滚与恢复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72932" y="1536192"/>
            <a:ext cx="3551834" cy="164592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它保留了什么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数据、增广、评测、检测头与三项损失，与官方同版本一致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54787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我们把这个分支相对官方 8.4.101 的 30 个改动文件逐 hunk 读过一遍。结论分两类：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0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1">
                <a:solidFill>
                  <a:srgbClr val="B3272D"/>
                </a:solidFill>
                <a:latin typeface="Microsoft YaHei"/>
              </a:rPr>
              <a:t>对不含路由块的模型：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数据、建模、损失、mAP 的路径与官方逐行一致——所以两边的基线是可比的。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1">
                <a:solidFill>
                  <a:srgbClr val="B3272D"/>
                </a:solidFill>
                <a:latin typeface="Microsoft YaHei"/>
              </a:rPr>
              <a:t>对所有模型：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训练器有两处与官方不同（本章末尾细讲），其中一处会悄悄关掉混合精度。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第一章 · 上游是什么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四个 ES_MOE 装在主干的哪四处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第一章　YOLO-Master 讲透</a:t>
            </a:r>
            <a:r>
              <a:rPr sz="950">
                <a:solidFill>
                  <a:srgbClr val="667085"/>
                </a:solidFill>
                <a:latin typeface="Consolas"/>
              </a:rPr>
              <a:t>　·　12</a:t>
            </a:r>
          </a:p>
        </p:txBody>
      </p:sp>
      <p:sp>
        <p:nvSpPr>
          <p:cNvPr id="5" name="layer-0"/>
          <p:cNvSpPr/>
          <p:nvPr/>
        </p:nvSpPr>
        <p:spPr>
          <a:xfrm>
            <a:off x="566928" y="2176272"/>
            <a:ext cx="566928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54864" rIns="18288" bIns="54864" rtlCol="0" anchor="ctr"/>
          <a:lstStyle/>
          <a:p>
            <a:pPr algn="ctr"/>
            <a:r>
              <a:rPr sz="1050" b="0">
                <a:solidFill>
                  <a:srgbClr val="667085"/>
                </a:solidFill>
                <a:latin typeface="Microsoft YaHei"/>
              </a:rPr>
              <a:t>Conv</a:t>
            </a:r>
          </a:p>
        </p:txBody>
      </p:sp>
      <p:sp>
        <p:nvSpPr>
          <p:cNvPr id="6" name="layer-1"/>
          <p:cNvSpPr/>
          <p:nvPr/>
        </p:nvSpPr>
        <p:spPr>
          <a:xfrm>
            <a:off x="1216152" y="2176272"/>
            <a:ext cx="566928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54864" rIns="18288" bIns="54864" rtlCol="0" anchor="ctr"/>
          <a:lstStyle/>
          <a:p>
            <a:pPr algn="ctr"/>
            <a:r>
              <a:rPr sz="1050" b="0">
                <a:solidFill>
                  <a:srgbClr val="667085"/>
                </a:solidFill>
                <a:latin typeface="Microsoft YaHei"/>
              </a:rPr>
              <a:t>Conv</a:t>
            </a:r>
          </a:p>
        </p:txBody>
      </p:sp>
      <p:sp>
        <p:nvSpPr>
          <p:cNvPr id="7" name="layer-2"/>
          <p:cNvSpPr/>
          <p:nvPr/>
        </p:nvSpPr>
        <p:spPr>
          <a:xfrm>
            <a:off x="1865376" y="2176272"/>
            <a:ext cx="621792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54864" rIns="18288" bIns="54864" rtlCol="0" anchor="ctr"/>
          <a:lstStyle/>
          <a:p>
            <a:pPr algn="ctr"/>
            <a:r>
              <a:rPr sz="1050" b="0">
                <a:solidFill>
                  <a:srgbClr val="667085"/>
                </a:solidFill>
                <a:latin typeface="Microsoft YaHei"/>
              </a:rPr>
              <a:t>C3k2</a:t>
            </a:r>
          </a:p>
        </p:txBody>
      </p:sp>
      <p:sp>
        <p:nvSpPr>
          <p:cNvPr id="8" name="block-0"/>
          <p:cNvSpPr/>
          <p:nvPr/>
        </p:nvSpPr>
        <p:spPr>
          <a:xfrm>
            <a:off x="2569464" y="2176272"/>
            <a:ext cx="27432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9" name="layer-3"/>
          <p:cNvSpPr/>
          <p:nvPr/>
        </p:nvSpPr>
        <p:spPr>
          <a:xfrm>
            <a:off x="2679192" y="2176272"/>
            <a:ext cx="566928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54864" rIns="18288" bIns="54864" rtlCol="0" anchor="ctr"/>
          <a:lstStyle/>
          <a:p>
            <a:pPr algn="ctr"/>
            <a:r>
              <a:rPr sz="1050" b="0">
                <a:solidFill>
                  <a:srgbClr val="667085"/>
                </a:solidFill>
                <a:latin typeface="Microsoft YaHei"/>
              </a:rPr>
              <a:t>Conv</a:t>
            </a:r>
          </a:p>
        </p:txBody>
      </p:sp>
      <p:sp>
        <p:nvSpPr>
          <p:cNvPr id="10" name="layer-4"/>
          <p:cNvSpPr/>
          <p:nvPr/>
        </p:nvSpPr>
        <p:spPr>
          <a:xfrm>
            <a:off x="3328416" y="2176272"/>
            <a:ext cx="621792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54864" rIns="18288" bIns="54864" rtlCol="0" anchor="ctr"/>
          <a:lstStyle/>
          <a:p>
            <a:pPr algn="ctr"/>
            <a:r>
              <a:rPr sz="1050" b="0">
                <a:solidFill>
                  <a:srgbClr val="667085"/>
                </a:solidFill>
                <a:latin typeface="Microsoft YaHei"/>
              </a:rPr>
              <a:t>C3k2</a:t>
            </a:r>
          </a:p>
        </p:txBody>
      </p:sp>
      <p:sp>
        <p:nvSpPr>
          <p:cNvPr id="11" name="block-1"/>
          <p:cNvSpPr/>
          <p:nvPr/>
        </p:nvSpPr>
        <p:spPr>
          <a:xfrm>
            <a:off x="4032504" y="2176272"/>
            <a:ext cx="27432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2" name="layer-5"/>
          <p:cNvSpPr/>
          <p:nvPr/>
        </p:nvSpPr>
        <p:spPr>
          <a:xfrm>
            <a:off x="4142232" y="2176272"/>
            <a:ext cx="566928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54864" rIns="18288" bIns="54864" rtlCol="0" anchor="ctr"/>
          <a:lstStyle/>
          <a:p>
            <a:pPr algn="ctr"/>
            <a:r>
              <a:rPr sz="1050" b="0">
                <a:solidFill>
                  <a:srgbClr val="667085"/>
                </a:solidFill>
                <a:latin typeface="Microsoft YaHei"/>
              </a:rPr>
              <a:t>Conv</a:t>
            </a:r>
          </a:p>
        </p:txBody>
      </p:sp>
      <p:sp>
        <p:nvSpPr>
          <p:cNvPr id="13" name="layer-6"/>
          <p:cNvSpPr/>
          <p:nvPr/>
        </p:nvSpPr>
        <p:spPr>
          <a:xfrm>
            <a:off x="4791456" y="2176272"/>
            <a:ext cx="676656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54864" rIns="18288" bIns="54864" rtlCol="0" anchor="ctr"/>
          <a:lstStyle/>
          <a:p>
            <a:pPr algn="ctr"/>
            <a:r>
              <a:rPr sz="1050" b="0">
                <a:solidFill>
                  <a:srgbClr val="667085"/>
                </a:solidFill>
                <a:latin typeface="Microsoft YaHei"/>
              </a:rPr>
              <a:t>A2C2f</a:t>
            </a:r>
          </a:p>
        </p:txBody>
      </p:sp>
      <p:sp>
        <p:nvSpPr>
          <p:cNvPr id="14" name="block-2"/>
          <p:cNvSpPr/>
          <p:nvPr/>
        </p:nvSpPr>
        <p:spPr>
          <a:xfrm>
            <a:off x="5550408" y="2176272"/>
            <a:ext cx="27432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5" name="layer-7"/>
          <p:cNvSpPr/>
          <p:nvPr/>
        </p:nvSpPr>
        <p:spPr>
          <a:xfrm>
            <a:off x="5660136" y="2176272"/>
            <a:ext cx="566928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54864" rIns="18288" bIns="54864" rtlCol="0" anchor="ctr"/>
          <a:lstStyle/>
          <a:p>
            <a:pPr algn="ctr"/>
            <a:r>
              <a:rPr sz="1050" b="0">
                <a:solidFill>
                  <a:srgbClr val="667085"/>
                </a:solidFill>
                <a:latin typeface="Microsoft YaHei"/>
              </a:rPr>
              <a:t>Conv</a:t>
            </a:r>
          </a:p>
        </p:txBody>
      </p:sp>
      <p:sp>
        <p:nvSpPr>
          <p:cNvPr id="16" name="layer-8"/>
          <p:cNvSpPr/>
          <p:nvPr/>
        </p:nvSpPr>
        <p:spPr>
          <a:xfrm>
            <a:off x="6309360" y="2176272"/>
            <a:ext cx="676656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54864" rIns="18288" bIns="54864" rtlCol="0" anchor="ctr"/>
          <a:lstStyle/>
          <a:p>
            <a:pPr algn="ctr"/>
            <a:r>
              <a:rPr sz="1050" b="0">
                <a:solidFill>
                  <a:srgbClr val="667085"/>
                </a:solidFill>
                <a:latin typeface="Microsoft YaHei"/>
              </a:rPr>
              <a:t>A2C2f</a:t>
            </a:r>
          </a:p>
        </p:txBody>
      </p:sp>
      <p:sp>
        <p:nvSpPr>
          <p:cNvPr id="17" name="block-3"/>
          <p:cNvSpPr/>
          <p:nvPr/>
        </p:nvSpPr>
        <p:spPr>
          <a:xfrm>
            <a:off x="7068312" y="2176272"/>
            <a:ext cx="27432" cy="548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327355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500" b="0">
                <a:solidFill>
                  <a:srgbClr val="1B1F24"/>
                </a:solidFill>
                <a:latin typeface="Microsoft YaHei"/>
              </a:rPr>
              <a:t>这是 </a:t>
            </a:r>
            <a:r>
              <a:rPr sz="1450" b="0">
                <a:solidFill>
                  <a:srgbClr val="1B1F24"/>
                </a:solidFill>
                <a:latin typeface="Consolas"/>
              </a:rPr>
              <a:t>yolo-master-n.yaml</a:t>
            </a:r>
            <a:r>
              <a:rPr sz="1500" b="0">
                <a:solidFill>
                  <a:srgbClr val="1B1F24"/>
                </a:solidFill>
                <a:latin typeface="Microsoft YaHei"/>
              </a:rPr>
              <a:t> 的主干：卷积与 C3k2 / A2C2f 交替，每一段结束就下采样一次。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第一章 · 上游是什么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四个 ES_MOE 装在主干的哪四处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第一章　YOLO-Master 讲透</a:t>
            </a:r>
            <a:r>
              <a:rPr sz="950">
                <a:solidFill>
                  <a:srgbClr val="667085"/>
                </a:solidFill>
                <a:latin typeface="Consolas"/>
              </a:rPr>
              <a:t>　·　13</a:t>
            </a:r>
          </a:p>
        </p:txBody>
      </p:sp>
      <p:sp>
        <p:nvSpPr>
          <p:cNvPr id="5" name="layer-0"/>
          <p:cNvSpPr/>
          <p:nvPr/>
        </p:nvSpPr>
        <p:spPr>
          <a:xfrm>
            <a:off x="566928" y="2176272"/>
            <a:ext cx="566928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54864" rIns="18288" bIns="54864" rtlCol="0" anchor="ctr"/>
          <a:lstStyle/>
          <a:p>
            <a:pPr algn="ctr"/>
            <a:r>
              <a:rPr sz="1050" b="0">
                <a:solidFill>
                  <a:srgbClr val="667085"/>
                </a:solidFill>
                <a:latin typeface="Microsoft YaHei"/>
              </a:rPr>
              <a:t>Conv</a:t>
            </a:r>
          </a:p>
        </p:txBody>
      </p:sp>
      <p:sp>
        <p:nvSpPr>
          <p:cNvPr id="6" name="layer-1"/>
          <p:cNvSpPr/>
          <p:nvPr/>
        </p:nvSpPr>
        <p:spPr>
          <a:xfrm>
            <a:off x="1216152" y="2176272"/>
            <a:ext cx="566928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54864" rIns="18288" bIns="54864" rtlCol="0" anchor="ctr"/>
          <a:lstStyle/>
          <a:p>
            <a:pPr algn="ctr"/>
            <a:r>
              <a:rPr sz="1050" b="0">
                <a:solidFill>
                  <a:srgbClr val="667085"/>
                </a:solidFill>
                <a:latin typeface="Microsoft YaHei"/>
              </a:rPr>
              <a:t>Conv</a:t>
            </a:r>
          </a:p>
        </p:txBody>
      </p:sp>
      <p:sp>
        <p:nvSpPr>
          <p:cNvPr id="7" name="layer-2"/>
          <p:cNvSpPr/>
          <p:nvPr/>
        </p:nvSpPr>
        <p:spPr>
          <a:xfrm>
            <a:off x="1865376" y="2176272"/>
            <a:ext cx="621792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54864" rIns="18288" bIns="54864" rtlCol="0" anchor="ctr"/>
          <a:lstStyle/>
          <a:p>
            <a:pPr algn="ctr"/>
            <a:r>
              <a:rPr sz="1050" b="0">
                <a:solidFill>
                  <a:srgbClr val="667085"/>
                </a:solidFill>
                <a:latin typeface="Microsoft YaHei"/>
              </a:rPr>
              <a:t>C3k2</a:t>
            </a:r>
          </a:p>
        </p:txBody>
      </p:sp>
      <p:sp>
        <p:nvSpPr>
          <p:cNvPr id="8" name="block-0"/>
          <p:cNvSpPr/>
          <p:nvPr/>
        </p:nvSpPr>
        <p:spPr>
          <a:xfrm>
            <a:off x="2569464" y="2093976"/>
            <a:ext cx="749808" cy="713232"/>
          </a:xfrm>
          <a:prstGeom prst="round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块 0</a:t>
            </a:r>
          </a:p>
        </p:txBody>
      </p:sp>
      <p:sp>
        <p:nvSpPr>
          <p:cNvPr id="9" name="layer-3"/>
          <p:cNvSpPr/>
          <p:nvPr/>
        </p:nvSpPr>
        <p:spPr>
          <a:xfrm>
            <a:off x="3401568" y="2176272"/>
            <a:ext cx="566928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54864" rIns="18288" bIns="54864" rtlCol="0" anchor="ctr"/>
          <a:lstStyle/>
          <a:p>
            <a:pPr algn="ctr"/>
            <a:r>
              <a:rPr sz="1050" b="0">
                <a:solidFill>
                  <a:srgbClr val="667085"/>
                </a:solidFill>
                <a:latin typeface="Microsoft YaHei"/>
              </a:rPr>
              <a:t>Conv</a:t>
            </a:r>
          </a:p>
        </p:txBody>
      </p:sp>
      <p:sp>
        <p:nvSpPr>
          <p:cNvPr id="10" name="layer-4"/>
          <p:cNvSpPr/>
          <p:nvPr/>
        </p:nvSpPr>
        <p:spPr>
          <a:xfrm>
            <a:off x="4050792" y="2176272"/>
            <a:ext cx="621792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54864" rIns="18288" bIns="54864" rtlCol="0" anchor="ctr"/>
          <a:lstStyle/>
          <a:p>
            <a:pPr algn="ctr"/>
            <a:r>
              <a:rPr sz="1050" b="0">
                <a:solidFill>
                  <a:srgbClr val="667085"/>
                </a:solidFill>
                <a:latin typeface="Microsoft YaHei"/>
              </a:rPr>
              <a:t>C3k2</a:t>
            </a:r>
          </a:p>
        </p:txBody>
      </p:sp>
      <p:sp>
        <p:nvSpPr>
          <p:cNvPr id="11" name="block-1"/>
          <p:cNvSpPr/>
          <p:nvPr/>
        </p:nvSpPr>
        <p:spPr>
          <a:xfrm>
            <a:off x="4754880" y="2093976"/>
            <a:ext cx="749808" cy="713232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块 1</a:t>
            </a:r>
          </a:p>
        </p:txBody>
      </p:sp>
      <p:sp>
        <p:nvSpPr>
          <p:cNvPr id="12" name="layer-5"/>
          <p:cNvSpPr/>
          <p:nvPr/>
        </p:nvSpPr>
        <p:spPr>
          <a:xfrm>
            <a:off x="5586984" y="2176272"/>
            <a:ext cx="566928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54864" rIns="18288" bIns="54864" rtlCol="0" anchor="ctr"/>
          <a:lstStyle/>
          <a:p>
            <a:pPr algn="ctr"/>
            <a:r>
              <a:rPr sz="1050" b="0">
                <a:solidFill>
                  <a:srgbClr val="667085"/>
                </a:solidFill>
                <a:latin typeface="Microsoft YaHei"/>
              </a:rPr>
              <a:t>Conv</a:t>
            </a:r>
          </a:p>
        </p:txBody>
      </p:sp>
      <p:sp>
        <p:nvSpPr>
          <p:cNvPr id="13" name="layer-6"/>
          <p:cNvSpPr/>
          <p:nvPr/>
        </p:nvSpPr>
        <p:spPr>
          <a:xfrm>
            <a:off x="6236208" y="2176272"/>
            <a:ext cx="676656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54864" rIns="18288" bIns="54864" rtlCol="0" anchor="ctr"/>
          <a:lstStyle/>
          <a:p>
            <a:pPr algn="ctr"/>
            <a:r>
              <a:rPr sz="1050" b="0">
                <a:solidFill>
                  <a:srgbClr val="667085"/>
                </a:solidFill>
                <a:latin typeface="Microsoft YaHei"/>
              </a:rPr>
              <a:t>A2C2f</a:t>
            </a:r>
          </a:p>
        </p:txBody>
      </p:sp>
      <p:sp>
        <p:nvSpPr>
          <p:cNvPr id="14" name="block-2"/>
          <p:cNvSpPr/>
          <p:nvPr/>
        </p:nvSpPr>
        <p:spPr>
          <a:xfrm>
            <a:off x="6995160" y="2093976"/>
            <a:ext cx="749808" cy="713232"/>
          </a:xfrm>
          <a:prstGeom prst="roundRect">
            <a:avLst/>
          </a:prstGeom>
          <a:solidFill>
            <a:srgbClr val="1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块 2</a:t>
            </a:r>
          </a:p>
        </p:txBody>
      </p:sp>
      <p:sp>
        <p:nvSpPr>
          <p:cNvPr id="15" name="layer-7"/>
          <p:cNvSpPr/>
          <p:nvPr/>
        </p:nvSpPr>
        <p:spPr>
          <a:xfrm>
            <a:off x="7827264" y="2176272"/>
            <a:ext cx="566928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54864" rIns="18288" bIns="54864" rtlCol="0" anchor="ctr"/>
          <a:lstStyle/>
          <a:p>
            <a:pPr algn="ctr"/>
            <a:r>
              <a:rPr sz="1050" b="0">
                <a:solidFill>
                  <a:srgbClr val="667085"/>
                </a:solidFill>
                <a:latin typeface="Microsoft YaHei"/>
              </a:rPr>
              <a:t>Conv</a:t>
            </a:r>
          </a:p>
        </p:txBody>
      </p:sp>
      <p:sp>
        <p:nvSpPr>
          <p:cNvPr id="16" name="layer-8"/>
          <p:cNvSpPr/>
          <p:nvPr/>
        </p:nvSpPr>
        <p:spPr>
          <a:xfrm>
            <a:off x="8476488" y="2176272"/>
            <a:ext cx="676656" cy="548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54864" rIns="18288" bIns="54864" rtlCol="0" anchor="ctr"/>
          <a:lstStyle/>
          <a:p>
            <a:pPr algn="ctr"/>
            <a:r>
              <a:rPr sz="1050" b="0">
                <a:solidFill>
                  <a:srgbClr val="667085"/>
                </a:solidFill>
                <a:latin typeface="Microsoft YaHei"/>
              </a:rPr>
              <a:t>A2C2f</a:t>
            </a:r>
          </a:p>
        </p:txBody>
      </p:sp>
      <p:sp>
        <p:nvSpPr>
          <p:cNvPr id="17" name="block-3"/>
          <p:cNvSpPr/>
          <p:nvPr/>
        </p:nvSpPr>
        <p:spPr>
          <a:xfrm>
            <a:off x="9235440" y="2093976"/>
            <a:ext cx="749808" cy="713232"/>
          </a:xfrm>
          <a:prstGeom prst="roundRect">
            <a:avLst/>
          </a:prstGeom>
          <a:solidFill>
            <a:srgbClr val="6C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块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27355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500" b="0">
                <a:solidFill>
                  <a:srgbClr val="1B1F24"/>
                </a:solidFill>
                <a:latin typeface="Microsoft YaHei"/>
              </a:rPr>
              <a:t>四个 ES_MOE 各插在一个 stage 之后——这就是论文说的 backbone-only 布局，作者自己的消融（Table 5）把它定为默认。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913632"/>
            <a:ext cx="2613583" cy="132588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块 0 · 64 通道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P2 之后，分辨率还很高，四个专家在这里算得最贵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1679" y="3913632"/>
            <a:ext cx="2613583" cy="132588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块 1 · 128 通道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P3 之后，小目标主要靠这层特征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6430" y="3913632"/>
            <a:ext cx="2613583" cy="132588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块 2 · 128 通道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P4 之后，紧跟在区域注意力块后面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11181" y="3913632"/>
            <a:ext cx="2613583" cy="132588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块 3 · 256 通道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P5 之后，主干末端，感受野最大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46811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块不改变通道数和分辨率，只把这一层的特征重算一遍，所以插在哪里都不破坏后面的结构；这也是第三章「嫁接」能成立的前提。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4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第一章 · 论文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论文说了什么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第一章　YOLO-Master 讲透</a:t>
            </a:r>
            <a:r>
              <a:rPr sz="950">
                <a:solidFill>
                  <a:srgbClr val="667085"/>
                </a:solidFill>
                <a:latin typeface="Consolas"/>
              </a:rPr>
              <a:t>　·　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3619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500" b="1">
                <a:solidFill>
                  <a:srgbClr val="B3272D"/>
                </a:solidFill>
                <a:latin typeface="Microsoft YaHei"/>
              </a:rPr>
              <a:t>动机一句话：</a:t>
            </a:r>
            <a:r>
              <a:rPr sz="1500" b="0">
                <a:solidFill>
                  <a:srgbClr val="1B1F24"/>
                </a:solidFill>
                <a:latin typeface="Microsoft YaHei"/>
              </a:rPr>
              <a:t>简单的画面不该和复杂的画面花一样多的算力，所以让路由器按输入挑专家。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139696"/>
            <a:ext cx="2613583" cy="164592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异构专家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四个深度可分离卷积，核 3 / 5 / 7 / 9，看的范围不同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1679" y="2139696"/>
            <a:ext cx="2613583" cy="164592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稀疏路由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路由器按整张特征图打分，只激活其中 k 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6430" y="2139696"/>
            <a:ext cx="2613583" cy="164592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负载均衡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一项辅助损失，防止路由器永远只挑同几个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1181" y="2139696"/>
            <a:ext cx="2613583" cy="164592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放在主干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论文自己的消融把「只放主干」定为默认配置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05079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论文：arXiv 2512.23273（YOLO-Master，CVPR 2026）。本章引用的式号与表号都按该文。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3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我们逐条验过的地方，会在页面右下角标出对应的测试文件；</a:t>
            </a:r>
            <a:r>
              <a:rPr sz="1350" b="1">
                <a:solidFill>
                  <a:srgbClr val="B3272D"/>
                </a:solidFill>
                <a:latin typeface="Microsoft YaHei"/>
              </a:rPr>
              <a:t>与实测不符的地方，第四章照实摆出来。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第一章 · 论文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式 (2)：块做的事只有一行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第一章　YOLO-Master 讲透</a:t>
            </a:r>
            <a:r>
              <a:rPr sz="950">
                <a:solidFill>
                  <a:srgbClr val="667085"/>
                </a:solidFill>
                <a:latin typeface="Consolas"/>
              </a:rPr>
              <a:t>　·　15</a:t>
            </a:r>
          </a:p>
        </p:txBody>
      </p:sp>
      <p:pic>
        <p:nvPicPr>
          <p:cNvPr id="5" name="Picture 4" descr="eq-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468" y="1764792"/>
            <a:ext cx="3080758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290779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1">
                <a:solidFill>
                  <a:srgbClr val="B3272D"/>
                </a:solidFill>
                <a:latin typeface="Microsoft YaHei"/>
              </a:rPr>
              <a:t>wᵢ</a:t>
            </a:r>
            <a:r>
              <a:rPr sz="1450" b="0">
                <a:solidFill>
                  <a:srgbClr val="1B1F24"/>
                </a:solidFill>
                <a:latin typeface="Microsoft YaHei"/>
              </a:rPr>
              <a:t> 是路由器给第 i 个专家的权重，只有被选中的 k 个非零，且它们加起来等于 1；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1">
                <a:solidFill>
                  <a:srgbClr val="B3272D"/>
                </a:solidFill>
                <a:latin typeface="Microsoft YaHei"/>
              </a:rPr>
              <a:t>Expertᵢ(X)</a:t>
            </a:r>
            <a:r>
              <a:rPr sz="1450" b="0">
                <a:solidFill>
                  <a:srgbClr val="1B1F24"/>
                </a:solidFill>
                <a:latin typeface="Microsoft YaHei"/>
              </a:rPr>
              <a:t> 是第 i 个专家对同一份输入的卷积结果；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1">
                <a:solidFill>
                  <a:srgbClr val="B3272D"/>
                </a:solidFill>
                <a:latin typeface="Microsoft YaHei"/>
              </a:rPr>
              <a:t>Norm</a:t>
            </a:r>
            <a:r>
              <a:rPr sz="1450" b="0">
                <a:solidFill>
                  <a:srgbClr val="1B1F24"/>
                </a:solidFill>
                <a:latin typeface="Microsoft YaHei"/>
              </a:rPr>
              <a:t>  是输出归一化（BatchNorm + SiLU）——上游恒开，本包做成开关，默认关（为了让既有记录原样复现）。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0">
                <a:solidFill>
                  <a:srgbClr val="1B1F24"/>
                </a:solidFill>
                <a:latin typeface="Microsoft YaHei"/>
              </a:rPr>
              <a:t>注意：所有专家看的是</a:t>
            </a:r>
            <a:r>
              <a:rPr sz="1450" b="1">
                <a:solidFill>
                  <a:srgbClr val="1B1F24"/>
                </a:solidFill>
                <a:latin typeface="Microsoft YaHei"/>
              </a:rPr>
              <a:t>同一份输入</a:t>
            </a:r>
            <a:r>
              <a:rPr sz="1450" b="0">
                <a:solidFill>
                  <a:srgbClr val="1B1F24"/>
                </a:solidFill>
                <a:latin typeface="Microsoft YaHei"/>
              </a:rPr>
              <a:t>，不是把通道切开分给各专家。所以专家越多，算得越多。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66928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上游实现：ultralytics/nn/modules/moe/modules.py:496-499（norm）与 :582（施加）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第一章 · 论文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式 (8) / (9)：soft 与 hard 的 top-k 是同一个数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第一章　YOLO-Master 讲透</a:t>
            </a:r>
            <a:r>
              <a:rPr sz="950">
                <a:solidFill>
                  <a:srgbClr val="667085"/>
                </a:solidFill>
                <a:latin typeface="Consolas"/>
              </a:rPr>
              <a:t>　·　16</a:t>
            </a:r>
          </a:p>
        </p:txBody>
      </p:sp>
      <p:pic>
        <p:nvPicPr>
          <p:cNvPr id="5" name="Picture 4" descr="eq-softm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2245" y="1764792"/>
            <a:ext cx="4307205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290779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0">
                <a:solidFill>
                  <a:srgbClr val="1B1F24"/>
                </a:solidFill>
                <a:latin typeface="Microsoft YaHei"/>
              </a:rPr>
              <a:t>训练期要保留梯度，所以先对全体专家做 softmax，再乘 top-k 的 0/1 掩码，最后把剩下的重新归一化。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0">
                <a:solidFill>
                  <a:srgbClr val="1B1F24"/>
                </a:solidFill>
                <a:latin typeface="Microsoft YaHei"/>
              </a:rPr>
              <a:t>推理期不需要梯度，直接取 top-k 的那几个值归一化即可——两条路算出来的权重逐位相同。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0">
                <a:solidFill>
                  <a:srgbClr val="1B1F24"/>
                </a:solidFill>
                <a:latin typeface="Microsoft YaHei"/>
              </a:rPr>
              <a:t>这条我们写成了断言：</a:t>
            </a:r>
            <a:r>
              <a:rPr sz="1450" b="1">
                <a:solidFill>
                  <a:srgbClr val="B3272D"/>
                </a:solidFill>
                <a:latin typeface="Microsoft YaHei"/>
              </a:rPr>
              <a:t>tests/test_paper_parity.py</a:t>
            </a:r>
            <a:r>
              <a:rPr sz="1450" b="0">
                <a:solidFill>
                  <a:srgbClr val="1B1F24"/>
                </a:solidFill>
                <a:latin typeface="Microsoft YaHei"/>
              </a:rPr>
              <a:t>  对 top-K 子集做 softmax ≡ 全体 softmax 后掩码重归一。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66928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上游实现：routers.py:498-516（soft）与 :518-530（hard），两条路各自带 clamp(-30,30) 与 fp32 softmax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第一章 · 论文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式 (12) / (13)：平衡项在防什么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第一章　YOLO-Master 讲透</a:t>
            </a:r>
            <a:r>
              <a:rPr sz="950">
                <a:solidFill>
                  <a:srgbClr val="667085"/>
                </a:solidFill>
                <a:latin typeface="Consolas"/>
              </a:rPr>
              <a:t>　·　17</a:t>
            </a:r>
          </a:p>
        </p:txBody>
      </p:sp>
      <p:pic>
        <p:nvPicPr>
          <p:cNvPr id="5" name="Picture 4" descr="eq-gsh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710" y="1673352"/>
            <a:ext cx="2880275" cy="566928"/>
          </a:xfrm>
          <a:prstGeom prst="rect">
            <a:avLst/>
          </a:prstGeom>
        </p:spPr>
      </p:pic>
      <p:pic>
        <p:nvPicPr>
          <p:cNvPr id="6" name="Picture 5" descr="eq-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1973" y="2587752"/>
            <a:ext cx="3207749" cy="658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363931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两个式子看着不一样，其实只差一个仿射变换：最小值点相同、梯度成正比。论文写「离均匀有多远」，代码写 GShard 式的平方和。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0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1">
                <a:solidFill>
                  <a:srgbClr val="B3272D"/>
                </a:solidFill>
                <a:latin typeface="Microsoft YaHei"/>
              </a:rPr>
              <a:t>所以「论文与代码用了不同的平衡项」这个说法是错的——这是我们自己先说错、后更正的一条。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00" b="1">
              <a:solidFill>
                <a:srgbClr val="B3272D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真正要紧的是它读哪个张量：上游读的是 </a:t>
            </a:r>
            <a:r>
              <a:rPr sz="1400" b="1">
                <a:solidFill>
                  <a:srgbClr val="1B1F24"/>
                </a:solidFill>
                <a:latin typeface="Microsoft YaHei"/>
              </a:rPr>
              <a:t>重归一后的门控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，那意味着没进 top-k 的专家梯度恒为零。第四章会看到这件事的后果。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第一章 · 论文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论文自己的消融：块放哪里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第一章　YOLO-Master 讲透</a:t>
            </a:r>
            <a:r>
              <a:rPr sz="950">
                <a:solidFill>
                  <a:srgbClr val="667085"/>
                </a:solidFill>
                <a:latin typeface="Consolas"/>
              </a:rPr>
              <a:t>　·　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36192"/>
          <a:ext cx="7863838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45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14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98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80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1F24"/>
                          </a:solidFill>
                          <a:latin typeface="Microsoft YaHei"/>
                        </a:rPr>
                        <a:t>配置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1F24"/>
                          </a:solidFill>
                          <a:latin typeface="Microsoft YaHei"/>
                        </a:rPr>
                        <a:t>参数量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1F24"/>
                          </a:solidFill>
                          <a:latin typeface="Microsoft YaHei"/>
                        </a:rPr>
                        <a:t>mAP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1F24"/>
                          </a:solidFill>
                          <a:latin typeface="Microsoft YaHei"/>
                        </a:rPr>
                        <a:t>论文的处理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Microsoft YaHei"/>
                        </a:rPr>
                        <a:t>不放块（基线）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Microsoft YaHei"/>
                        </a:rPr>
                        <a:t>2.63 M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Consolas"/>
                        </a:rPr>
                        <a:t>60.8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Microsoft YaHei"/>
                        </a:rPr>
                        <a:t>对照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Microsoft YaHei"/>
                        </a:rPr>
                        <a:t>只放 Neck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Microsoft YaHei"/>
                        </a:rPr>
                        <a:t>2.49 M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Consolas"/>
                        </a:rPr>
                        <a:t>58.2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Microsoft YaHei"/>
                        </a:rPr>
                        <a:t>掉点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Microsoft YaHei"/>
                        </a:rPr>
                        <a:t>只放 Backbone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Microsoft YaHei"/>
                        </a:rPr>
                        <a:t>2.66 M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Consolas"/>
                        </a:rPr>
                        <a:t>62.1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Microsoft YaHei"/>
                        </a:rPr>
                        <a:t>定为默认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Microsoft YaHei"/>
                        </a:rPr>
                        <a:t>Backbone + Neck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Microsoft YaHei"/>
                        </a:rPr>
                        <a:t>2.76 M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Consolas"/>
                        </a:rPr>
                        <a:t>54.9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Microsoft YaHei"/>
                        </a:rPr>
                        <a:t>掉 5.9 点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363931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作者把「放得更多」的配置测了，结果更差，于是默认只放主干。论文把原因归为「级联路由之间的梯度互相干扰」。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0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这张表是第四章一条判读线的由来：</a:t>
            </a:r>
            <a:r>
              <a:rPr sz="1400" b="1">
                <a:solidFill>
                  <a:srgbClr val="B3272D"/>
                </a:solidFill>
                <a:latin typeface="Microsoft YaHei"/>
              </a:rPr>
              <a:t>我们复刻四块布局时，事先就按这张表的方向做了预测。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第一章 · 上游代码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上游把它拆成三个类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第一章　YOLO-Master 讲透</a:t>
            </a:r>
            <a:r>
              <a:rPr sz="950">
                <a:solidFill>
                  <a:srgbClr val="667085"/>
                </a:solidFill>
                <a:latin typeface="Consolas"/>
              </a:rPr>
              <a:t>　·　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3551834" cy="182880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ES_MOE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块本体：建专家、调路由、
选前向路径、算平衡项
modules.py:410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930" y="1536192"/>
            <a:ext cx="3551834" cy="182880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DynamicRoutingLayer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路由器：打分、clamp、softmax、
top-k、重归一
routers.py:470-530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72932" y="1536192"/>
            <a:ext cx="3551834" cy="182880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EfficientExpertGroup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专家组：dw → pw → BN → SiLU，核 3/5/7/9
experts.py:280-296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73075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再往外一层，还有两处不在块里、但决定块怎么训的代码：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0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1">
                <a:solidFill>
                  <a:srgbClr val="B3272D"/>
                </a:solidFill>
                <a:latin typeface="Microsoft YaHei"/>
              </a:rPr>
              <a:t>nn/mixture_loss.py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　把每个块交出来的平衡项收上来，归一、封顶，再加进总损失；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1">
                <a:solidFill>
                  <a:srgbClr val="B3272D"/>
                </a:solidFill>
                <a:latin typeface="Microsoft YaHei"/>
              </a:rPr>
              <a:t>engine/trainer.py 与 engine/extensions/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　给路由器单独分组、给专家做预热、在梯度出问题时回滚。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0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这三个类 + 两处外围，就是上游 ES-MoE 的全部实现。下面逐个看。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第一章 · 上游代码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路由器：四行里藏着三个防御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第一章　YOLO-Master 讲透</a:t>
            </a:r>
            <a:r>
              <a:rPr sz="950">
                <a:solidFill>
                  <a:srgbClr val="667085"/>
                </a:solidFill>
                <a:latin typeface="Consolas"/>
              </a:rPr>
              <a:t>　·　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6766560" cy="2065655"/>
          </a:xfrm>
          <a:prstGeom prst="roundRect">
            <a:avLst>
              <a:gd name="adj" fmla="val 8099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dirty="0">
                <a:solidFill>
                  <a:srgbClr val="1B1F24"/>
                </a:solidFill>
                <a:latin typeface="Consolas"/>
              </a:rPr>
              <a:t>def _</a:t>
            </a:r>
            <a:r>
              <a:rPr sz="1300" dirty="0" err="1">
                <a:solidFill>
                  <a:srgbClr val="1B1F24"/>
                </a:solidFill>
                <a:latin typeface="Consolas"/>
              </a:rPr>
              <a:t>soft_top_k</a:t>
            </a:r>
            <a:r>
              <a:rPr sz="1300" dirty="0">
                <a:solidFill>
                  <a:srgbClr val="1B1F24"/>
                </a:solidFill>
                <a:latin typeface="Consolas"/>
              </a:rPr>
              <a:t>(self, logits):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dirty="0">
                <a:solidFill>
                  <a:srgbClr val="B3272D"/>
                </a:solidFill>
                <a:latin typeface="Consolas"/>
              </a:rPr>
              <a:t>▸   logits = </a:t>
            </a:r>
            <a:r>
              <a:rPr sz="1300" dirty="0" err="1">
                <a:solidFill>
                  <a:srgbClr val="B3272D"/>
                </a:solidFill>
                <a:latin typeface="Consolas"/>
              </a:rPr>
              <a:t>logits.clamp</a:t>
            </a:r>
            <a:r>
              <a:rPr sz="1300" dirty="0">
                <a:solidFill>
                  <a:srgbClr val="B3272D"/>
                </a:solidFill>
                <a:latin typeface="Consolas"/>
              </a:rPr>
              <a:t>(-30.0, 30.0)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dirty="0">
                <a:solidFill>
                  <a:srgbClr val="B3272D"/>
                </a:solidFill>
                <a:latin typeface="Consolas"/>
              </a:rPr>
              <a:t>▸   weights = </a:t>
            </a:r>
            <a:r>
              <a:rPr sz="1300" dirty="0" err="1">
                <a:solidFill>
                  <a:srgbClr val="B3272D"/>
                </a:solidFill>
                <a:latin typeface="Consolas"/>
              </a:rPr>
              <a:t>F.softmax</a:t>
            </a:r>
            <a:r>
              <a:rPr sz="1300" dirty="0">
                <a:solidFill>
                  <a:srgbClr val="B3272D"/>
                </a:solidFill>
                <a:latin typeface="Consolas"/>
              </a:rPr>
              <a:t>(</a:t>
            </a:r>
            <a:r>
              <a:rPr sz="1300" dirty="0" err="1">
                <a:solidFill>
                  <a:srgbClr val="B3272D"/>
                </a:solidFill>
                <a:latin typeface="Consolas"/>
              </a:rPr>
              <a:t>logits.float</a:t>
            </a:r>
            <a:r>
              <a:rPr sz="1300" dirty="0">
                <a:solidFill>
                  <a:srgbClr val="B3272D"/>
                </a:solidFill>
                <a:latin typeface="Consolas"/>
              </a:rPr>
              <a:t>(), dim=1).</a:t>
            </a:r>
            <a:r>
              <a:rPr sz="1300" dirty="0" err="1">
                <a:solidFill>
                  <a:srgbClr val="B3272D"/>
                </a:solidFill>
                <a:latin typeface="Consolas"/>
              </a:rPr>
              <a:t>type_as</a:t>
            </a:r>
            <a:r>
              <a:rPr sz="1300" dirty="0">
                <a:solidFill>
                  <a:srgbClr val="B3272D"/>
                </a:solidFill>
                <a:latin typeface="Consolas"/>
              </a:rPr>
              <a:t>(logits)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dirty="0">
                <a:solidFill>
                  <a:srgbClr val="1B1F24"/>
                </a:solidFill>
                <a:latin typeface="Consolas"/>
              </a:rPr>
              <a:t>    _, </a:t>
            </a:r>
            <a:r>
              <a:rPr sz="1300" dirty="0" err="1">
                <a:solidFill>
                  <a:srgbClr val="1B1F24"/>
                </a:solidFill>
                <a:latin typeface="Consolas"/>
              </a:rPr>
              <a:t>idx</a:t>
            </a:r>
            <a:r>
              <a:rPr sz="1300" dirty="0">
                <a:solidFill>
                  <a:srgbClr val="1B1F24"/>
                </a:solidFill>
                <a:latin typeface="Consolas"/>
              </a:rPr>
              <a:t> = </a:t>
            </a:r>
            <a:r>
              <a:rPr sz="1300" dirty="0" err="1">
                <a:solidFill>
                  <a:srgbClr val="1B1F24"/>
                </a:solidFill>
                <a:latin typeface="Consolas"/>
              </a:rPr>
              <a:t>torch.topk</a:t>
            </a:r>
            <a:r>
              <a:rPr sz="1300" dirty="0">
                <a:solidFill>
                  <a:srgbClr val="1B1F24"/>
                </a:solidFill>
                <a:latin typeface="Consolas"/>
              </a:rPr>
              <a:t>(weights, </a:t>
            </a:r>
            <a:r>
              <a:rPr sz="1300" dirty="0" err="1">
                <a:solidFill>
                  <a:srgbClr val="1B1F24"/>
                </a:solidFill>
                <a:latin typeface="Consolas"/>
              </a:rPr>
              <a:t>self.top_k</a:t>
            </a:r>
            <a:r>
              <a:rPr sz="1300" dirty="0">
                <a:solidFill>
                  <a:srgbClr val="1B1F24"/>
                </a:solidFill>
                <a:latin typeface="Consolas"/>
              </a:rPr>
              <a:t>, dim=1)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dirty="0">
                <a:solidFill>
                  <a:srgbClr val="1B1F24"/>
                </a:solidFill>
                <a:latin typeface="Consolas"/>
              </a:rPr>
              <a:t>    mask = </a:t>
            </a:r>
            <a:r>
              <a:rPr sz="1300" dirty="0" err="1">
                <a:solidFill>
                  <a:srgbClr val="1B1F24"/>
                </a:solidFill>
                <a:latin typeface="Consolas"/>
              </a:rPr>
              <a:t>F.one_hot</a:t>
            </a:r>
            <a:r>
              <a:rPr sz="1300" dirty="0">
                <a:solidFill>
                  <a:srgbClr val="1B1F24"/>
                </a:solidFill>
                <a:latin typeface="Consolas"/>
              </a:rPr>
              <a:t>(</a:t>
            </a:r>
            <a:r>
              <a:rPr sz="1300" dirty="0" err="1">
                <a:solidFill>
                  <a:srgbClr val="1B1F24"/>
                </a:solidFill>
                <a:latin typeface="Consolas"/>
              </a:rPr>
              <a:t>idx</a:t>
            </a:r>
            <a:r>
              <a:rPr sz="1300" dirty="0">
                <a:solidFill>
                  <a:srgbClr val="1B1F24"/>
                </a:solidFill>
                <a:latin typeface="Consolas"/>
              </a:rPr>
              <a:t>, E).sum(dim=2)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dirty="0">
                <a:solidFill>
                  <a:srgbClr val="B3272D"/>
                </a:solidFill>
                <a:latin typeface="Consolas"/>
              </a:rPr>
              <a:t>▸   weights = </a:t>
            </a:r>
            <a:r>
              <a:rPr sz="1300" dirty="0" err="1">
                <a:solidFill>
                  <a:srgbClr val="B3272D"/>
                </a:solidFill>
                <a:latin typeface="Consolas"/>
              </a:rPr>
              <a:t>stable_normalize</a:t>
            </a:r>
            <a:r>
              <a:rPr sz="1300" dirty="0">
                <a:solidFill>
                  <a:srgbClr val="B3272D"/>
                </a:solidFill>
                <a:latin typeface="Consolas"/>
              </a:rPr>
              <a:t>(weights * mask, dim=1)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dirty="0">
                <a:solidFill>
                  <a:srgbClr val="1B1F24"/>
                </a:solidFill>
                <a:latin typeface="Consolas"/>
              </a:rPr>
              <a:t>    return weights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674999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routers.py:498-516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99248" y="1536192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00" b="1">
                <a:solidFill>
                  <a:srgbClr val="B3272D"/>
                </a:solidFill>
                <a:latin typeface="Microsoft YaHei"/>
              </a:rPr>
              <a:t>clamp(-30, 30)</a:t>
            </a:r>
            <a:r>
              <a:rPr sz="1300" b="0">
                <a:solidFill>
                  <a:srgbClr val="1B1F24"/>
                </a:solidFill>
                <a:latin typeface="Microsoft YaHei"/>
              </a:rPr>
              <a:t>
混合精度下跑飞的 logit 到 softmax 已经是 inf，整个门控会变 NaN。夹一刀就挡住了。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30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00" b="1">
                <a:solidFill>
                  <a:srgbClr val="B3272D"/>
                </a:solidFill>
                <a:latin typeface="Microsoft YaHei"/>
              </a:rPr>
              <a:t>先转 fp32 再 softmax</a:t>
            </a:r>
            <a:r>
              <a:rPr sz="1300" b="0">
                <a:solidFill>
                  <a:srgbClr val="1B1F24"/>
                </a:solidFill>
                <a:latin typeface="Microsoft YaHei"/>
              </a:rPr>
              <a:t>
半精度的指数很容易溢出；算完再转回原精度，代价几乎为零。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30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00" b="1">
                <a:solidFill>
                  <a:srgbClr val="B3272D"/>
                </a:solidFill>
                <a:latin typeface="Microsoft YaHei"/>
              </a:rPr>
              <a:t>stable_normalize</a:t>
            </a:r>
            <a:r>
              <a:rPr sz="1300" b="0">
                <a:solidFill>
                  <a:srgbClr val="1B1F24"/>
                </a:solidFill>
                <a:latin typeface="Microsoft YaHei"/>
              </a:rPr>
              <a:t>
掩码后剩下的几个数要重新归一，分母带下限，防止全零时除零。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第一章 · 上游代码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专家：一个深度可分离卷积，四种核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第一章　YOLO-Master 讲透</a:t>
            </a:r>
            <a:r>
              <a:rPr sz="950">
                <a:solidFill>
                  <a:srgbClr val="667085"/>
                </a:solidFill>
                <a:latin typeface="Consolas"/>
              </a:rPr>
              <a:t>　·　21</a:t>
            </a:r>
          </a:p>
        </p:txBody>
      </p:sp>
      <p:pic>
        <p:nvPicPr>
          <p:cNvPr id="5" name="Picture 4" descr="receptive-fie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567" y="1536192"/>
            <a:ext cx="6766560" cy="231519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" y="4079988"/>
            <a:ext cx="6217920" cy="121920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>
                <a:solidFill>
                  <a:srgbClr val="1B1F24"/>
                </a:solidFill>
                <a:latin typeface="Consolas"/>
              </a:rPr>
              <a:t>nn.Conv2d(c1, c1, k, 1, k // 2, groups=c1, bias=False)  # 深度卷积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>
                <a:solidFill>
                  <a:srgbClr val="1B1F24"/>
                </a:solidFill>
                <a:latin typeface="Consolas"/>
              </a:rPr>
              <a:t>nn.Conv2d(c1, c2, 1, 1, 0, bias=False)                  # 逐点卷积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>
                <a:solidFill>
                  <a:srgbClr val="1B1F24"/>
                </a:solidFill>
                <a:latin typeface="Consolas"/>
              </a:rPr>
              <a:t>nn.BatchNorm2d(c2)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00">
                <a:solidFill>
                  <a:srgbClr val="1B1F24"/>
                </a:solidFill>
                <a:latin typeface="Consolas"/>
              </a:rPr>
              <a:t>nn.SiLU()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372340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experts.py:280-296；本包 esmoe/module.py 的 DWExpert 与之逐行相同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50608" y="4079988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深度可分离：先每个通道各自卷一次，再用 1×1 把通道混合。参数量比普通卷积小一个数量级，所以四个专家也不至于太贵。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3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四个专家唯一的区别就是核尺寸。「异构」指的是这个，不是结构不同。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第一章 · 上游代码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门控是怎么算出来的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第一章　YOLO-Master 讲透</a:t>
            </a:r>
            <a:r>
              <a:rPr sz="950">
                <a:solidFill>
                  <a:srgbClr val="667085"/>
                </a:solidFill>
                <a:latin typeface="Consolas"/>
              </a:rPr>
              <a:t>　·　22</a:t>
            </a:r>
          </a:p>
        </p:txBody>
      </p:sp>
      <p:sp>
        <p:nvSpPr>
          <p:cNvPr id="5" name="gate-0"/>
          <p:cNvSpPr/>
          <p:nvPr/>
        </p:nvSpPr>
        <p:spPr>
          <a:xfrm>
            <a:off x="1664208" y="3438145"/>
            <a:ext cx="1463040" cy="1024127"/>
          </a:xfrm>
          <a:prstGeom prst="round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6" name="gate-label-0"/>
          <p:cNvSpPr txBox="1"/>
          <p:nvPr/>
        </p:nvSpPr>
        <p:spPr>
          <a:xfrm>
            <a:off x="1664208" y="4590288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专家 0　核 3</a:t>
            </a:r>
          </a:p>
        </p:txBody>
      </p:sp>
      <p:sp>
        <p:nvSpPr>
          <p:cNvPr id="7" name="gate-value-0"/>
          <p:cNvSpPr txBox="1"/>
          <p:nvPr/>
        </p:nvSpPr>
        <p:spPr>
          <a:xfrm>
            <a:off x="1664208" y="3108961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0.350</a:t>
            </a:r>
          </a:p>
        </p:txBody>
      </p:sp>
      <p:sp>
        <p:nvSpPr>
          <p:cNvPr id="8" name="gate-1"/>
          <p:cNvSpPr/>
          <p:nvPr/>
        </p:nvSpPr>
        <p:spPr>
          <a:xfrm>
            <a:off x="3858768" y="3584448"/>
            <a:ext cx="1463040" cy="877824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9" name="gate-label-1"/>
          <p:cNvSpPr txBox="1"/>
          <p:nvPr/>
        </p:nvSpPr>
        <p:spPr>
          <a:xfrm>
            <a:off x="3858768" y="4590288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专家 1　核 5</a:t>
            </a:r>
          </a:p>
        </p:txBody>
      </p:sp>
      <p:sp>
        <p:nvSpPr>
          <p:cNvPr id="10" name="gate-value-1"/>
          <p:cNvSpPr txBox="1"/>
          <p:nvPr/>
        </p:nvSpPr>
        <p:spPr>
          <a:xfrm>
            <a:off x="3858768" y="325526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0.300</a:t>
            </a:r>
          </a:p>
        </p:txBody>
      </p:sp>
      <p:sp>
        <p:nvSpPr>
          <p:cNvPr id="11" name="gate-2"/>
          <p:cNvSpPr/>
          <p:nvPr/>
        </p:nvSpPr>
        <p:spPr>
          <a:xfrm>
            <a:off x="6053328" y="3877056"/>
            <a:ext cx="1463040" cy="585216"/>
          </a:xfrm>
          <a:prstGeom prst="roundRect">
            <a:avLst/>
          </a:prstGeom>
          <a:solidFill>
            <a:srgbClr val="1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2" name="gate-label-2"/>
          <p:cNvSpPr txBox="1"/>
          <p:nvPr/>
        </p:nvSpPr>
        <p:spPr>
          <a:xfrm>
            <a:off x="6053328" y="4590288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专家 2　核 7</a:t>
            </a:r>
          </a:p>
        </p:txBody>
      </p:sp>
      <p:sp>
        <p:nvSpPr>
          <p:cNvPr id="13" name="gate-value-2"/>
          <p:cNvSpPr txBox="1"/>
          <p:nvPr/>
        </p:nvSpPr>
        <p:spPr>
          <a:xfrm>
            <a:off x="6053328" y="354787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0.200</a:t>
            </a:r>
          </a:p>
        </p:txBody>
      </p:sp>
      <p:sp>
        <p:nvSpPr>
          <p:cNvPr id="14" name="gate-3"/>
          <p:cNvSpPr/>
          <p:nvPr/>
        </p:nvSpPr>
        <p:spPr>
          <a:xfrm>
            <a:off x="8247888" y="4023360"/>
            <a:ext cx="1463040" cy="438912"/>
          </a:xfrm>
          <a:prstGeom prst="roundRect">
            <a:avLst/>
          </a:prstGeom>
          <a:solidFill>
            <a:srgbClr val="6C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5" name="gate-label-3"/>
          <p:cNvSpPr txBox="1"/>
          <p:nvPr/>
        </p:nvSpPr>
        <p:spPr>
          <a:xfrm>
            <a:off x="8247888" y="4590288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专家 3　核 9</a:t>
            </a:r>
          </a:p>
        </p:txBody>
      </p:sp>
      <p:sp>
        <p:nvSpPr>
          <p:cNvPr id="16" name="gate-value-3"/>
          <p:cNvSpPr txBox="1"/>
          <p:nvPr/>
        </p:nvSpPr>
        <p:spPr>
          <a:xfrm>
            <a:off x="8247888" y="369417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0.150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53619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700" b="0">
                <a:solidFill>
                  <a:srgbClr val="1B1F24"/>
                </a:solidFill>
                <a:latin typeface="Microsoft YaHei"/>
              </a:rPr>
              <a:t>① 路由器给每个专家打一个分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08483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对整张特征图做全局平均，再过两层 1×1——得到 4 个数，softmax 之后是 4 个概率，加起来等于 1。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第一章 · 上游代码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门控是怎么算出来的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第一章　YOLO-Master 讲透</a:t>
            </a:r>
            <a:r>
              <a:rPr sz="950">
                <a:solidFill>
                  <a:srgbClr val="667085"/>
                </a:solidFill>
                <a:latin typeface="Consolas"/>
              </a:rPr>
              <a:t>　·　23</a:t>
            </a:r>
          </a:p>
        </p:txBody>
      </p:sp>
      <p:sp>
        <p:nvSpPr>
          <p:cNvPr id="5" name="gate-0"/>
          <p:cNvSpPr/>
          <p:nvPr/>
        </p:nvSpPr>
        <p:spPr>
          <a:xfrm>
            <a:off x="1664208" y="3438145"/>
            <a:ext cx="1463040" cy="1024127"/>
          </a:xfrm>
          <a:prstGeom prst="round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6" name="gate-label-0"/>
          <p:cNvSpPr txBox="1"/>
          <p:nvPr/>
        </p:nvSpPr>
        <p:spPr>
          <a:xfrm>
            <a:off x="1664208" y="4590288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专家 0　核 3</a:t>
            </a:r>
          </a:p>
        </p:txBody>
      </p:sp>
      <p:sp>
        <p:nvSpPr>
          <p:cNvPr id="7" name="gate-value-0"/>
          <p:cNvSpPr txBox="1"/>
          <p:nvPr/>
        </p:nvSpPr>
        <p:spPr>
          <a:xfrm>
            <a:off x="1664208" y="3108961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0.350</a:t>
            </a:r>
          </a:p>
        </p:txBody>
      </p:sp>
      <p:sp>
        <p:nvSpPr>
          <p:cNvPr id="8" name="gate-1"/>
          <p:cNvSpPr/>
          <p:nvPr/>
        </p:nvSpPr>
        <p:spPr>
          <a:xfrm>
            <a:off x="3858768" y="3584448"/>
            <a:ext cx="1463040" cy="877824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9" name="gate-label-1"/>
          <p:cNvSpPr txBox="1"/>
          <p:nvPr/>
        </p:nvSpPr>
        <p:spPr>
          <a:xfrm>
            <a:off x="3858768" y="4590288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专家 1　核 5</a:t>
            </a:r>
          </a:p>
        </p:txBody>
      </p:sp>
      <p:sp>
        <p:nvSpPr>
          <p:cNvPr id="10" name="gate-value-1"/>
          <p:cNvSpPr txBox="1"/>
          <p:nvPr/>
        </p:nvSpPr>
        <p:spPr>
          <a:xfrm>
            <a:off x="3858768" y="325526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0.300</a:t>
            </a:r>
          </a:p>
        </p:txBody>
      </p:sp>
      <p:sp>
        <p:nvSpPr>
          <p:cNvPr id="11" name="gate-2"/>
          <p:cNvSpPr/>
          <p:nvPr/>
        </p:nvSpPr>
        <p:spPr>
          <a:xfrm>
            <a:off x="6053328" y="4425696"/>
            <a:ext cx="1463040" cy="36576"/>
          </a:xfrm>
          <a:prstGeom prst="roundRect">
            <a:avLst/>
          </a:prstGeom>
          <a:solidFill>
            <a:srgbClr val="1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2" name="gate-label-2"/>
          <p:cNvSpPr txBox="1"/>
          <p:nvPr/>
        </p:nvSpPr>
        <p:spPr>
          <a:xfrm>
            <a:off x="6053328" y="4590288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专家 2　核 7</a:t>
            </a:r>
          </a:p>
        </p:txBody>
      </p:sp>
      <p:sp>
        <p:nvSpPr>
          <p:cNvPr id="13" name="gate-value-2"/>
          <p:cNvSpPr txBox="1"/>
          <p:nvPr/>
        </p:nvSpPr>
        <p:spPr>
          <a:xfrm>
            <a:off x="6053328" y="409651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0">
                <a:solidFill>
                  <a:srgbClr val="D8DEE6"/>
                </a:solidFill>
                <a:latin typeface="Microsoft YaHei"/>
              </a:rPr>
              <a:t>—</a:t>
            </a:r>
          </a:p>
        </p:txBody>
      </p:sp>
      <p:sp>
        <p:nvSpPr>
          <p:cNvPr id="14" name="gate-3"/>
          <p:cNvSpPr/>
          <p:nvPr/>
        </p:nvSpPr>
        <p:spPr>
          <a:xfrm>
            <a:off x="8247888" y="4425696"/>
            <a:ext cx="1463040" cy="36576"/>
          </a:xfrm>
          <a:prstGeom prst="roundRect">
            <a:avLst/>
          </a:prstGeom>
          <a:solidFill>
            <a:srgbClr val="6C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5" name="gate-label-3"/>
          <p:cNvSpPr txBox="1"/>
          <p:nvPr/>
        </p:nvSpPr>
        <p:spPr>
          <a:xfrm>
            <a:off x="8247888" y="4590288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专家 3　核 9</a:t>
            </a:r>
          </a:p>
        </p:txBody>
      </p:sp>
      <p:sp>
        <p:nvSpPr>
          <p:cNvPr id="16" name="gate-value-3"/>
          <p:cNvSpPr txBox="1"/>
          <p:nvPr/>
        </p:nvSpPr>
        <p:spPr>
          <a:xfrm>
            <a:off x="8247888" y="409651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0">
                <a:solidFill>
                  <a:srgbClr val="D8DEE6"/>
                </a:solidFill>
                <a:latin typeface="Microsoft YaHei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53619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700" b="0">
                <a:solidFill>
                  <a:srgbClr val="1B1F24"/>
                </a:solidFill>
                <a:latin typeface="Microsoft YaHei"/>
              </a:rPr>
              <a:t>② 只留分数最高的 k 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08483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top-k 只是掩码：没进前 k 名的直接置零。这一步之后，权重加起来不再是 1。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4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第一章 · 上游代码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门控是怎么算出来的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第一章　YOLO-Master 讲透</a:t>
            </a:r>
            <a:r>
              <a:rPr sz="950">
                <a:solidFill>
                  <a:srgbClr val="667085"/>
                </a:solidFill>
                <a:latin typeface="Consolas"/>
              </a:rPr>
              <a:t>　·　24</a:t>
            </a:r>
          </a:p>
        </p:txBody>
      </p:sp>
      <p:sp>
        <p:nvSpPr>
          <p:cNvPr id="5" name="gate-0"/>
          <p:cNvSpPr/>
          <p:nvPr/>
        </p:nvSpPr>
        <p:spPr>
          <a:xfrm>
            <a:off x="1664208" y="2886691"/>
            <a:ext cx="1463040" cy="1575581"/>
          </a:xfrm>
          <a:prstGeom prst="round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6" name="gate-label-0"/>
          <p:cNvSpPr txBox="1"/>
          <p:nvPr/>
        </p:nvSpPr>
        <p:spPr>
          <a:xfrm>
            <a:off x="1664208" y="4590288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专家 0　核 3</a:t>
            </a:r>
          </a:p>
        </p:txBody>
      </p:sp>
      <p:sp>
        <p:nvSpPr>
          <p:cNvPr id="7" name="gate-value-0"/>
          <p:cNvSpPr txBox="1"/>
          <p:nvPr/>
        </p:nvSpPr>
        <p:spPr>
          <a:xfrm>
            <a:off x="1664208" y="2557507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0.538</a:t>
            </a:r>
          </a:p>
        </p:txBody>
      </p:sp>
      <p:sp>
        <p:nvSpPr>
          <p:cNvPr id="8" name="gate-1"/>
          <p:cNvSpPr/>
          <p:nvPr/>
        </p:nvSpPr>
        <p:spPr>
          <a:xfrm>
            <a:off x="3858768" y="3111774"/>
            <a:ext cx="1463040" cy="1350498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9" name="gate-label-1"/>
          <p:cNvSpPr txBox="1"/>
          <p:nvPr/>
        </p:nvSpPr>
        <p:spPr>
          <a:xfrm>
            <a:off x="3858768" y="4590288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专家 1　核 5</a:t>
            </a:r>
          </a:p>
        </p:txBody>
      </p:sp>
      <p:sp>
        <p:nvSpPr>
          <p:cNvPr id="10" name="gate-value-1"/>
          <p:cNvSpPr txBox="1"/>
          <p:nvPr/>
        </p:nvSpPr>
        <p:spPr>
          <a:xfrm>
            <a:off x="3858768" y="278259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0.462</a:t>
            </a:r>
          </a:p>
        </p:txBody>
      </p:sp>
      <p:sp>
        <p:nvSpPr>
          <p:cNvPr id="11" name="gate-2"/>
          <p:cNvSpPr/>
          <p:nvPr/>
        </p:nvSpPr>
        <p:spPr>
          <a:xfrm>
            <a:off x="6053328" y="4425696"/>
            <a:ext cx="1463040" cy="36576"/>
          </a:xfrm>
          <a:prstGeom prst="roundRect">
            <a:avLst/>
          </a:prstGeom>
          <a:solidFill>
            <a:srgbClr val="1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2" name="gate-label-2"/>
          <p:cNvSpPr txBox="1"/>
          <p:nvPr/>
        </p:nvSpPr>
        <p:spPr>
          <a:xfrm>
            <a:off x="6053328" y="4590288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专家 2　核 7</a:t>
            </a:r>
          </a:p>
        </p:txBody>
      </p:sp>
      <p:sp>
        <p:nvSpPr>
          <p:cNvPr id="13" name="gate-value-2"/>
          <p:cNvSpPr txBox="1"/>
          <p:nvPr/>
        </p:nvSpPr>
        <p:spPr>
          <a:xfrm>
            <a:off x="6053328" y="409651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0">
                <a:solidFill>
                  <a:srgbClr val="D8DEE6"/>
                </a:solidFill>
                <a:latin typeface="Microsoft YaHei"/>
              </a:rPr>
              <a:t>—</a:t>
            </a:r>
          </a:p>
        </p:txBody>
      </p:sp>
      <p:sp>
        <p:nvSpPr>
          <p:cNvPr id="14" name="gate-3"/>
          <p:cNvSpPr/>
          <p:nvPr/>
        </p:nvSpPr>
        <p:spPr>
          <a:xfrm>
            <a:off x="8247888" y="4425696"/>
            <a:ext cx="1463040" cy="36576"/>
          </a:xfrm>
          <a:prstGeom prst="roundRect">
            <a:avLst/>
          </a:prstGeom>
          <a:solidFill>
            <a:srgbClr val="6C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5" name="gate-label-3"/>
          <p:cNvSpPr txBox="1"/>
          <p:nvPr/>
        </p:nvSpPr>
        <p:spPr>
          <a:xfrm>
            <a:off x="8247888" y="4590288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专家 3　核 9</a:t>
            </a:r>
          </a:p>
        </p:txBody>
      </p:sp>
      <p:sp>
        <p:nvSpPr>
          <p:cNvPr id="16" name="gate-value-3"/>
          <p:cNvSpPr txBox="1"/>
          <p:nvPr/>
        </p:nvSpPr>
        <p:spPr>
          <a:xfrm>
            <a:off x="8247888" y="409651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 b="0">
                <a:solidFill>
                  <a:srgbClr val="D8DEE6"/>
                </a:solidFill>
                <a:latin typeface="Microsoft YaHei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53619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700" b="0">
                <a:solidFill>
                  <a:srgbClr val="1B1F24"/>
                </a:solidFill>
                <a:latin typeface="Microsoft YaHei"/>
              </a:rPr>
              <a:t>③ 把留下的重新归一化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08483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把剩下的两个数除以它们的和，权重重新加起来等于 1——这才是真正乘到专家输出上的数。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28523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1">
                <a:solidFill>
                  <a:srgbClr val="B3272D"/>
                </a:solidFill>
                <a:latin typeface="Microsoft YaHei"/>
              </a:rPr>
              <a:t>记住「重归一之后」这个时间点。</a:t>
            </a:r>
            <a:r>
              <a:rPr sz="1350" b="0">
                <a:solidFill>
                  <a:srgbClr val="1B1F24"/>
                </a:solidFill>
                <a:latin typeface="Microsoft YaHei"/>
              </a:rPr>
              <a:t>　第三章会看到：推理期的剪枝阈值到底拿哪一版权重去比，结果差一个数量级。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4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第一章 · 上游代码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同一个块，训练和推理走的不是一条路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第一章　YOLO-Master 讲透</a:t>
            </a:r>
            <a:r>
              <a:rPr sz="950">
                <a:solidFill>
                  <a:srgbClr val="667085"/>
                </a:solidFill>
                <a:latin typeface="Consolas"/>
              </a:rPr>
              <a:t>　·　25</a:t>
            </a:r>
          </a:p>
        </p:txBody>
      </p:sp>
      <p:sp>
        <p:nvSpPr>
          <p:cNvPr id="5" name="path-expert-0"/>
          <p:cNvSpPr/>
          <p:nvPr/>
        </p:nvSpPr>
        <p:spPr>
          <a:xfrm>
            <a:off x="1847088" y="2450592"/>
            <a:ext cx="1737360" cy="1097280"/>
          </a:xfrm>
          <a:prstGeom prst="round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专家 0</a:t>
            </a:r>
          </a:p>
        </p:txBody>
      </p:sp>
      <p:sp>
        <p:nvSpPr>
          <p:cNvPr id="6" name="path-weight-0"/>
          <p:cNvSpPr txBox="1"/>
          <p:nvPr/>
        </p:nvSpPr>
        <p:spPr>
          <a:xfrm>
            <a:off x="1847088" y="3675888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权重 0.538</a:t>
            </a:r>
          </a:p>
        </p:txBody>
      </p:sp>
      <p:sp>
        <p:nvSpPr>
          <p:cNvPr id="7" name="path-expert-1"/>
          <p:cNvSpPr/>
          <p:nvPr/>
        </p:nvSpPr>
        <p:spPr>
          <a:xfrm>
            <a:off x="4041648" y="2450592"/>
            <a:ext cx="1737360" cy="109728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专家 1</a:t>
            </a:r>
          </a:p>
        </p:txBody>
      </p:sp>
      <p:sp>
        <p:nvSpPr>
          <p:cNvPr id="8" name="path-weight-1"/>
          <p:cNvSpPr txBox="1"/>
          <p:nvPr/>
        </p:nvSpPr>
        <p:spPr>
          <a:xfrm>
            <a:off x="4041648" y="3675888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权重 0.462</a:t>
            </a:r>
          </a:p>
        </p:txBody>
      </p:sp>
      <p:sp>
        <p:nvSpPr>
          <p:cNvPr id="9" name="path-expert-2"/>
          <p:cNvSpPr/>
          <p:nvPr/>
        </p:nvSpPr>
        <p:spPr>
          <a:xfrm>
            <a:off x="6236208" y="2450592"/>
            <a:ext cx="1737360" cy="1097280"/>
          </a:xfrm>
          <a:prstGeom prst="roundRect">
            <a:avLst/>
          </a:prstGeom>
          <a:solidFill>
            <a:srgbClr val="1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专家 2</a:t>
            </a:r>
          </a:p>
        </p:txBody>
      </p:sp>
      <p:sp>
        <p:nvSpPr>
          <p:cNvPr id="10" name="path-weight-2"/>
          <p:cNvSpPr txBox="1"/>
          <p:nvPr/>
        </p:nvSpPr>
        <p:spPr>
          <a:xfrm>
            <a:off x="6236208" y="3675888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权重 0</a:t>
            </a:r>
          </a:p>
        </p:txBody>
      </p:sp>
      <p:sp>
        <p:nvSpPr>
          <p:cNvPr id="11" name="path-expert-3"/>
          <p:cNvSpPr/>
          <p:nvPr/>
        </p:nvSpPr>
        <p:spPr>
          <a:xfrm>
            <a:off x="8430768" y="2450592"/>
            <a:ext cx="1737360" cy="1097280"/>
          </a:xfrm>
          <a:prstGeom prst="roundRect">
            <a:avLst/>
          </a:prstGeom>
          <a:solidFill>
            <a:srgbClr val="6C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专家 3</a:t>
            </a:r>
          </a:p>
        </p:txBody>
      </p:sp>
      <p:sp>
        <p:nvSpPr>
          <p:cNvPr id="12" name="path-weight-3"/>
          <p:cNvSpPr txBox="1"/>
          <p:nvPr/>
        </p:nvSpPr>
        <p:spPr>
          <a:xfrm>
            <a:off x="8430768" y="3675888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权重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3619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700" b="0">
                <a:solidFill>
                  <a:srgbClr val="1B1F24"/>
                </a:solidFill>
                <a:latin typeface="Microsoft YaHei"/>
              </a:rPr>
              <a:t>训练：四个专家都算（dense）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37083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未被选中的专家权重是 0，但它照样跑一遍。为什么？它的 BatchNorm 统计量要继续更新——否则一旦被冷落，它就再也没机会以正常的姿态回到队伍里。代价是训练更慢。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19379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上游：modules.py:650-657（dense）与 :659-704（sparse）　　本包：esmoe/module.py 的 </a:t>
            </a:r>
            <a:r>
              <a:rPr sz="1150" b="0">
                <a:solidFill>
                  <a:srgbClr val="1B1F24"/>
                </a:solidFill>
                <a:latin typeface="Consolas"/>
              </a:rPr>
              <a:t>dense_training</a:t>
            </a:r>
            <a:r>
              <a:rPr sz="1200" b="0">
                <a:solidFill>
                  <a:srgbClr val="1B1F24"/>
                </a:solidFill>
                <a:latin typeface="Microsoft YaHei"/>
              </a:rPr>
              <a:t> 与 </a:t>
            </a:r>
            <a:r>
              <a:rPr sz="1150" b="0">
                <a:solidFill>
                  <a:srgbClr val="1B1F24"/>
                </a:solidFill>
                <a:latin typeface="Consolas"/>
              </a:rPr>
              <a:t>sparse_inference</a:t>
            </a:r>
            <a:r>
              <a:rPr sz="1200" b="0">
                <a:solidFill>
                  <a:srgbClr val="1B1F24"/>
                </a:solidFill>
                <a:latin typeface="Microsoft YaHei"/>
              </a:rPr>
              <a:t> 两个开关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第一章 · 上游代码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同一个块，训练和推理走的不是一条路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第一章　YOLO-Master 讲透</a:t>
            </a:r>
            <a:r>
              <a:rPr sz="950">
                <a:solidFill>
                  <a:srgbClr val="667085"/>
                </a:solidFill>
                <a:latin typeface="Consolas"/>
              </a:rPr>
              <a:t>　·　26</a:t>
            </a:r>
          </a:p>
        </p:txBody>
      </p:sp>
      <p:sp>
        <p:nvSpPr>
          <p:cNvPr id="5" name="path-expert-0"/>
          <p:cNvSpPr/>
          <p:nvPr/>
        </p:nvSpPr>
        <p:spPr>
          <a:xfrm>
            <a:off x="1847088" y="2450592"/>
            <a:ext cx="1737360" cy="1097280"/>
          </a:xfrm>
          <a:prstGeom prst="round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专家 0</a:t>
            </a:r>
          </a:p>
        </p:txBody>
      </p:sp>
      <p:sp>
        <p:nvSpPr>
          <p:cNvPr id="6" name="path-weight-0"/>
          <p:cNvSpPr txBox="1"/>
          <p:nvPr/>
        </p:nvSpPr>
        <p:spPr>
          <a:xfrm>
            <a:off x="1847088" y="3675888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权重 0.538</a:t>
            </a:r>
          </a:p>
        </p:txBody>
      </p:sp>
      <p:sp>
        <p:nvSpPr>
          <p:cNvPr id="7" name="path-expert-1"/>
          <p:cNvSpPr/>
          <p:nvPr/>
        </p:nvSpPr>
        <p:spPr>
          <a:xfrm>
            <a:off x="4041648" y="2450592"/>
            <a:ext cx="1737360" cy="109728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专家 1</a:t>
            </a:r>
          </a:p>
        </p:txBody>
      </p:sp>
      <p:sp>
        <p:nvSpPr>
          <p:cNvPr id="8" name="path-weight-1"/>
          <p:cNvSpPr txBox="1"/>
          <p:nvPr/>
        </p:nvSpPr>
        <p:spPr>
          <a:xfrm>
            <a:off x="4041648" y="3675888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权重 0.462</a:t>
            </a:r>
          </a:p>
        </p:txBody>
      </p:sp>
      <p:sp>
        <p:nvSpPr>
          <p:cNvPr id="9" name="path-expert-2"/>
          <p:cNvSpPr/>
          <p:nvPr/>
        </p:nvSpPr>
        <p:spPr>
          <a:xfrm>
            <a:off x="6236208" y="2450592"/>
            <a:ext cx="1737360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300" b="1">
                <a:solidFill>
                  <a:srgbClr val="D8DEE6"/>
                </a:solidFill>
                <a:latin typeface="Microsoft YaHei"/>
              </a:rPr>
              <a:t>专家 2</a:t>
            </a:r>
          </a:p>
        </p:txBody>
      </p:sp>
      <p:sp>
        <p:nvSpPr>
          <p:cNvPr id="10" name="path-weight-2"/>
          <p:cNvSpPr txBox="1"/>
          <p:nvPr/>
        </p:nvSpPr>
        <p:spPr>
          <a:xfrm>
            <a:off x="6236208" y="3675888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D8DEE6"/>
                </a:solidFill>
                <a:latin typeface="Microsoft YaHei"/>
              </a:rPr>
              <a:t>权重 0</a:t>
            </a:r>
          </a:p>
        </p:txBody>
      </p:sp>
      <p:sp>
        <p:nvSpPr>
          <p:cNvPr id="11" name="path-expert-3"/>
          <p:cNvSpPr/>
          <p:nvPr/>
        </p:nvSpPr>
        <p:spPr>
          <a:xfrm>
            <a:off x="8430768" y="2450592"/>
            <a:ext cx="1737360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300" b="1">
                <a:solidFill>
                  <a:srgbClr val="D8DEE6"/>
                </a:solidFill>
                <a:latin typeface="Microsoft YaHei"/>
              </a:rPr>
              <a:t>专家 3</a:t>
            </a:r>
          </a:p>
        </p:txBody>
      </p:sp>
      <p:sp>
        <p:nvSpPr>
          <p:cNvPr id="12" name="path-weight-3"/>
          <p:cNvSpPr txBox="1"/>
          <p:nvPr/>
        </p:nvSpPr>
        <p:spPr>
          <a:xfrm>
            <a:off x="8430768" y="3675888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D8DEE6"/>
                </a:solidFill>
                <a:latin typeface="Microsoft YaHei"/>
              </a:rPr>
              <a:t>权重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3619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700" b="0">
                <a:solidFill>
                  <a:srgbClr val="1B1F24"/>
                </a:solidFill>
                <a:latin typeface="Microsoft YaHei"/>
              </a:rPr>
              <a:t>推理：只算被选中的（sparse）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37083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推理既不需要梯度也不更新统计量，于是直接跳过权重为 0 的专家，省下的就是 MoE 宣称的那部分算力。判据是 </a:t>
            </a:r>
            <a:r>
              <a:rPr sz="1350" b="0">
                <a:solidFill>
                  <a:srgbClr val="1B1F24"/>
                </a:solidFill>
                <a:latin typeface="Consolas"/>
              </a:rPr>
              <a:t>_eager_sparse_enabled()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：只有 top-k 真的漏掉了专家，才走这条路。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19379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上游：modules.py:650-657（dense）与 :659-704（sparse）　　本包：esmoe/module.py 的 </a:t>
            </a:r>
            <a:r>
              <a:rPr sz="1150" b="0">
                <a:solidFill>
                  <a:srgbClr val="1B1F24"/>
                </a:solidFill>
                <a:latin typeface="Consolas"/>
              </a:rPr>
              <a:t>dense_training</a:t>
            </a:r>
            <a:r>
              <a:rPr sz="1200" b="0">
                <a:solidFill>
                  <a:srgbClr val="1B1F24"/>
                </a:solidFill>
                <a:latin typeface="Microsoft YaHei"/>
              </a:rPr>
              <a:t> 与 </a:t>
            </a:r>
            <a:r>
              <a:rPr sz="1150" b="0">
                <a:solidFill>
                  <a:srgbClr val="1B1F24"/>
                </a:solidFill>
                <a:latin typeface="Consolas"/>
              </a:rPr>
              <a:t>sparse_inference</a:t>
            </a:r>
            <a:r>
              <a:rPr sz="1200" b="0">
                <a:solidFill>
                  <a:srgbClr val="1B1F24"/>
                </a:solidFill>
                <a:latin typeface="Microsoft YaHei"/>
              </a:rPr>
              <a:t> 两个开关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4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第一章 · 上游代码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推理期还要再剪一刀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第一章　YOLO-Master 讲透</a:t>
            </a:r>
            <a:r>
              <a:rPr sz="950">
                <a:solidFill>
                  <a:srgbClr val="667085"/>
                </a:solidFill>
                <a:latin typeface="Consolas"/>
              </a:rPr>
              <a:t>　·　27</a:t>
            </a:r>
          </a:p>
        </p:txBody>
      </p:sp>
      <p:pic>
        <p:nvPicPr>
          <p:cNvPr id="5" name="Picture 4" descr="prune-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687" y="1536192"/>
            <a:ext cx="7132320" cy="36619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335343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上游默认 </a:t>
            </a:r>
            <a:r>
              <a:rPr sz="1350" b="0">
                <a:solidFill>
                  <a:srgbClr val="1B1F24"/>
                </a:solidFill>
                <a:latin typeface="Consolas"/>
              </a:rPr>
              <a:t>dynamic_threshold=0.4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：推理时，份额低于 0.4 的专家丢掉，首位无条件保留，剩下的再归一一次。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1">
                <a:solidFill>
                  <a:srgbClr val="B3272D"/>
                </a:solidFill>
                <a:latin typeface="Microsoft YaHei"/>
              </a:rPr>
              <a:t>这一刀比的是「重归一之后的份额」。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　我们第一版读成了重归一之前的原始概率——第三章讲这个缺陷怎么被发现、怎么修。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第一章 · 上游代码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平衡项是怎么进到反向传播里的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第一章　YOLO-Master 讲透</a:t>
            </a:r>
            <a:r>
              <a:rPr sz="950">
                <a:solidFill>
                  <a:srgbClr val="667085"/>
                </a:solidFill>
                <a:latin typeface="Consolas"/>
              </a:rPr>
              <a:t>　·　28</a:t>
            </a:r>
          </a:p>
        </p:txBody>
      </p:sp>
      <p:sp>
        <p:nvSpPr>
          <p:cNvPr id="5" name="aux-step-0"/>
          <p:cNvSpPr/>
          <p:nvPr/>
        </p:nvSpPr>
        <p:spPr>
          <a:xfrm>
            <a:off x="566928" y="2633472"/>
            <a:ext cx="2523744" cy="100584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300" b="1">
                <a:solidFill>
                  <a:srgbClr val="1B1F24"/>
                </a:solidFill>
                <a:latin typeface="Microsoft YaHei"/>
              </a:rPr>
              <a:t>块交出平衡项</a:t>
            </a:r>
          </a:p>
        </p:txBody>
      </p:sp>
      <p:sp>
        <p:nvSpPr>
          <p:cNvPr id="6" name="aux-note-0"/>
          <p:cNvSpPr txBox="1"/>
          <p:nvPr/>
        </p:nvSpPr>
        <p:spPr>
          <a:xfrm>
            <a:off x="566928" y="3785616"/>
            <a:ext cx="252374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每个块前向时算一个标量：门控离均匀有多远</a:t>
            </a:r>
          </a:p>
        </p:txBody>
      </p:sp>
      <p:sp>
        <p:nvSpPr>
          <p:cNvPr id="7" name="aux-step-1"/>
          <p:cNvSpPr/>
          <p:nvPr/>
        </p:nvSpPr>
        <p:spPr>
          <a:xfrm>
            <a:off x="3364992" y="2633472"/>
            <a:ext cx="2523744" cy="1005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300" b="1">
                <a:solidFill>
                  <a:srgbClr val="D8DEE6"/>
                </a:solidFill>
                <a:latin typeface="Microsoft YaHei"/>
              </a:rPr>
              <a:t>除以自身幅值的 EMA</a:t>
            </a:r>
          </a:p>
        </p:txBody>
      </p:sp>
      <p:sp>
        <p:nvSpPr>
          <p:cNvPr id="8" name="aux-note-1"/>
          <p:cNvSpPr txBox="1"/>
          <p:nvPr/>
        </p:nvSpPr>
        <p:spPr>
          <a:xfrm>
            <a:off x="3364992" y="3785616"/>
            <a:ext cx="252374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</a:rPr>
              <a:t>decay 0.99、夹在 1e-4 ~ 1e4、初值 1.0，让这一项与任务损失量级可比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90672" y="3136392"/>
            <a:ext cx="274320" cy="0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aux-step-2"/>
          <p:cNvSpPr/>
          <p:nvPr/>
        </p:nvSpPr>
        <p:spPr>
          <a:xfrm>
            <a:off x="6163056" y="2633472"/>
            <a:ext cx="2523744" cy="1005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300" b="1">
                <a:solidFill>
                  <a:srgbClr val="D8DEE6"/>
                </a:solidFill>
                <a:latin typeface="Microsoft YaHei"/>
              </a:rPr>
              <a:t>按 budget 封顶</a:t>
            </a:r>
          </a:p>
        </p:txBody>
      </p:sp>
      <p:sp>
        <p:nvSpPr>
          <p:cNvPr id="11" name="aux-note-2"/>
          <p:cNvSpPr txBox="1"/>
          <p:nvPr/>
        </p:nvSpPr>
        <p:spPr>
          <a:xfrm>
            <a:off x="6163056" y="3785616"/>
            <a:ext cx="252374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</a:rPr>
              <a:t>总量超过 3.0 就按比例缩回去；缩放系数 detach，不给它第二条梯度路径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88736" y="3136392"/>
            <a:ext cx="274320" cy="0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aux-step-3"/>
          <p:cNvSpPr/>
          <p:nvPr/>
        </p:nvSpPr>
        <p:spPr>
          <a:xfrm>
            <a:off x="8961120" y="2633472"/>
            <a:ext cx="2523744" cy="1005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300" b="1">
                <a:solidFill>
                  <a:srgbClr val="D8DEE6"/>
                </a:solidFill>
                <a:latin typeface="Microsoft YaHei"/>
              </a:rPr>
              <a:t>加进三项损失</a:t>
            </a:r>
          </a:p>
        </p:txBody>
      </p:sp>
      <p:sp>
        <p:nvSpPr>
          <p:cNvPr id="14" name="aux-note-3"/>
          <p:cNvSpPr txBox="1"/>
          <p:nvPr/>
        </p:nvSpPr>
        <p:spPr>
          <a:xfrm>
            <a:off x="8961120" y="3785616"/>
            <a:ext cx="252374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</a:rPr>
              <a:t>box / cls / dfl 各加一次，且不随 batch 放大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86800" y="3136392"/>
            <a:ext cx="274320" cy="0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153619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700" b="0">
                <a:solidFill>
                  <a:srgbClr val="1B1F24"/>
                </a:solidFill>
                <a:latin typeface="Microsoft YaHei"/>
              </a:rPr>
              <a:t>第 1 步 · 块交出平衡项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91947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块自己只负责算这个标量，怎么用它是外面的事——这也是本包能把「用法」做成可替换配方的原因。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83387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上游：nn/mixture_loss.py:69-75（常数）、:214-241（EMA）、:300-353（归一与封顶）、:376-434（加进损失）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第一章 · 上游代码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平衡项是怎么进到反向传播里的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第一章　YOLO-Master 讲透</a:t>
            </a:r>
            <a:r>
              <a:rPr sz="950">
                <a:solidFill>
                  <a:srgbClr val="667085"/>
                </a:solidFill>
                <a:latin typeface="Consolas"/>
              </a:rPr>
              <a:t>　·　29</a:t>
            </a:r>
          </a:p>
        </p:txBody>
      </p:sp>
      <p:sp>
        <p:nvSpPr>
          <p:cNvPr id="5" name="aux-step-0"/>
          <p:cNvSpPr/>
          <p:nvPr/>
        </p:nvSpPr>
        <p:spPr>
          <a:xfrm>
            <a:off x="566928" y="2633472"/>
            <a:ext cx="2523744" cy="100584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300" b="1">
                <a:solidFill>
                  <a:srgbClr val="1B1F24"/>
                </a:solidFill>
                <a:latin typeface="Microsoft YaHei"/>
              </a:rPr>
              <a:t>块交出平衡项</a:t>
            </a:r>
          </a:p>
        </p:txBody>
      </p:sp>
      <p:sp>
        <p:nvSpPr>
          <p:cNvPr id="6" name="aux-note-0"/>
          <p:cNvSpPr txBox="1"/>
          <p:nvPr/>
        </p:nvSpPr>
        <p:spPr>
          <a:xfrm>
            <a:off x="566928" y="3785616"/>
            <a:ext cx="252374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每个块前向时算一个标量：门控离均匀有多远</a:t>
            </a:r>
          </a:p>
        </p:txBody>
      </p:sp>
      <p:sp>
        <p:nvSpPr>
          <p:cNvPr id="7" name="aux-step-1"/>
          <p:cNvSpPr/>
          <p:nvPr/>
        </p:nvSpPr>
        <p:spPr>
          <a:xfrm>
            <a:off x="3364992" y="2633472"/>
            <a:ext cx="2523744" cy="100584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300" b="1">
                <a:solidFill>
                  <a:srgbClr val="1B1F24"/>
                </a:solidFill>
                <a:latin typeface="Microsoft YaHei"/>
              </a:rPr>
              <a:t>除以自身幅值的 EMA</a:t>
            </a:r>
          </a:p>
        </p:txBody>
      </p:sp>
      <p:sp>
        <p:nvSpPr>
          <p:cNvPr id="8" name="aux-note-1"/>
          <p:cNvSpPr txBox="1"/>
          <p:nvPr/>
        </p:nvSpPr>
        <p:spPr>
          <a:xfrm>
            <a:off x="3364992" y="3785616"/>
            <a:ext cx="252374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decay 0.99、夹在 1e-4 ~ 1e4、初值 1.0，让这一项与任务损失量级可比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90672" y="3136392"/>
            <a:ext cx="274320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aux-step-2"/>
          <p:cNvSpPr/>
          <p:nvPr/>
        </p:nvSpPr>
        <p:spPr>
          <a:xfrm>
            <a:off x="6163056" y="2633472"/>
            <a:ext cx="2523744" cy="1005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300" b="1">
                <a:solidFill>
                  <a:srgbClr val="D8DEE6"/>
                </a:solidFill>
                <a:latin typeface="Microsoft YaHei"/>
              </a:rPr>
              <a:t>按 budget 封顶</a:t>
            </a:r>
          </a:p>
        </p:txBody>
      </p:sp>
      <p:sp>
        <p:nvSpPr>
          <p:cNvPr id="11" name="aux-note-2"/>
          <p:cNvSpPr txBox="1"/>
          <p:nvPr/>
        </p:nvSpPr>
        <p:spPr>
          <a:xfrm>
            <a:off x="6163056" y="3785616"/>
            <a:ext cx="252374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</a:rPr>
              <a:t>总量超过 3.0 就按比例缩回去；缩放系数 detach，不给它第二条梯度路径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88736" y="3136392"/>
            <a:ext cx="274320" cy="0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aux-step-3"/>
          <p:cNvSpPr/>
          <p:nvPr/>
        </p:nvSpPr>
        <p:spPr>
          <a:xfrm>
            <a:off x="8961120" y="2633472"/>
            <a:ext cx="2523744" cy="1005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300" b="1">
                <a:solidFill>
                  <a:srgbClr val="D8DEE6"/>
                </a:solidFill>
                <a:latin typeface="Microsoft YaHei"/>
              </a:rPr>
              <a:t>加进三项损失</a:t>
            </a:r>
          </a:p>
        </p:txBody>
      </p:sp>
      <p:sp>
        <p:nvSpPr>
          <p:cNvPr id="14" name="aux-note-3"/>
          <p:cNvSpPr txBox="1"/>
          <p:nvPr/>
        </p:nvSpPr>
        <p:spPr>
          <a:xfrm>
            <a:off x="8961120" y="3785616"/>
            <a:ext cx="252374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</a:rPr>
              <a:t>box / cls / dfl 各加一次，且不随 batch 放大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86800" y="3136392"/>
            <a:ext cx="274320" cy="0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153619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700" b="0">
                <a:solidFill>
                  <a:srgbClr val="1B1F24"/>
                </a:solidFill>
                <a:latin typeface="Microsoft YaHei"/>
              </a:rPr>
              <a:t>第 2 步 · 除以自身幅值的 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91947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为什么除以自己的滑动平均？平衡项的绝对大小没有意义，重要的是它相对自己在变大还是变小。归一之后量级稳定在 1 附近，与 box / cls / dfl 可比。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83387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上游：nn/mixture_loss.py:69-75（常数）、:214-241（EMA）、:300-353（归一与封顶）、:376-434（加进损失）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4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第一章 · 上游代码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平衡项是怎么进到反向传播里的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第一章　YOLO-Master 讲透</a:t>
            </a:r>
            <a:r>
              <a:rPr sz="950">
                <a:solidFill>
                  <a:srgbClr val="667085"/>
                </a:solidFill>
                <a:latin typeface="Consolas"/>
              </a:rPr>
              <a:t>　·　30</a:t>
            </a:r>
          </a:p>
        </p:txBody>
      </p:sp>
      <p:sp>
        <p:nvSpPr>
          <p:cNvPr id="5" name="aux-step-0"/>
          <p:cNvSpPr/>
          <p:nvPr/>
        </p:nvSpPr>
        <p:spPr>
          <a:xfrm>
            <a:off x="566928" y="2633472"/>
            <a:ext cx="2523744" cy="100584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300" b="1">
                <a:solidFill>
                  <a:srgbClr val="1B1F24"/>
                </a:solidFill>
                <a:latin typeface="Microsoft YaHei"/>
              </a:rPr>
              <a:t>块交出平衡项</a:t>
            </a:r>
          </a:p>
        </p:txBody>
      </p:sp>
      <p:sp>
        <p:nvSpPr>
          <p:cNvPr id="6" name="aux-note-0"/>
          <p:cNvSpPr txBox="1"/>
          <p:nvPr/>
        </p:nvSpPr>
        <p:spPr>
          <a:xfrm>
            <a:off x="566928" y="3785616"/>
            <a:ext cx="252374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每个块前向时算一个标量：门控离均匀有多远</a:t>
            </a:r>
          </a:p>
        </p:txBody>
      </p:sp>
      <p:sp>
        <p:nvSpPr>
          <p:cNvPr id="7" name="aux-step-1"/>
          <p:cNvSpPr/>
          <p:nvPr/>
        </p:nvSpPr>
        <p:spPr>
          <a:xfrm>
            <a:off x="3364992" y="2633472"/>
            <a:ext cx="2523744" cy="100584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300" b="1">
                <a:solidFill>
                  <a:srgbClr val="1B1F24"/>
                </a:solidFill>
                <a:latin typeface="Microsoft YaHei"/>
              </a:rPr>
              <a:t>除以自身幅值的 EMA</a:t>
            </a:r>
          </a:p>
        </p:txBody>
      </p:sp>
      <p:sp>
        <p:nvSpPr>
          <p:cNvPr id="8" name="aux-note-1"/>
          <p:cNvSpPr txBox="1"/>
          <p:nvPr/>
        </p:nvSpPr>
        <p:spPr>
          <a:xfrm>
            <a:off x="3364992" y="3785616"/>
            <a:ext cx="252374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decay 0.99、夹在 1e-4 ~ 1e4、初值 1.0，让这一项与任务损失量级可比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90672" y="3136392"/>
            <a:ext cx="274320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aux-step-2"/>
          <p:cNvSpPr/>
          <p:nvPr/>
        </p:nvSpPr>
        <p:spPr>
          <a:xfrm>
            <a:off x="6163056" y="2633472"/>
            <a:ext cx="2523744" cy="100584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300" b="1">
                <a:solidFill>
                  <a:srgbClr val="1B1F24"/>
                </a:solidFill>
                <a:latin typeface="Microsoft YaHei"/>
              </a:rPr>
              <a:t>按 budget 封顶</a:t>
            </a:r>
          </a:p>
        </p:txBody>
      </p:sp>
      <p:sp>
        <p:nvSpPr>
          <p:cNvPr id="11" name="aux-note-2"/>
          <p:cNvSpPr txBox="1"/>
          <p:nvPr/>
        </p:nvSpPr>
        <p:spPr>
          <a:xfrm>
            <a:off x="6163056" y="3785616"/>
            <a:ext cx="252374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总量超过 3.0 就按比例缩回去；缩放系数 detach，不给它第二条梯度路径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88736" y="3136392"/>
            <a:ext cx="274320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aux-step-3"/>
          <p:cNvSpPr/>
          <p:nvPr/>
        </p:nvSpPr>
        <p:spPr>
          <a:xfrm>
            <a:off x="8961120" y="2633472"/>
            <a:ext cx="2523744" cy="1005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300" b="1">
                <a:solidFill>
                  <a:srgbClr val="D8DEE6"/>
                </a:solidFill>
                <a:latin typeface="Microsoft YaHei"/>
              </a:rPr>
              <a:t>加进三项损失</a:t>
            </a:r>
          </a:p>
        </p:txBody>
      </p:sp>
      <p:sp>
        <p:nvSpPr>
          <p:cNvPr id="14" name="aux-note-3"/>
          <p:cNvSpPr txBox="1"/>
          <p:nvPr/>
        </p:nvSpPr>
        <p:spPr>
          <a:xfrm>
            <a:off x="8961120" y="3785616"/>
            <a:ext cx="252374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FFFFFF"/>
                </a:solidFill>
                <a:latin typeface="Microsoft YaHei"/>
              </a:rPr>
              <a:t>box / cls / dfl 各加一次，且不随 batch 放大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86800" y="3136392"/>
            <a:ext cx="274320" cy="0"/>
          </a:xfrm>
          <a:prstGeom prst="line">
            <a:avLst/>
          </a:prstGeom>
          <a:ln w="1778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153619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700" b="0">
                <a:solidFill>
                  <a:srgbClr val="1B1F24"/>
                </a:solidFill>
                <a:latin typeface="Microsoft YaHei"/>
              </a:rPr>
              <a:t>第 3 步 · 按 budget 封顶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91947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封顶是给意外留的：路由一旦异常，平衡项可能暴涨，封顶让它最多贡献 3.0。缩放系数 detach，所以模型不会反过来「把平衡项做大」去买一个更小的缩放。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83387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上游：nn/mixture_loss.py:69-75（常数）、:214-241（EMA）、:300-353（归一与封顶）、:376-434（加进损失）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4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第一章 · 上游代码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平衡项是怎么进到反向传播里的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第一章　YOLO-Master 讲透</a:t>
            </a:r>
            <a:r>
              <a:rPr sz="950">
                <a:solidFill>
                  <a:srgbClr val="667085"/>
                </a:solidFill>
                <a:latin typeface="Consolas"/>
              </a:rPr>
              <a:t>　·　31</a:t>
            </a:r>
          </a:p>
        </p:txBody>
      </p:sp>
      <p:sp>
        <p:nvSpPr>
          <p:cNvPr id="5" name="aux-step-0"/>
          <p:cNvSpPr/>
          <p:nvPr/>
        </p:nvSpPr>
        <p:spPr>
          <a:xfrm>
            <a:off x="566928" y="2633472"/>
            <a:ext cx="2523744" cy="100584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300" b="1">
                <a:solidFill>
                  <a:srgbClr val="1B1F24"/>
                </a:solidFill>
                <a:latin typeface="Microsoft YaHei"/>
              </a:rPr>
              <a:t>块交出平衡项</a:t>
            </a:r>
          </a:p>
        </p:txBody>
      </p:sp>
      <p:sp>
        <p:nvSpPr>
          <p:cNvPr id="6" name="aux-note-0"/>
          <p:cNvSpPr txBox="1"/>
          <p:nvPr/>
        </p:nvSpPr>
        <p:spPr>
          <a:xfrm>
            <a:off x="566928" y="3785616"/>
            <a:ext cx="252374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每个块前向时算一个标量：门控离均匀有多远</a:t>
            </a:r>
          </a:p>
        </p:txBody>
      </p:sp>
      <p:sp>
        <p:nvSpPr>
          <p:cNvPr id="7" name="aux-step-1"/>
          <p:cNvSpPr/>
          <p:nvPr/>
        </p:nvSpPr>
        <p:spPr>
          <a:xfrm>
            <a:off x="3364992" y="2633472"/>
            <a:ext cx="2523744" cy="100584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300" b="1">
                <a:solidFill>
                  <a:srgbClr val="1B1F24"/>
                </a:solidFill>
                <a:latin typeface="Microsoft YaHei"/>
              </a:rPr>
              <a:t>除以自身幅值的 EMA</a:t>
            </a:r>
          </a:p>
        </p:txBody>
      </p:sp>
      <p:sp>
        <p:nvSpPr>
          <p:cNvPr id="8" name="aux-note-1"/>
          <p:cNvSpPr txBox="1"/>
          <p:nvPr/>
        </p:nvSpPr>
        <p:spPr>
          <a:xfrm>
            <a:off x="3364992" y="3785616"/>
            <a:ext cx="252374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decay 0.99、夹在 1e-4 ~ 1e4、初值 1.0，让这一项与任务损失量级可比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90672" y="3136392"/>
            <a:ext cx="274320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aux-step-2"/>
          <p:cNvSpPr/>
          <p:nvPr/>
        </p:nvSpPr>
        <p:spPr>
          <a:xfrm>
            <a:off x="6163056" y="2633472"/>
            <a:ext cx="2523744" cy="100584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300" b="1">
                <a:solidFill>
                  <a:srgbClr val="1B1F24"/>
                </a:solidFill>
                <a:latin typeface="Microsoft YaHei"/>
              </a:rPr>
              <a:t>按 budget 封顶</a:t>
            </a:r>
          </a:p>
        </p:txBody>
      </p:sp>
      <p:sp>
        <p:nvSpPr>
          <p:cNvPr id="11" name="aux-note-2"/>
          <p:cNvSpPr txBox="1"/>
          <p:nvPr/>
        </p:nvSpPr>
        <p:spPr>
          <a:xfrm>
            <a:off x="6163056" y="3785616"/>
            <a:ext cx="252374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总量超过 3.0 就按比例缩回去；缩放系数 detach，不给它第二条梯度路径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88736" y="3136392"/>
            <a:ext cx="274320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aux-step-3"/>
          <p:cNvSpPr/>
          <p:nvPr/>
        </p:nvSpPr>
        <p:spPr>
          <a:xfrm>
            <a:off x="8961120" y="2633472"/>
            <a:ext cx="2523744" cy="100584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300" b="1">
                <a:solidFill>
                  <a:srgbClr val="1B1F24"/>
                </a:solidFill>
                <a:latin typeface="Microsoft YaHei"/>
              </a:rPr>
              <a:t>加进三项损失</a:t>
            </a:r>
          </a:p>
        </p:txBody>
      </p:sp>
      <p:sp>
        <p:nvSpPr>
          <p:cNvPr id="14" name="aux-note-3"/>
          <p:cNvSpPr txBox="1"/>
          <p:nvPr/>
        </p:nvSpPr>
        <p:spPr>
          <a:xfrm>
            <a:off x="8961120" y="3785616"/>
            <a:ext cx="252374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50" b="0">
                <a:solidFill>
                  <a:srgbClr val="667085"/>
                </a:solidFill>
                <a:latin typeface="Microsoft YaHei"/>
              </a:rPr>
              <a:t>box / cls / dfl 各加一次，且不随 batch 放大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86800" y="3136392"/>
            <a:ext cx="274320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153619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700" b="0">
                <a:solidFill>
                  <a:srgbClr val="1B1F24"/>
                </a:solidFill>
                <a:latin typeface="Microsoft YaHei"/>
              </a:rPr>
              <a:t>第 4 步 · 加进三项损失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91947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最后一步最容易看错：原生损失是三元向量再乘 batch，</a:t>
            </a:r>
            <a:r>
              <a:rPr sz="1350" b="0">
                <a:solidFill>
                  <a:srgbClr val="1B1F24"/>
                </a:solidFill>
                <a:latin typeface="Consolas"/>
              </a:rPr>
              <a:t>total = native + aux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 是广播，辅助损失实际进了三次，且不随 batch 放大。本包的 upstream 配方复刻的就是这一整条链。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83387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上游：nn/mixture_loss.py:69-75（常数）、:214-241（EMA）、:300-353（归一与封顶）、:376-434（加进损失）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4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第一章 · 上游代码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训练器对「带路由的模型」多做三件事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第一章　YOLO-Master 讲透</a:t>
            </a:r>
            <a:r>
              <a:rPr sz="950">
                <a:solidFill>
                  <a:srgbClr val="667085"/>
                </a:solidFill>
                <a:latin typeface="Consolas"/>
              </a:rPr>
              <a:t>　·　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3551834" cy="182880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路由器单独一组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学习率减半（×0.5）
按名字在 Muon 之前分流，
路由器权重永远不进 Muon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930" y="1536192"/>
            <a:ext cx="3551834" cy="182880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专家预热三轮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前 3 个 epoch 冻住全部专家参数，只让路由器与其余部分先学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72932" y="1536192"/>
            <a:ext cx="3551834" cy="182880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辅助损失按块汇总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多个块的平衡项先求和，再走上一页那四步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82219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为什么路由器要慢一点？路由是离散选择，学得太快会在早期就把某几个专家定死。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为什么专家要等三轮？让路由器先在一个尚未分化的专家集合上把打分学稳，再放开专家自己长。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0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上游：engine/trainer.py:1584-1700（分组）、engine/extensions/mixture.py:324-334（预热）。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本包把这三件事实现成一个配方，逐步数值对上游源码写了断言（tests/test_recipe.py）。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第一章 · 上游代码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训练器还对「所有模型」多做两件事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第一章　YOLO-Master 讲透</a:t>
            </a:r>
            <a:r>
              <a:rPr sz="950">
                <a:solidFill>
                  <a:srgbClr val="667085"/>
                </a:solidFill>
                <a:latin typeface="Consolas"/>
              </a:rPr>
              <a:t>　·　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3619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1">
                <a:solidFill>
                  <a:srgbClr val="B3272D"/>
                </a:solidFill>
                <a:latin typeface="Microsoft YaHei"/>
              </a:rPr>
              <a:t>其一：每个 epoch 的最后一个 batch 强制更新一次。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0">
                <a:solidFill>
                  <a:srgbClr val="1B1F24"/>
                </a:solidFill>
                <a:latin typeface="Microsoft YaHei"/>
              </a:rPr>
              <a:t>官方按累积步数决定何时更新，分支在 epoch 末尾补一步。影响很小，但两边的参数轨迹从第 1 轮末尾就开始分叉。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1">
                <a:solidFill>
                  <a:srgbClr val="B3272D"/>
                </a:solidFill>
                <a:latin typeface="Microsoft YaHei"/>
              </a:rPr>
              <a:t>其二：梯度一出现非有限值，就从上一个健康检查点恢复、重跑该 epoch，并永久关闭混合精度。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0">
                <a:solidFill>
                  <a:srgbClr val="1B1F24"/>
                </a:solidFill>
                <a:latin typeface="Microsoft YaHei"/>
              </a:rPr>
              <a:t>混合精度下 GradScaler 的常规溢出也算「非有限」，所以这条在正常训练里就会触发；关掉之后不打印警告，</a:t>
            </a:r>
            <a:r>
              <a:rPr sz="1400" b="0">
                <a:solidFill>
                  <a:srgbClr val="1B1F24"/>
                </a:solidFill>
                <a:latin typeface="Consolas"/>
              </a:rPr>
              <a:t>args.amp</a:t>
            </a:r>
            <a:r>
              <a:rPr sz="1450" b="0">
                <a:solidFill>
                  <a:srgbClr val="1B1F24"/>
                </a:solidFill>
                <a:latin typeface="Microsoft YaHei"/>
              </a:rPr>
              <a:t> 仍然是 true，训练记录里也看不出来。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4096512"/>
          <a:ext cx="10241277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5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6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7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6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6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第七轮三张卡上的实测（每臂三个 seed）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请求的 amp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训练结束时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重跑轮数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每条运行卡时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上游分支 · 四块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10.75 h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上游分支 · 去块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false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6.98 h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官方 + 本包 · 四块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4.67 h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官方 · 去块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true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4.29 h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587959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同一张卡、同一个模型，混合精度被关掉之后训练时间翻倍——这既是成本，也是第四章里 A−B 那条比较的混杂项。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第一章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上游的设计取舍，一页看完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第一章　YOLO-Master 讲透</a:t>
            </a:r>
            <a:r>
              <a:rPr sz="950">
                <a:solidFill>
                  <a:srgbClr val="667085"/>
                </a:solidFill>
                <a:latin typeface="Consolas"/>
              </a:rPr>
              <a:t>　·　34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36192"/>
          <a:ext cx="10972799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1F24"/>
                          </a:solidFill>
                          <a:latin typeface="Microsoft YaHei"/>
                        </a:rPr>
                        <a:t>它选了什么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1F24"/>
                          </a:solidFill>
                          <a:latin typeface="Microsoft YaHei"/>
                        </a:rPr>
                        <a:t>怎么实现的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1F24"/>
                          </a:solidFill>
                          <a:latin typeface="Microsoft YaHei"/>
                        </a:rPr>
                        <a:t>代价 / 副作用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异构专家（核 3/5/7/9）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四个深度可分离卷积，对同一份输入各算一遍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参数与算力随专家数线性涨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稀疏路由 top-2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softmax → 掩码 → 重归一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训练期仍然跑满，省算力只发生在推理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平衡项读门控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GShard 式 N·Σu²，归一封顶后并入总损失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没进 top-k 的专家梯度恒为零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辅助损失 EMA 归一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除以自身幅值的滑动平均，总量封顶 3.0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量级稳定，但与「原始权重」不再直接可比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块只放主干、共四个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每个 stage 之后一个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论文自己的消融显示放更多会掉点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训练器兜底恢复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非有限梯度即回滚重跑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会永久关掉混合精度，且不作声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18795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这一章到此为止都是「他们做了什么」。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下一章讲题面：把这样一个块，做成任何人都能 pip 装上、且不用 fork 的插件，难在哪里。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377440"/>
            <a:ext cx="1105783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0">
                <a:solidFill>
                  <a:srgbClr val="1F8A80"/>
                </a:solidFill>
                <a:latin typeface="Microsoft YaHei"/>
              </a:rPr>
              <a:t>第二章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88920"/>
            <a:ext cx="11057839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800" b="0">
                <a:solidFill>
                  <a:srgbClr val="1B1F24"/>
                </a:solidFill>
                <a:latin typeface="Microsoft YaHei"/>
              </a:rPr>
              <a:t>E1 的题面，与我们的思考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931920"/>
            <a:ext cx="8229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450" b="0">
                <a:solidFill>
                  <a:srgbClr val="667085"/>
                </a:solidFill>
                <a:latin typeface="Microsoft YaHei"/>
              </a:rPr>
              <a:t>任务书要的是什么，我们判断难点在哪里，以及为什么一开始就把「怎么判断自己错了」写下来。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第二章 · 题面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任务书怎么说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第二章　E1 的题面，与我们的思考</a:t>
            </a:r>
            <a:r>
              <a:rPr sz="950">
                <a:solidFill>
                  <a:srgbClr val="667085"/>
                </a:solidFill>
                <a:latin typeface="Consolas"/>
              </a:rPr>
              <a:t>　·　36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10972800" cy="118872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600" b="0">
                <a:solidFill>
                  <a:srgbClr val="1B1F24"/>
                </a:solidFill>
                <a:latin typeface="Microsoft YaHei"/>
              </a:rPr>
              <a:t>把社区常见的单 seed「涨点模块」升级为官方、可安装、预算公平、能正确接入辅助损失的插件与教程。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09067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0">
                <a:solidFill>
                  <a:srgbClr val="1B1F24"/>
                </a:solidFill>
                <a:latin typeface="Microsoft YaHei"/>
              </a:rPr>
              <a:t>这句话里有四个词是硬要求，缺一个就不算做到：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1">
                <a:solidFill>
                  <a:srgbClr val="B3272D"/>
                </a:solidFill>
                <a:latin typeface="Microsoft YaHei"/>
              </a:rPr>
              <a:t>官方</a:t>
            </a:r>
            <a:r>
              <a:rPr sz="1450" b="0">
                <a:solidFill>
                  <a:srgbClr val="1B1F24"/>
                </a:solidFill>
                <a:latin typeface="Microsoft YaHei"/>
              </a:rPr>
              <a:t>　—— 装在官方 Ultralytics 上，不能让用户去用某个 fork；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1">
                <a:solidFill>
                  <a:srgbClr val="B3272D"/>
                </a:solidFill>
                <a:latin typeface="Microsoft YaHei"/>
              </a:rPr>
              <a:t>可安装</a:t>
            </a:r>
            <a:r>
              <a:rPr sz="1450" b="0">
                <a:solidFill>
                  <a:srgbClr val="1B1F24"/>
                </a:solidFill>
                <a:latin typeface="Microsoft YaHei"/>
              </a:rPr>
              <a:t>　—— pip 装得上，不是「把这几个文件拷进你的仓库」；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1">
                <a:solidFill>
                  <a:srgbClr val="B3272D"/>
                </a:solidFill>
                <a:latin typeface="Microsoft YaHei"/>
              </a:rPr>
              <a:t>预算公平</a:t>
            </a:r>
            <a:r>
              <a:rPr sz="1450" b="0">
                <a:solidFill>
                  <a:srgbClr val="1B1F24"/>
                </a:solidFill>
                <a:latin typeface="Microsoft YaHei"/>
              </a:rPr>
              <a:t>　—— 开关两臂的数据、轮数、增广、评测口径必须一样，而且要多 seed；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1">
                <a:solidFill>
                  <a:srgbClr val="B3272D"/>
                </a:solidFill>
                <a:latin typeface="Microsoft YaHei"/>
              </a:rPr>
              <a:t>辅助损失正确接入</a:t>
            </a:r>
            <a:r>
              <a:rPr sz="1450" b="0">
                <a:solidFill>
                  <a:srgbClr val="1B1F24"/>
                </a:solidFill>
                <a:latin typeface="Microsoft YaHei"/>
              </a:rPr>
              <a:t>　—— 平衡项要真的进反向传播，而不是只在日志里打印一个数。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第二章 · 题面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P0 / P1 / P2 三档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第二章　E1 的题面，与我们的思考</a:t>
            </a:r>
            <a:r>
              <a:rPr sz="950">
                <a:solidFill>
                  <a:srgbClr val="667085"/>
                </a:solidFill>
                <a:latin typeface="Consolas"/>
              </a:rPr>
              <a:t>　·　37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36192"/>
          <a:ext cx="10972799" cy="1350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档位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任务书原文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我们交了什么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P0 保底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在统一预算下复核候选 ES-MoE 模块并选型，保留多 seed 证据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docs/SELECTION.md；142 条满协议运行，配对 seed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P1 预期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完成 pip / 仓库插件化接入，兼容至少三代 Ultralytics 主干并提供 README 与 Colab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PyPI esmoe；七代主干；README + Colab 快速上手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P2 理想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 err="1">
                          <a:solidFill>
                            <a:srgbClr val="667085"/>
                          </a:solidFill>
                          <a:latin typeface="Microsoft YaHei"/>
                        </a:rPr>
                        <a:t>正式发布、产出中英文教程并根据首轮社区反馈迭代</a:t>
                      </a:r>
                      <a:endParaRPr sz="1250" b="0" dirty="0">
                        <a:solidFill>
                          <a:srgbClr val="667085"/>
                        </a:solidFill>
                        <a:latin typeface="Microsoft YaHei"/>
                      </a:endParaRP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dirty="0">
                          <a:solidFill>
                            <a:srgbClr val="667085"/>
                          </a:solidFill>
                          <a:latin typeface="Microsoft YaHei"/>
                        </a:rPr>
                        <a:t>1.0.0 </a:t>
                      </a:r>
                      <a:r>
                        <a:rPr sz="1250" b="0" dirty="0" err="1">
                          <a:solidFill>
                            <a:srgbClr val="667085"/>
                          </a:solidFill>
                          <a:latin typeface="Microsoft YaHei"/>
                        </a:rPr>
                        <a:t>已发布；文档站九页双语；反馈逐条对应写在发布说明</a:t>
                      </a:r>
                      <a:endParaRPr sz="1250" b="0" dirty="0">
                        <a:solidFill>
                          <a:srgbClr val="667085"/>
                        </a:solidFill>
                        <a:latin typeface="Microsoft YaHei"/>
                      </a:endParaRP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327355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另有一条准入检查（8.24）：在一个外部 YOLO 主干完成最小接入、aux loss 有非零日志、API 草案通过评审。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0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交付物与验收证据：插件包、兼容矩阵、多 seed 消融、README / Colab、发布说明。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风险与降级：算力不足就缩到两代 + 单主干；插件化超期就交仓库内独立模块与完整教程。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0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1">
                <a:solidFill>
                  <a:srgbClr val="B3272D"/>
                </a:solidFill>
                <a:latin typeface="Microsoft YaHei"/>
              </a:rPr>
              <a:t>我们没有用降级方案。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　七代主干、142 条满协议运行、包已发布。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第二章 · 我们的思考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我们判断的三道坎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第二章　E1 的题面，与我们的思考</a:t>
            </a:r>
            <a:r>
              <a:rPr sz="950">
                <a:solidFill>
                  <a:srgbClr val="667085"/>
                </a:solidFill>
                <a:latin typeface="Consolas"/>
              </a:rPr>
              <a:t>　·　38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3551834" cy="201168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坎一 · 怎么不改框架就把块塞进去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官方模型从 yaml 拼出，第三方模块要能被 parse_model 找到；插一层还会打乱层号引用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930" y="1536192"/>
            <a:ext cx="3551834" cy="201168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坎二 · 辅助损失怎么真的进反向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把一个数打进日志很容易；让它进 backward，要接管损失函数，还要在多卡子进程里也接上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72932" y="1536192"/>
            <a:ext cx="3551834" cy="201168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坎三 · 设置怎么活到训练那一刻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训练器会照 yaml 重建模型，任何设在实例上的开关都会随那个被丢弃的实例一起消失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00507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这三条不是事后总结，是开工时写在设计文档里的。第三章逐条讲我们怎么过的，以及第三条我们其实先踩了一次坑。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第二章 · 我们的思考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方法论：先写判读线，再跑实验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第二章　E1 的题面，与我们的思考</a:t>
            </a:r>
            <a:r>
              <a:rPr sz="950">
                <a:solidFill>
                  <a:srgbClr val="667085"/>
                </a:solidFill>
                <a:latin typeface="Consolas"/>
              </a:rPr>
              <a:t>　·　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3619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500" b="0">
                <a:solidFill>
                  <a:srgbClr val="1B1F24"/>
                </a:solidFill>
                <a:latin typeface="Microsoft YaHei"/>
              </a:rPr>
              <a:t>每一轮实验开跑前，先提交一页「判读线」：这一轮要回答什么、判据是什么、我预测结果是什么、预测错了怎么算。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500" b="0">
                <a:solidFill>
                  <a:srgbClr val="1B1F24"/>
                </a:solidFill>
                <a:latin typeface="Microsoft YaHei"/>
              </a:rPr>
              <a:t>以 git 提交时间为证，先于任何结果。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450592"/>
            <a:ext cx="3551834" cy="137160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有效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配对差均值超过噪声底，且多数 seed 同号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9930" y="2450592"/>
            <a:ext cx="3551834" cy="137160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无效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均值为负或接近零，区间跨零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72932" y="2450592"/>
            <a:ext cx="3551834" cy="137160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证据不足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样本量或离散度不支持任何一边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18795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为什么要这样做？因为一轮实验跑完，总能找到某个切片说自己赢了。事先写死判据，就没有事后挑切片的空间。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0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八轮判读线全部公开在文档站，</a:t>
            </a:r>
            <a:r>
              <a:rPr sz="1400" b="1">
                <a:solidFill>
                  <a:srgbClr val="B3272D"/>
                </a:solidFill>
                <a:latin typeface="Microsoft YaHei"/>
              </a:rPr>
              <a:t>docs/JUDGMENT.md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，包括被自家数据推翻的预测。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第二章 · 我们的思考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方法论：先把噪声底量出来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第二章　E1 的题面，与我们的思考</a:t>
            </a:r>
            <a:r>
              <a:rPr sz="950">
                <a:solidFill>
                  <a:srgbClr val="667085"/>
                </a:solidFill>
                <a:latin typeface="Consolas"/>
              </a:rPr>
              <a:t>　·　40</a:t>
            </a:r>
          </a:p>
        </p:txBody>
      </p:sp>
      <p:pic>
        <p:nvPicPr>
          <p:cNvPr id="5" name="Picture 4" descr="noise-fl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247" y="1536192"/>
            <a:ext cx="7315200" cy="3273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494677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同一个配置、同一个 seed、同一张卡，跑两遍，mAP50 会差多少？——混合精度下平均 0.0045、最大 0.0130；全程 FP32 下平均 0.0038、最大 0.0103。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1">
                <a:solidFill>
                  <a:srgbClr val="B3272D"/>
                </a:solidFill>
                <a:latin typeface="Microsoft YaHei"/>
              </a:rPr>
              <a:t>这就是所有效应的分母。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　比它小的差别，我们只写方向，不写幅度；大于它的才谈得上「有效」。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这几对重复运行不是特意安排的：是一次误标把同一条臂跑了两遍，发现后没有丢掉，而是当尺子用。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第二章 · 我们的思考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方法论：预测错了，照实登记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第二章　E1 的题面，与我们的思考</a:t>
            </a:r>
            <a:r>
              <a:rPr sz="950">
                <a:solidFill>
                  <a:srgbClr val="667085"/>
                </a:solidFill>
                <a:latin typeface="Consolas"/>
              </a:rPr>
              <a:t>　·　41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36192"/>
          <a:ext cx="10972799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1F24"/>
                          </a:solidFill>
                          <a:latin typeface="Microsoft YaHei"/>
                        </a:rPr>
                        <a:t>原来的判断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1F24"/>
                          </a:solidFill>
                          <a:latin typeface="Microsoft YaHei"/>
                        </a:rPr>
                        <a:t>被什么推翻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Microsoft YaHei"/>
                        </a:rPr>
                        <a:t>增益随训练变长而衰减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Microsoft YaHei"/>
                        </a:rPr>
                        <a:t>100 epoch 的 +0.0046 高于 20 / 50 epoch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Microsoft YaHei"/>
                        </a:rPr>
                        <a:t>效应不跨主干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Microsoft YaHei"/>
                        </a:rPr>
                        <a:t>协议预算下 11n 的默认臂翻正达线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Microsoft YaHei"/>
                        </a:rPr>
                        <a:t>效应随主干代际单调衰减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Microsoft YaHei"/>
                        </a:rPr>
                        <a:t>七代凑齐后 v10n（−0.0002）低于 11n（+0.0013）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Microsoft YaHei"/>
                        </a:rPr>
                        <a:t>四块布局在任何配方下都不涨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Microsoft YaHei"/>
                        </a:rPr>
                        <a:t>第七轮：换上游那一整套配方后，四块在两个框架里都判有效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354787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表里这几条都留在判读线页上，原文没有删。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0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一个附带的好处：</a:t>
            </a:r>
            <a:r>
              <a:rPr sz="1400" b="1">
                <a:solidFill>
                  <a:srgbClr val="B3272D"/>
                </a:solidFill>
                <a:latin typeface="Microsoft YaHei"/>
              </a:rPr>
              <a:t>每次更正都逼出一条更细的结论。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　比如最后一条，把「四块不行」修正成「在本包默认配方下不行」。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0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题面与方法讲完了。下一章进代码：三个入口怎么过那三道坎，块里每一段在防什么，以及每一处对应上游或论文的哪一行。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377440"/>
            <a:ext cx="1105783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0">
                <a:solidFill>
                  <a:srgbClr val="1F8A80"/>
                </a:solidFill>
                <a:latin typeface="Microsoft YaHei"/>
              </a:rPr>
              <a:t>第三章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88920"/>
            <a:ext cx="11057839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800" b="0">
                <a:solidFill>
                  <a:srgbClr val="1B1F24"/>
                </a:solidFill>
                <a:latin typeface="Microsoft YaHei"/>
              </a:rPr>
              <a:t>我们的包：逐处讲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931920"/>
            <a:ext cx="8229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450" b="0">
                <a:solidFill>
                  <a:srgbClr val="667085"/>
                </a:solidFill>
                <a:latin typeface="Microsoft YaHei"/>
              </a:rPr>
              <a:t>三个入口怎么工作、块的每一段代码在防什么、五个小巧思分别解决了什么，</a:t>
            </a:r>
          </a:p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450" b="0">
                <a:solidFill>
                  <a:srgbClr val="667085"/>
                </a:solidFill>
                <a:latin typeface="Microsoft YaHei"/>
              </a:rPr>
              <a:t>以及每一处对应上游或论文的哪一行。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第三章 · 怎么用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三行代码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第三章　我们的包：逐处讲</a:t>
            </a:r>
            <a:r>
              <a:rPr sz="950">
                <a:solidFill>
                  <a:srgbClr val="667085"/>
                </a:solidFill>
                <a:latin typeface="Consolas"/>
              </a:rPr>
              <a:t>　·　43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6400800" cy="1918823"/>
          </a:xfrm>
          <a:prstGeom prst="roundRect">
            <a:avLst>
              <a:gd name="adj" fmla="val 6931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92" dirty="0">
                <a:solidFill>
                  <a:srgbClr val="1B1F24"/>
                </a:solidFill>
                <a:latin typeface="Consolas"/>
              </a:rPr>
              <a:t>pip install </a:t>
            </a:r>
            <a:r>
              <a:rPr sz="1392" dirty="0" err="1">
                <a:solidFill>
                  <a:srgbClr val="1B1F24"/>
                </a:solidFill>
                <a:latin typeface="Consolas"/>
              </a:rPr>
              <a:t>esmoe</a:t>
            </a:r>
            <a:endParaRPr sz="1392" dirty="0">
              <a:solidFill>
                <a:srgbClr val="1B1F24"/>
              </a:solidFill>
              <a:latin typeface="Consolas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endParaRPr sz="1392" dirty="0">
              <a:solidFill>
                <a:srgbClr val="1B1F24"/>
              </a:solidFill>
              <a:latin typeface="Consolas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92" dirty="0">
                <a:solidFill>
                  <a:srgbClr val="1B1F24"/>
                </a:solidFill>
                <a:latin typeface="Consolas"/>
              </a:rPr>
              <a:t>import </a:t>
            </a:r>
            <a:r>
              <a:rPr sz="1392" dirty="0" err="1">
                <a:solidFill>
                  <a:srgbClr val="1B1F24"/>
                </a:solidFill>
                <a:latin typeface="Consolas"/>
              </a:rPr>
              <a:t>esmoe</a:t>
            </a:r>
            <a:endParaRPr sz="1392" dirty="0">
              <a:solidFill>
                <a:srgbClr val="1B1F24"/>
              </a:solidFill>
              <a:latin typeface="Consolas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endParaRPr sz="1392" dirty="0">
              <a:solidFill>
                <a:srgbClr val="1B1F24"/>
              </a:solidFill>
              <a:latin typeface="Consolas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92" dirty="0">
                <a:solidFill>
                  <a:srgbClr val="1B1F24"/>
                </a:solidFill>
                <a:latin typeface="Consolas"/>
              </a:rPr>
              <a:t>model = </a:t>
            </a:r>
            <a:r>
              <a:rPr sz="1392" dirty="0" err="1">
                <a:solidFill>
                  <a:srgbClr val="1B1F24"/>
                </a:solidFill>
                <a:latin typeface="Consolas"/>
              </a:rPr>
              <a:t>esmoe.equip</a:t>
            </a:r>
            <a:r>
              <a:rPr sz="1392" dirty="0">
                <a:solidFill>
                  <a:srgbClr val="1B1F24"/>
                </a:solidFill>
                <a:latin typeface="Consolas"/>
              </a:rPr>
              <a:t>("yolo11n.yaml", weight=0.01)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92" dirty="0" err="1">
                <a:solidFill>
                  <a:srgbClr val="1B1F24"/>
                </a:solidFill>
                <a:latin typeface="Consolas"/>
              </a:rPr>
              <a:t>model.train</a:t>
            </a:r>
            <a:r>
              <a:rPr sz="1392" dirty="0">
                <a:solidFill>
                  <a:srgbClr val="1B1F24"/>
                </a:solidFill>
                <a:latin typeface="Consolas"/>
              </a:rPr>
              <a:t>(data="</a:t>
            </a:r>
            <a:r>
              <a:rPr sz="1392" dirty="0" err="1">
                <a:solidFill>
                  <a:srgbClr val="1B1F24"/>
                </a:solidFill>
                <a:latin typeface="Consolas"/>
              </a:rPr>
              <a:t>visdrone.yaml</a:t>
            </a:r>
            <a:r>
              <a:rPr sz="1392" dirty="0">
                <a:solidFill>
                  <a:srgbClr val="1B1F24"/>
                </a:solidFill>
                <a:latin typeface="Consolas"/>
              </a:rPr>
              <a:t>", epochs=120, </a:t>
            </a:r>
            <a:r>
              <a:rPr sz="1392" dirty="0" err="1">
                <a:solidFill>
                  <a:srgbClr val="1B1F24"/>
                </a:solidFill>
                <a:latin typeface="Consolas"/>
              </a:rPr>
              <a:t>imgsz</a:t>
            </a:r>
            <a:r>
              <a:rPr sz="1392" dirty="0">
                <a:solidFill>
                  <a:srgbClr val="1B1F24"/>
                </a:solidFill>
                <a:latin typeface="Consolas"/>
              </a:rPr>
              <a:t>=800)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528167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官方 Ultralytics，不装 fork；块、层号、辅助损失、训练器子类都在 equip 里接好了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3488" y="1536192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00" b="0">
                <a:solidFill>
                  <a:srgbClr val="1B1F24"/>
                </a:solidFill>
                <a:latin typeface="Consolas"/>
              </a:rPr>
              <a:t>equip</a:t>
            </a:r>
            <a:r>
              <a:rPr sz="1350" b="0">
                <a:solidFill>
                  <a:srgbClr val="1B1F24"/>
                </a:solidFill>
                <a:latin typeface="Microsoft YaHei"/>
              </a:rPr>
              <a:t> 一次调用做完四步：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3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① </a:t>
            </a:r>
            <a:r>
              <a:rPr sz="1300" b="0">
                <a:solidFill>
                  <a:srgbClr val="1B1F24"/>
                </a:solidFill>
                <a:latin typeface="Consolas"/>
              </a:rPr>
              <a:t>inject_esmoe()</a:t>
            </a:r>
            <a:r>
              <a:rPr sz="1350" b="0">
                <a:solidFill>
                  <a:srgbClr val="1B1F24"/>
                </a:solidFill>
                <a:latin typeface="Microsoft YaHei"/>
              </a:rPr>
              <a:t> 注册块名；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② </a:t>
            </a:r>
            <a:r>
              <a:rPr sz="1300" b="0">
                <a:solidFill>
                  <a:srgbClr val="1B1F24"/>
                </a:solidFill>
                <a:latin typeface="Consolas"/>
              </a:rPr>
              <a:t>graft()</a:t>
            </a:r>
            <a:r>
              <a:rPr sz="1350" b="0">
                <a:solidFill>
                  <a:srgbClr val="1B1F24"/>
                </a:solidFill>
                <a:latin typeface="Microsoft YaHei"/>
              </a:rPr>
              <a:t> 插块、修层号，写出新 yaml；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③ 按新 yaml 建出模型；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④ </a:t>
            </a:r>
            <a:r>
              <a:rPr sz="1300" b="0">
                <a:solidFill>
                  <a:srgbClr val="1B1F24"/>
                </a:solidFill>
                <a:latin typeface="Consolas"/>
              </a:rPr>
              <a:t>attach_aux_loss()</a:t>
            </a:r>
            <a:r>
              <a:rPr sz="1350" b="0">
                <a:solidFill>
                  <a:srgbClr val="1B1F24"/>
                </a:solidFill>
                <a:latin typeface="Microsoft YaHei"/>
              </a:rPr>
              <a:t> 接上平衡项与包内训练器。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包内训练器让 DDP 子进程一导入就自动装回。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3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想分步做的，三个入口都单独导出，后面逐个讲。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第三章 · 地图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包里有什么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第三章　我们的包：逐处讲</a:t>
            </a:r>
            <a:r>
              <a:rPr sz="950">
                <a:solidFill>
                  <a:srgbClr val="667085"/>
                </a:solidFill>
                <a:latin typeface="Consolas"/>
              </a:rPr>
              <a:t>　·　44</a:t>
            </a:r>
          </a:p>
        </p:txBody>
      </p:sp>
      <p:pic>
        <p:nvPicPr>
          <p:cNvPr id="5" name="Picture 4" descr="package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1536192"/>
            <a:ext cx="8778240" cy="37161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435176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依赖方向是单向的：块不知道训练器的存在，训练器也不关心块里怎么算——这让块可以单独拿去用，也让配方可以替换。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第三章 · 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入口一：注册一个名字就够了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第三章　我们的包：逐处讲</a:t>
            </a:r>
            <a:r>
              <a:rPr sz="950">
                <a:solidFill>
                  <a:srgbClr val="667085"/>
                </a:solidFill>
                <a:latin typeface="Consolas"/>
              </a:rPr>
              <a:t>　·　45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6583680" cy="1297940"/>
          </a:xfrm>
          <a:prstGeom prst="roundRect">
            <a:avLst>
              <a:gd name="adj" fmla="val 12122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dirty="0">
                <a:solidFill>
                  <a:srgbClr val="1B1F24"/>
                </a:solidFill>
                <a:latin typeface="Consolas"/>
              </a:rPr>
              <a:t>def </a:t>
            </a:r>
            <a:r>
              <a:rPr sz="1300" dirty="0" err="1">
                <a:solidFill>
                  <a:srgbClr val="1B1F24"/>
                </a:solidFill>
                <a:latin typeface="Consolas"/>
              </a:rPr>
              <a:t>inject_esmoe</a:t>
            </a:r>
            <a:r>
              <a:rPr sz="1300" dirty="0">
                <a:solidFill>
                  <a:srgbClr val="1B1F24"/>
                </a:solidFill>
                <a:latin typeface="Consolas"/>
              </a:rPr>
              <a:t>():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dirty="0">
                <a:solidFill>
                  <a:srgbClr val="1B1F24"/>
                </a:solidFill>
                <a:latin typeface="Consolas"/>
              </a:rPr>
              <a:t>    import </a:t>
            </a:r>
            <a:r>
              <a:rPr sz="1300" dirty="0" err="1">
                <a:solidFill>
                  <a:srgbClr val="1B1F24"/>
                </a:solidFill>
                <a:latin typeface="Consolas"/>
              </a:rPr>
              <a:t>ultralytics.nn.tasks</a:t>
            </a:r>
            <a:r>
              <a:rPr sz="1300" dirty="0">
                <a:solidFill>
                  <a:srgbClr val="1B1F24"/>
                </a:solidFill>
                <a:latin typeface="Consolas"/>
              </a:rPr>
              <a:t> as tasks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dirty="0">
                <a:solidFill>
                  <a:srgbClr val="B3272D"/>
                </a:solidFill>
                <a:latin typeface="Consolas"/>
              </a:rPr>
              <a:t>▸   </a:t>
            </a:r>
            <a:r>
              <a:rPr sz="1300" dirty="0" err="1">
                <a:solidFill>
                  <a:srgbClr val="B3272D"/>
                </a:solidFill>
                <a:latin typeface="Consolas"/>
              </a:rPr>
              <a:t>tasks.ESMoE</a:t>
            </a:r>
            <a:r>
              <a:rPr sz="1300" dirty="0">
                <a:solidFill>
                  <a:srgbClr val="B3272D"/>
                </a:solidFill>
                <a:latin typeface="Consolas"/>
              </a:rPr>
              <a:t> = </a:t>
            </a:r>
            <a:r>
              <a:rPr sz="1300" dirty="0" err="1">
                <a:solidFill>
                  <a:srgbClr val="B3272D"/>
                </a:solidFill>
                <a:latin typeface="Consolas"/>
              </a:rPr>
              <a:t>ESMoE</a:t>
            </a:r>
            <a:endParaRPr sz="1300" dirty="0">
              <a:solidFill>
                <a:srgbClr val="B3272D"/>
              </a:solidFill>
              <a:latin typeface="Consolas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dirty="0">
                <a:solidFill>
                  <a:srgbClr val="1B1F24"/>
                </a:solidFill>
                <a:latin typeface="Consolas"/>
              </a:rPr>
              <a:t>    return </a:t>
            </a:r>
            <a:r>
              <a:rPr sz="1300" dirty="0" err="1">
                <a:solidFill>
                  <a:srgbClr val="1B1F24"/>
                </a:solidFill>
                <a:latin typeface="Consolas"/>
              </a:rPr>
              <a:t>ESMoE</a:t>
            </a:r>
            <a:endParaRPr sz="1300" dirty="0">
              <a:solidFill>
                <a:srgbClr val="1B1F24"/>
              </a:solidFill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2907284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esmoe/inject.py:22-28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16752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>
                <a:solidFill>
                  <a:srgbClr val="667085"/>
                </a:solidFill>
                <a:latin typeface="Microsoft YaHei"/>
              </a:rPr>
              <a:t>本包 </a:t>
            </a:r>
            <a:r>
              <a:rPr sz="1050">
                <a:solidFill>
                  <a:srgbClr val="1B1F24"/>
                </a:solidFill>
                <a:latin typeface="Consolas"/>
              </a:rPr>
              <a:t>esmoe/inject.py:22-28</a:t>
            </a:r>
            <a:r>
              <a:rPr sz="1050">
                <a:solidFill>
                  <a:srgbClr val="D8DEE6"/>
                </a:solidFill>
                <a:latin typeface="Microsoft YaHei"/>
              </a:rPr>
              <a:t>　　</a:t>
            </a:r>
            <a:r>
              <a:rPr sz="1050">
                <a:solidFill>
                  <a:srgbClr val="667085"/>
                </a:solidFill>
                <a:latin typeface="Microsoft YaHei"/>
              </a:rPr>
              <a:t>对应上游 </a:t>
            </a:r>
            <a:r>
              <a:rPr sz="1050">
                <a:solidFill>
                  <a:srgbClr val="1B1F24"/>
                </a:solidFill>
                <a:latin typeface="Consolas"/>
              </a:rPr>
              <a:t>它直接改 tasks.py 的模块表</a:t>
            </a:r>
            <a:r>
              <a:rPr sz="1050">
                <a:solidFill>
                  <a:srgbClr val="D8DEE6"/>
                </a:solidFill>
                <a:latin typeface="Microsoft YaHei"/>
              </a:rPr>
              <a:t>　　</a:t>
            </a:r>
            <a:r>
              <a:rPr sz="1050">
                <a:solidFill>
                  <a:srgbClr val="667085"/>
                </a:solidFill>
                <a:latin typeface="Microsoft YaHei"/>
              </a:rPr>
              <a:t>官方机制 </a:t>
            </a:r>
            <a:r>
              <a:rPr sz="1050">
                <a:solidFill>
                  <a:srgbClr val="1B1F24"/>
                </a:solidFill>
                <a:latin typeface="Consolas"/>
              </a:rPr>
              <a:t>nn/tasks.py parse_model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16368" y="1536192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为什么这三行就够？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3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因为官方的 </a:t>
            </a:r>
            <a:r>
              <a:rPr sz="1300" b="0">
                <a:solidFill>
                  <a:srgbClr val="1B1F24"/>
                </a:solidFill>
                <a:latin typeface="Consolas"/>
              </a:rPr>
              <a:t>parse_model</a:t>
            </a:r>
            <a:r>
              <a:rPr sz="1350" b="0">
                <a:solidFill>
                  <a:srgbClr val="1B1F24"/>
                </a:solidFill>
                <a:latin typeface="Microsoft YaHei"/>
              </a:rPr>
              <a:t> 在解析 yaml 时，是按模块名在 </a:t>
            </a:r>
            <a:r>
              <a:rPr sz="1300" b="0">
                <a:solidFill>
                  <a:srgbClr val="1B1F24"/>
                </a:solidFill>
                <a:latin typeface="Consolas"/>
              </a:rPr>
              <a:t>ultralytics.nn.tasks</a:t>
            </a:r>
            <a:r>
              <a:rPr sz="1350" b="0">
                <a:solidFill>
                  <a:srgbClr val="1B1F24"/>
                </a:solidFill>
                <a:latin typeface="Microsoft YaHei"/>
              </a:rPr>
              <a:t> 的命名空间里查的。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名字放进去，</a:t>
            </a:r>
            <a:r>
              <a:rPr sz="1300" b="0">
                <a:solidFill>
                  <a:srgbClr val="1B1F24"/>
                </a:solidFill>
                <a:latin typeface="Consolas"/>
              </a:rPr>
              <a:t>[-1, 1, ESMoE, [4, 2]]</a:t>
            </a:r>
            <a:r>
              <a:rPr sz="1350" b="0">
                <a:solidFill>
                  <a:srgbClr val="1B1F24"/>
                </a:solidFill>
                <a:latin typeface="Microsoft YaHei"/>
              </a:rPr>
              <a:t> 这一行就能建出块来——不打补丁、不改框架源码。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3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代价是一个约定：</a:t>
            </a:r>
            <a:r>
              <a:rPr sz="1350" b="1">
                <a:solidFill>
                  <a:srgbClr val="B3272D"/>
                </a:solidFill>
                <a:latin typeface="Microsoft YaHei"/>
              </a:rPr>
              <a:t>块必须能只靠 yaml 里的参数把自己建起来。</a:t>
            </a:r>
            <a:r>
              <a:rPr sz="1350" b="0">
                <a:solidFill>
                  <a:srgbClr val="1B1F24"/>
                </a:solidFill>
                <a:latin typeface="Microsoft YaHei"/>
              </a:rPr>
              <a:t>　yaml 里通道数留空，由建模型时那次试探前向推断；在 Python 里直接构造可以传 </a:t>
            </a:r>
            <a:r>
              <a:rPr sz="1300" b="0">
                <a:solidFill>
                  <a:srgbClr val="1B1F24"/>
                </a:solidFill>
                <a:latin typeface="Consolas"/>
              </a:rPr>
              <a:t>channels</a:t>
            </a:r>
            <a:r>
              <a:rPr sz="1350" b="0">
                <a:solidFill>
                  <a:srgbClr val="1B1F24"/>
                </a:solidFill>
                <a:latin typeface="Microsoft YaHei"/>
              </a:rPr>
              <a:t>，当场建好。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第三章 · 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入口二：插一层，然后把层号全部修回去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第三章　我们的包：逐处讲</a:t>
            </a:r>
            <a:r>
              <a:rPr sz="950">
                <a:solidFill>
                  <a:srgbClr val="667085"/>
                </a:solidFill>
                <a:latin typeface="Consolas"/>
              </a:rPr>
              <a:t>　·　46</a:t>
            </a:r>
          </a:p>
        </p:txBody>
      </p:sp>
      <p:pic>
        <p:nvPicPr>
          <p:cNvPr id="5" name="Picture 4" descr="graft-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1536192"/>
            <a:ext cx="8778240" cy="24497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464515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Consolas"/>
              </a:rPr>
              <a:t>graft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 读官方 yaml，插入块，再把 backbone 与 head 里所有绝对层号按位移重写一遍（</a:t>
            </a:r>
            <a:r>
              <a:rPr sz="1350" b="0">
                <a:solidFill>
                  <a:srgbClr val="1B1F24"/>
                </a:solidFill>
                <a:latin typeface="Consolas"/>
              </a:rPr>
              <a:t>_shift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）。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0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1">
                <a:solidFill>
                  <a:srgbClr val="B3272D"/>
                </a:solidFill>
                <a:latin typeface="Microsoft YaHei"/>
              </a:rPr>
              <a:t>rewire=True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 多做一步：把「原本读块前那一层」的引用改成读块的输出。两条臂参数量完全相同，差别只有一根线——</a:t>
            </a:r>
            <a:r>
              <a:rPr sz="1400" b="1">
                <a:solidFill>
                  <a:srgbClr val="B3272D"/>
                </a:solidFill>
                <a:latin typeface="Microsoft YaHei"/>
              </a:rPr>
              <a:t>这是纯接线对照。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第三章 · 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小巧思 ① 改宽的块，借官方的 Index 层落地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第三章　我们的包：逐处讲</a:t>
            </a:r>
            <a:r>
              <a:rPr sz="950">
                <a:solidFill>
                  <a:srgbClr val="667085"/>
                </a:solidFill>
                <a:latin typeface="Consolas"/>
              </a:rPr>
              <a:t>　·　47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6766560" cy="1553845"/>
          </a:xfrm>
          <a:prstGeom prst="roundRect">
            <a:avLst>
              <a:gd name="adj" fmla="val 11605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1B1F24"/>
                </a:solidFill>
                <a:latin typeface="Consolas"/>
              </a:rPr>
              <a:t># graft(out_channels=N) 时多写一层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B3272D"/>
                </a:solidFill>
                <a:latin typeface="Consolas"/>
              </a:rPr>
              <a:t>▸ layers.append([-1, 1, "Index", [int(out_channels), 0]])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endParaRPr sz="1300">
              <a:solidFill>
                <a:srgbClr val="B3272D"/>
              </a:solidFill>
              <a:latin typeface="Consolas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1B1F24"/>
                </a:solidFill>
                <a:latin typeface="Consolas"/>
              </a:rPr>
              <a:t># 块把输出包成单元素列表交给它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1B1F24"/>
                </a:solidFill>
                <a:latin typeface="Consolas"/>
              </a:rPr>
              <a:t>return [out] if self.listed else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163189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esmoe/graft.py:109-112 与 esmoe/module.py 的 listed 分支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16752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>
                <a:solidFill>
                  <a:srgbClr val="667085"/>
                </a:solidFill>
                <a:latin typeface="Microsoft YaHei"/>
              </a:rPr>
              <a:t>本包 </a:t>
            </a:r>
            <a:r>
              <a:rPr sz="1050">
                <a:solidFill>
                  <a:srgbClr val="1B1F24"/>
                </a:solidFill>
                <a:latin typeface="Consolas"/>
              </a:rPr>
              <a:t>esmoe/graft.py:109-112</a:t>
            </a:r>
            <a:r>
              <a:rPr sz="1050">
                <a:solidFill>
                  <a:srgbClr val="D8DEE6"/>
                </a:solidFill>
                <a:latin typeface="Microsoft YaHei"/>
              </a:rPr>
              <a:t>　　</a:t>
            </a:r>
            <a:r>
              <a:rPr sz="1050">
                <a:solidFill>
                  <a:srgbClr val="667085"/>
                </a:solidFill>
                <a:latin typeface="Microsoft YaHei"/>
              </a:rPr>
              <a:t>借用的官方层 </a:t>
            </a:r>
            <a:r>
              <a:rPr sz="1050">
                <a:solidFill>
                  <a:srgbClr val="1B1F24"/>
                </a:solidFill>
                <a:latin typeface="Consolas"/>
              </a:rPr>
              <a:t>nn/modules/conv.py Index</a:t>
            </a:r>
            <a:r>
              <a:rPr sz="1050">
                <a:solidFill>
                  <a:srgbClr val="D8DEE6"/>
                </a:solidFill>
                <a:latin typeface="Microsoft YaHei"/>
              </a:rPr>
              <a:t>　　</a:t>
            </a:r>
            <a:r>
              <a:rPr sz="1050">
                <a:solidFill>
                  <a:srgbClr val="667085"/>
                </a:solidFill>
                <a:latin typeface="Microsoft YaHei"/>
              </a:rPr>
              <a:t>上游 </a:t>
            </a:r>
            <a:r>
              <a:rPr sz="1050">
                <a:solidFill>
                  <a:srgbClr val="1B1F24"/>
                </a:solidFill>
                <a:latin typeface="Consolas"/>
              </a:rPr>
              <a:t>改 parse_model 的通道推断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9248" y="1536192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问题：官方 </a:t>
            </a:r>
            <a:r>
              <a:rPr sz="1250" b="0">
                <a:solidFill>
                  <a:srgbClr val="1B1F24"/>
                </a:solidFill>
                <a:latin typeface="Consolas"/>
              </a:rPr>
              <a:t>parse_model</a:t>
            </a:r>
            <a:r>
              <a:rPr sz="1300" b="0">
                <a:solidFill>
                  <a:srgbClr val="1B1F24"/>
                </a:solidFill>
                <a:latin typeface="Microsoft YaHei"/>
              </a:rPr>
              <a:t> 计算下游通道数时，读的是</a:t>
            </a:r>
            <a:r>
              <a:rPr sz="1300" b="1">
                <a:solidFill>
                  <a:srgbClr val="1B1F24"/>
                </a:solidFill>
                <a:latin typeface="Microsoft YaHei"/>
              </a:rPr>
              <a:t>层声明里的宽度</a:t>
            </a:r>
            <a:r>
              <a:rPr sz="1300" b="0">
                <a:solidFill>
                  <a:srgbClr val="1B1F24"/>
                </a:solidFill>
                <a:latin typeface="Microsoft YaHei"/>
              </a:rPr>
              <a:t>，不是第三方模块实际输出的通道。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块想把通道改宽，下游就会按旧宽度去建，模型直接搭不起来。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30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00" b="1">
                <a:solidFill>
                  <a:srgbClr val="B3272D"/>
                </a:solidFill>
                <a:latin typeface="Microsoft YaHei"/>
              </a:rPr>
              <a:t>解法：</a:t>
            </a:r>
            <a:r>
              <a:rPr sz="1300" b="0">
                <a:solidFill>
                  <a:srgbClr val="1B1F24"/>
                </a:solidFill>
                <a:latin typeface="Microsoft YaHei"/>
              </a:rPr>
              <a:t>在块后面写一层官方自带的 </a:t>
            </a:r>
            <a:r>
              <a:rPr sz="1250" b="0">
                <a:solidFill>
                  <a:srgbClr val="1B1F24"/>
                </a:solidFill>
                <a:latin typeface="Consolas"/>
              </a:rPr>
              <a:t>Index</a:t>
            </a:r>
            <a:r>
              <a:rPr sz="1300" b="0">
                <a:solidFill>
                  <a:srgbClr val="1B1F24"/>
                </a:solidFill>
                <a:latin typeface="Microsoft YaHei"/>
              </a:rPr>
              <a:t>。它声明的宽度是 parse_model 认的，块把输出包成单元素列表交给它。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30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没有改框架一行代码，也没有 monkey-patch parse_model。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第三章 · 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入口三：让平衡项真的进反向传播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第三章　我们的包：逐处讲</a:t>
            </a:r>
            <a:r>
              <a:rPr sz="950">
                <a:solidFill>
                  <a:srgbClr val="667085"/>
                </a:solidFill>
                <a:latin typeface="Consolas"/>
              </a:rPr>
              <a:t>　·　48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7132320" cy="2674454"/>
          </a:xfrm>
          <a:prstGeom prst="roundRect">
            <a:avLst>
              <a:gd name="adj" fmla="val 6005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19" dirty="0">
                <a:solidFill>
                  <a:srgbClr val="1B1F24"/>
                </a:solidFill>
                <a:latin typeface="Consolas"/>
              </a:rPr>
              <a:t>total, items = _original(self)(self, batch, preds)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19" dirty="0">
                <a:solidFill>
                  <a:srgbClr val="1B1F24"/>
                </a:solidFill>
                <a:latin typeface="Consolas"/>
              </a:rPr>
              <a:t>aux = </a:t>
            </a:r>
            <a:r>
              <a:rPr sz="1219" dirty="0" err="1">
                <a:solidFill>
                  <a:srgbClr val="1B1F24"/>
                </a:solidFill>
                <a:latin typeface="Consolas"/>
              </a:rPr>
              <a:t>collect_aux_loss</a:t>
            </a:r>
            <a:r>
              <a:rPr sz="1219" dirty="0">
                <a:solidFill>
                  <a:srgbClr val="1B1F24"/>
                </a:solidFill>
                <a:latin typeface="Consolas"/>
              </a:rPr>
              <a:t>(self, device=</a:t>
            </a:r>
            <a:r>
              <a:rPr sz="1219" dirty="0" err="1">
                <a:solidFill>
                  <a:srgbClr val="1B1F24"/>
                </a:solidFill>
                <a:latin typeface="Consolas"/>
              </a:rPr>
              <a:t>total.device</a:t>
            </a:r>
            <a:r>
              <a:rPr sz="1219" dirty="0">
                <a:solidFill>
                  <a:srgbClr val="1B1F24"/>
                </a:solidFill>
                <a:latin typeface="Consolas"/>
              </a:rPr>
              <a:t>).to(</a:t>
            </a:r>
            <a:r>
              <a:rPr sz="1219" dirty="0" err="1">
                <a:solidFill>
                  <a:srgbClr val="1B1F24"/>
                </a:solidFill>
                <a:latin typeface="Consolas"/>
              </a:rPr>
              <a:t>total.dtype</a:t>
            </a:r>
            <a:r>
              <a:rPr sz="1219" dirty="0">
                <a:solidFill>
                  <a:srgbClr val="1B1F24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19" dirty="0">
                <a:solidFill>
                  <a:srgbClr val="B3272D"/>
                </a:solidFill>
                <a:latin typeface="Consolas"/>
              </a:rPr>
              <a:t>▸ if not </a:t>
            </a:r>
            <a:r>
              <a:rPr sz="1219" dirty="0" err="1">
                <a:solidFill>
                  <a:srgbClr val="B3272D"/>
                </a:solidFill>
                <a:latin typeface="Consolas"/>
              </a:rPr>
              <a:t>torch.isfinite</a:t>
            </a:r>
            <a:r>
              <a:rPr sz="1219" dirty="0">
                <a:solidFill>
                  <a:srgbClr val="B3272D"/>
                </a:solidFill>
                <a:latin typeface="Consolas"/>
              </a:rPr>
              <a:t>(aux):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19" dirty="0">
                <a:solidFill>
                  <a:srgbClr val="B3272D"/>
                </a:solidFill>
                <a:latin typeface="Consolas"/>
              </a:rPr>
              <a:t>▸     aux = </a:t>
            </a:r>
            <a:r>
              <a:rPr sz="1219" dirty="0" err="1">
                <a:solidFill>
                  <a:srgbClr val="B3272D"/>
                </a:solidFill>
                <a:latin typeface="Consolas"/>
              </a:rPr>
              <a:t>torch.zeros_like</a:t>
            </a:r>
            <a:r>
              <a:rPr sz="1219" dirty="0">
                <a:solidFill>
                  <a:srgbClr val="B3272D"/>
                </a:solidFill>
                <a:latin typeface="Consolas"/>
              </a:rPr>
              <a:t>(aux)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19" dirty="0">
                <a:solidFill>
                  <a:srgbClr val="1B1F24"/>
                </a:solidFill>
                <a:latin typeface="Consolas"/>
              </a:rPr>
              <a:t>if recipe == "upstream":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19" dirty="0">
                <a:solidFill>
                  <a:srgbClr val="1B1F24"/>
                </a:solidFill>
                <a:latin typeface="Consolas"/>
              </a:rPr>
              <a:t>    aux = </a:t>
            </a:r>
            <a:r>
              <a:rPr sz="1219" dirty="0" err="1">
                <a:solidFill>
                  <a:srgbClr val="1B1F24"/>
                </a:solidFill>
                <a:latin typeface="Consolas"/>
              </a:rPr>
              <a:t>upstream.normalise</a:t>
            </a:r>
            <a:r>
              <a:rPr sz="1219" dirty="0">
                <a:solidFill>
                  <a:srgbClr val="1B1F24"/>
                </a:solidFill>
                <a:latin typeface="Consolas"/>
              </a:rPr>
              <a:t>(self, aux, weight) if </a:t>
            </a:r>
            <a:r>
              <a:rPr sz="1219" dirty="0" err="1">
                <a:solidFill>
                  <a:srgbClr val="1B1F24"/>
                </a:solidFill>
                <a:latin typeface="Consolas"/>
              </a:rPr>
              <a:t>self.training</a:t>
            </a:r>
            <a:r>
              <a:rPr sz="1219" dirty="0">
                <a:solidFill>
                  <a:srgbClr val="1B1F24"/>
                </a:solidFill>
                <a:latin typeface="Consolas"/>
              </a:rPr>
              <a:t> else 0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19" dirty="0">
                <a:solidFill>
                  <a:srgbClr val="1B1F24"/>
                </a:solidFill>
                <a:latin typeface="Consolas"/>
              </a:rPr>
              <a:t>    total = total + aux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19" dirty="0">
                <a:solidFill>
                  <a:srgbClr val="1B1F24"/>
                </a:solidFill>
                <a:latin typeface="Consolas"/>
              </a:rPr>
              <a:t>else: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19" dirty="0">
                <a:solidFill>
                  <a:srgbClr val="B3272D"/>
                </a:solidFill>
                <a:latin typeface="Consolas"/>
              </a:rPr>
              <a:t>▸   scaled = (aux * weight * batch["</a:t>
            </a:r>
            <a:r>
              <a:rPr sz="1219" dirty="0" err="1">
                <a:solidFill>
                  <a:srgbClr val="B3272D"/>
                </a:solidFill>
                <a:latin typeface="Consolas"/>
              </a:rPr>
              <a:t>img</a:t>
            </a:r>
            <a:r>
              <a:rPr sz="1219" dirty="0">
                <a:solidFill>
                  <a:srgbClr val="B3272D"/>
                </a:solidFill>
                <a:latin typeface="Consolas"/>
              </a:rPr>
              <a:t>"].shape[0]).view(1)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19" dirty="0">
                <a:solidFill>
                  <a:srgbClr val="1B1F24"/>
                </a:solidFill>
                <a:latin typeface="Consolas"/>
              </a:rPr>
              <a:t>    total = torch.cat([</a:t>
            </a:r>
            <a:r>
              <a:rPr sz="1219" dirty="0" err="1">
                <a:solidFill>
                  <a:srgbClr val="1B1F24"/>
                </a:solidFill>
                <a:latin typeface="Consolas"/>
              </a:rPr>
              <a:t>total.reshape</a:t>
            </a:r>
            <a:r>
              <a:rPr sz="1219" dirty="0">
                <a:solidFill>
                  <a:srgbClr val="1B1F24"/>
                </a:solidFill>
                <a:latin typeface="Consolas"/>
              </a:rPr>
              <a:t>(-1), scaled])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283798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esmoe/inject.py：把 loss() 换成「先调原损失，再加平衡项」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16752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>
                <a:solidFill>
                  <a:srgbClr val="667085"/>
                </a:solidFill>
                <a:latin typeface="Microsoft YaHei"/>
              </a:rPr>
              <a:t>本包 </a:t>
            </a:r>
            <a:r>
              <a:rPr sz="1050">
                <a:solidFill>
                  <a:srgbClr val="1B1F24"/>
                </a:solidFill>
                <a:latin typeface="Consolas"/>
              </a:rPr>
              <a:t>esmoe/inject.py:_loss_with_aux</a:t>
            </a:r>
            <a:r>
              <a:rPr sz="1050">
                <a:solidFill>
                  <a:srgbClr val="D8DEE6"/>
                </a:solidFill>
                <a:latin typeface="Microsoft YaHei"/>
              </a:rPr>
              <a:t>　　</a:t>
            </a:r>
            <a:r>
              <a:rPr sz="1050">
                <a:solidFill>
                  <a:srgbClr val="667085"/>
                </a:solidFill>
                <a:latin typeface="Microsoft YaHei"/>
              </a:rPr>
              <a:t>上游 </a:t>
            </a:r>
            <a:r>
              <a:rPr sz="1050">
                <a:solidFill>
                  <a:srgbClr val="1B1F24"/>
                </a:solidFill>
                <a:latin typeface="Consolas"/>
              </a:rPr>
              <a:t>nn/mixture_loss.py CompositeCriterion</a:t>
            </a:r>
            <a:r>
              <a:rPr sz="1050">
                <a:solidFill>
                  <a:srgbClr val="D8DEE6"/>
                </a:solidFill>
                <a:latin typeface="Microsoft YaHei"/>
              </a:rPr>
              <a:t>　　</a:t>
            </a:r>
            <a:r>
              <a:rPr sz="1050">
                <a:solidFill>
                  <a:srgbClr val="667085"/>
                </a:solidFill>
                <a:latin typeface="Microsoft YaHei"/>
              </a:rPr>
              <a:t>论文 </a:t>
            </a:r>
            <a:r>
              <a:rPr sz="1050">
                <a:solidFill>
                  <a:srgbClr val="1B1F24"/>
                </a:solidFill>
                <a:latin typeface="Consolas"/>
              </a:rPr>
              <a:t>式 (12)(13) 的项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65007" y="1536192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1">
                <a:solidFill>
                  <a:srgbClr val="B3272D"/>
                </a:solidFill>
                <a:latin typeface="Microsoft YaHei"/>
              </a:rPr>
              <a:t>patch 打在定义 loss() 的那个类上，不是叶子类。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RT-DETR、YOLO-World 这些重写了 </a:t>
            </a:r>
            <a:r>
              <a:rPr sz="1200" b="0">
                <a:solidFill>
                  <a:srgbClr val="1B1F24"/>
                </a:solidFill>
                <a:latin typeface="Consolas"/>
              </a:rPr>
              <a:t>loss()</a:t>
            </a:r>
            <a:r>
              <a:rPr sz="1250" b="0">
                <a:solidFill>
                  <a:srgbClr val="1B1F24"/>
                </a:solidFill>
                <a:latin typeface="Microsoft YaHei"/>
              </a:rPr>
              <a:t> 的模型保留自己的实现；其余继承 </a:t>
            </a:r>
            <a:r>
              <a:rPr sz="1200" b="0">
                <a:solidFill>
                  <a:srgbClr val="1B1F24"/>
                </a:solidFill>
                <a:latin typeface="Consolas"/>
              </a:rPr>
              <a:t>BaseModel.loss</a:t>
            </a:r>
            <a:r>
              <a:rPr sz="1250" b="0">
                <a:solidFill>
                  <a:srgbClr val="1B1F24"/>
                </a:solidFill>
                <a:latin typeface="Microsoft YaHei"/>
              </a:rPr>
              <a:t> 的共用一份。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2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1">
                <a:solidFill>
                  <a:srgbClr val="B3272D"/>
                </a:solidFill>
                <a:latin typeface="Microsoft YaHei"/>
              </a:rPr>
              <a:t>非有限就换成零。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平衡项一旦变成 NaN，整个损失就废了。这里挡一道，与上游的守卫同一个意思。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2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1">
                <a:solidFill>
                  <a:srgbClr val="B3272D"/>
                </a:solidFill>
                <a:latin typeface="Microsoft YaHei"/>
              </a:rPr>
              <a:t>量级对齐两种约定。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任务损失是「乘了 batch 的量」，日志里却是每图的值。辅助损失两边都跟上，才不会在日志里显得大了 batch 倍。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第三章 · 块的源码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块的正向：一共七步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第三章　我们的包：逐处讲</a:t>
            </a:r>
            <a:r>
              <a:rPr sz="950">
                <a:solidFill>
                  <a:srgbClr val="667085"/>
                </a:solidFill>
                <a:latin typeface="Consolas"/>
              </a:rPr>
              <a:t>　·　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7680960" cy="2556832"/>
          </a:xfrm>
          <a:prstGeom prst="roundRect">
            <a:avLst>
              <a:gd name="adj" fmla="val 59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9" dirty="0">
                <a:solidFill>
                  <a:srgbClr val="1B1F24"/>
                </a:solidFill>
                <a:latin typeface="Consolas"/>
              </a:rPr>
              <a:t>if </a:t>
            </a:r>
            <a:r>
              <a:rPr sz="1159" dirty="0" err="1">
                <a:solidFill>
                  <a:srgbClr val="1B1F24"/>
                </a:solidFill>
                <a:latin typeface="Consolas"/>
              </a:rPr>
              <a:t>self.channels</a:t>
            </a:r>
            <a:r>
              <a:rPr sz="1159" dirty="0">
                <a:solidFill>
                  <a:srgbClr val="1B1F24"/>
                </a:solidFill>
                <a:latin typeface="Consolas"/>
              </a:rPr>
              <a:t> is None:              # ① </a:t>
            </a:r>
            <a:r>
              <a:rPr sz="1159" dirty="0" err="1">
                <a:solidFill>
                  <a:srgbClr val="1B1F24"/>
                </a:solidFill>
                <a:latin typeface="Consolas"/>
              </a:rPr>
              <a:t>第一次前向推断通道</a:t>
            </a:r>
            <a:endParaRPr sz="1159" dirty="0">
              <a:solidFill>
                <a:srgbClr val="1B1F24"/>
              </a:solidFill>
              <a:latin typeface="Consolas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9" dirty="0">
                <a:solidFill>
                  <a:srgbClr val="1B1F24"/>
                </a:solidFill>
                <a:latin typeface="Consolas"/>
              </a:rPr>
              <a:t>    </a:t>
            </a:r>
            <a:r>
              <a:rPr sz="1159" dirty="0" err="1">
                <a:solidFill>
                  <a:srgbClr val="1B1F24"/>
                </a:solidFill>
                <a:latin typeface="Consolas"/>
              </a:rPr>
              <a:t>self.build</a:t>
            </a:r>
            <a:r>
              <a:rPr sz="1159" dirty="0">
                <a:solidFill>
                  <a:srgbClr val="1B1F24"/>
                </a:solidFill>
                <a:latin typeface="Consolas"/>
              </a:rPr>
              <a:t>(</a:t>
            </a:r>
            <a:r>
              <a:rPr sz="1159" dirty="0" err="1">
                <a:solidFill>
                  <a:srgbClr val="1B1F24"/>
                </a:solidFill>
                <a:latin typeface="Consolas"/>
              </a:rPr>
              <a:t>x.shape</a:t>
            </a:r>
            <a:r>
              <a:rPr sz="1159" dirty="0">
                <a:solidFill>
                  <a:srgbClr val="1B1F24"/>
                </a:solidFill>
                <a:latin typeface="Consolas"/>
              </a:rPr>
              <a:t>[1]); self.to(</a:t>
            </a:r>
            <a:r>
              <a:rPr sz="1159" dirty="0" err="1">
                <a:solidFill>
                  <a:srgbClr val="1B1F24"/>
                </a:solidFill>
                <a:latin typeface="Consolas"/>
              </a:rPr>
              <a:t>x.device</a:t>
            </a:r>
            <a:r>
              <a:rPr sz="1159" dirty="0">
                <a:solidFill>
                  <a:srgbClr val="1B1F24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9" dirty="0">
                <a:solidFill>
                  <a:srgbClr val="B3272D"/>
                </a:solidFill>
                <a:latin typeface="Consolas"/>
              </a:rPr>
              <a:t>▸ probs = </a:t>
            </a:r>
            <a:r>
              <a:rPr sz="1159" dirty="0" err="1">
                <a:solidFill>
                  <a:srgbClr val="B3272D"/>
                </a:solidFill>
                <a:latin typeface="Consolas"/>
              </a:rPr>
              <a:t>F.softmax</a:t>
            </a:r>
            <a:r>
              <a:rPr sz="1159" dirty="0">
                <a:solidFill>
                  <a:srgbClr val="B3272D"/>
                </a:solidFill>
                <a:latin typeface="Consolas"/>
              </a:rPr>
              <a:t>(</a:t>
            </a:r>
            <a:r>
              <a:rPr sz="1159" dirty="0" err="1">
                <a:solidFill>
                  <a:srgbClr val="B3272D"/>
                </a:solidFill>
                <a:latin typeface="Consolas"/>
              </a:rPr>
              <a:t>self.router</a:t>
            </a:r>
            <a:r>
              <a:rPr sz="1159" dirty="0">
                <a:solidFill>
                  <a:srgbClr val="B3272D"/>
                </a:solidFill>
                <a:latin typeface="Consolas"/>
              </a:rPr>
              <a:t>(x).float().clamp(-30, 30), 1).</a:t>
            </a:r>
            <a:r>
              <a:rPr sz="1159" dirty="0" err="1">
                <a:solidFill>
                  <a:srgbClr val="B3272D"/>
                </a:solidFill>
                <a:latin typeface="Consolas"/>
              </a:rPr>
              <a:t>type_as</a:t>
            </a:r>
            <a:r>
              <a:rPr sz="1159" dirty="0">
                <a:solidFill>
                  <a:srgbClr val="B3272D"/>
                </a:solidFill>
                <a:latin typeface="Consolas"/>
              </a:rPr>
              <a:t>(x)   # ②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9" dirty="0">
                <a:solidFill>
                  <a:srgbClr val="1B1F24"/>
                </a:solidFill>
                <a:latin typeface="Consolas"/>
              </a:rPr>
              <a:t>weights, chosen = </a:t>
            </a:r>
            <a:r>
              <a:rPr sz="1159" dirty="0" err="1">
                <a:solidFill>
                  <a:srgbClr val="1B1F24"/>
                </a:solidFill>
                <a:latin typeface="Consolas"/>
              </a:rPr>
              <a:t>probs.topk</a:t>
            </a:r>
            <a:r>
              <a:rPr sz="1159" dirty="0">
                <a:solidFill>
                  <a:srgbClr val="1B1F24"/>
                </a:solidFill>
                <a:latin typeface="Consolas"/>
              </a:rPr>
              <a:t>(</a:t>
            </a:r>
            <a:r>
              <a:rPr sz="1159" dirty="0" err="1">
                <a:solidFill>
                  <a:srgbClr val="1B1F24"/>
                </a:solidFill>
                <a:latin typeface="Consolas"/>
              </a:rPr>
              <a:t>self.top_k</a:t>
            </a:r>
            <a:r>
              <a:rPr sz="1159" dirty="0">
                <a:solidFill>
                  <a:srgbClr val="1B1F24"/>
                </a:solidFill>
                <a:latin typeface="Consolas"/>
              </a:rPr>
              <a:t>, dim=1)                          # ③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9" dirty="0">
                <a:solidFill>
                  <a:srgbClr val="1B1F24"/>
                </a:solidFill>
                <a:latin typeface="Consolas"/>
              </a:rPr>
              <a:t>gate = </a:t>
            </a:r>
            <a:r>
              <a:rPr sz="1159" dirty="0" err="1">
                <a:solidFill>
                  <a:srgbClr val="1B1F24"/>
                </a:solidFill>
                <a:latin typeface="Consolas"/>
              </a:rPr>
              <a:t>torch.zeros_like</a:t>
            </a:r>
            <a:r>
              <a:rPr sz="1159" dirty="0">
                <a:solidFill>
                  <a:srgbClr val="1B1F24"/>
                </a:solidFill>
                <a:latin typeface="Consolas"/>
              </a:rPr>
              <a:t>(probs).scatter(1, chosen, weights)               # ④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9" dirty="0">
                <a:solidFill>
                  <a:srgbClr val="B3272D"/>
                </a:solidFill>
                <a:latin typeface="Consolas"/>
              </a:rPr>
              <a:t>▸ gate = gate / </a:t>
            </a:r>
            <a:r>
              <a:rPr sz="1159" dirty="0" err="1">
                <a:solidFill>
                  <a:srgbClr val="B3272D"/>
                </a:solidFill>
                <a:latin typeface="Consolas"/>
              </a:rPr>
              <a:t>gate.sum</a:t>
            </a:r>
            <a:r>
              <a:rPr sz="1159" dirty="0">
                <a:solidFill>
                  <a:srgbClr val="B3272D"/>
                </a:solidFill>
                <a:latin typeface="Consolas"/>
              </a:rPr>
              <a:t>(dim=1, </a:t>
            </a:r>
            <a:r>
              <a:rPr sz="1159" dirty="0" err="1">
                <a:solidFill>
                  <a:srgbClr val="B3272D"/>
                </a:solidFill>
                <a:latin typeface="Consolas"/>
              </a:rPr>
              <a:t>keepdim</a:t>
            </a:r>
            <a:r>
              <a:rPr sz="1159" dirty="0">
                <a:solidFill>
                  <a:srgbClr val="B3272D"/>
                </a:solidFill>
                <a:latin typeface="Consolas"/>
              </a:rPr>
              <a:t>=True).</a:t>
            </a:r>
            <a:r>
              <a:rPr sz="1159" dirty="0" err="1">
                <a:solidFill>
                  <a:srgbClr val="B3272D"/>
                </a:solidFill>
                <a:latin typeface="Consolas"/>
              </a:rPr>
              <a:t>clamp_min</a:t>
            </a:r>
            <a:r>
              <a:rPr sz="1159" dirty="0">
                <a:solidFill>
                  <a:srgbClr val="B3272D"/>
                </a:solidFill>
                <a:latin typeface="Consolas"/>
              </a:rPr>
              <a:t>(1e-9)             # ⑤ </a:t>
            </a:r>
            <a:r>
              <a:rPr sz="1159" dirty="0" err="1">
                <a:solidFill>
                  <a:srgbClr val="B3272D"/>
                </a:solidFill>
                <a:latin typeface="Consolas"/>
              </a:rPr>
              <a:t>重归一</a:t>
            </a:r>
            <a:endParaRPr sz="1159" dirty="0">
              <a:solidFill>
                <a:srgbClr val="B3272D"/>
              </a:solidFill>
              <a:latin typeface="Consolas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9" dirty="0">
                <a:solidFill>
                  <a:srgbClr val="1B1F24"/>
                </a:solidFill>
                <a:latin typeface="Consolas"/>
              </a:rPr>
              <a:t>if </a:t>
            </a:r>
            <a:r>
              <a:rPr sz="1159" dirty="0" err="1">
                <a:solidFill>
                  <a:srgbClr val="1B1F24"/>
                </a:solidFill>
                <a:latin typeface="Consolas"/>
              </a:rPr>
              <a:t>self.dynamic_threshold</a:t>
            </a:r>
            <a:r>
              <a:rPr sz="1159" dirty="0">
                <a:solidFill>
                  <a:srgbClr val="1B1F24"/>
                </a:solidFill>
                <a:latin typeface="Consolas"/>
              </a:rPr>
              <a:t> and not </a:t>
            </a:r>
            <a:r>
              <a:rPr sz="1159" dirty="0" err="1">
                <a:solidFill>
                  <a:srgbClr val="1B1F24"/>
                </a:solidFill>
                <a:latin typeface="Consolas"/>
              </a:rPr>
              <a:t>self.training</a:t>
            </a:r>
            <a:r>
              <a:rPr sz="1159" dirty="0">
                <a:solidFill>
                  <a:srgbClr val="1B1F24"/>
                </a:solidFill>
                <a:latin typeface="Consolas"/>
              </a:rPr>
              <a:t> and ...:                 # ⑥ </a:t>
            </a:r>
            <a:r>
              <a:rPr sz="1159" dirty="0" err="1">
                <a:solidFill>
                  <a:srgbClr val="1B1F24"/>
                </a:solidFill>
                <a:latin typeface="Consolas"/>
              </a:rPr>
              <a:t>推理剪枝</a:t>
            </a:r>
            <a:endParaRPr sz="1159" dirty="0">
              <a:solidFill>
                <a:srgbClr val="1B1F24"/>
              </a:solidFill>
              <a:latin typeface="Consolas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9" dirty="0">
                <a:solidFill>
                  <a:srgbClr val="1B1F24"/>
                </a:solidFill>
                <a:latin typeface="Consolas"/>
              </a:rPr>
              <a:t>    ...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9" dirty="0">
                <a:solidFill>
                  <a:srgbClr val="1B1F24"/>
                </a:solidFill>
                <a:latin typeface="Consolas"/>
              </a:rPr>
              <a:t>out = sum(gate[:, </a:t>
            </a:r>
            <a:r>
              <a:rPr sz="1159" dirty="0" err="1">
                <a:solidFill>
                  <a:srgbClr val="1B1F24"/>
                </a:solidFill>
                <a:latin typeface="Consolas"/>
              </a:rPr>
              <a:t>i</a:t>
            </a:r>
            <a:r>
              <a:rPr sz="1159" dirty="0">
                <a:solidFill>
                  <a:srgbClr val="1B1F24"/>
                </a:solidFill>
                <a:latin typeface="Consolas"/>
              </a:rPr>
              <a:t>] * expert(x) for </a:t>
            </a:r>
            <a:r>
              <a:rPr sz="1159" dirty="0" err="1">
                <a:solidFill>
                  <a:srgbClr val="1B1F24"/>
                </a:solidFill>
                <a:latin typeface="Consolas"/>
              </a:rPr>
              <a:t>i</a:t>
            </a:r>
            <a:r>
              <a:rPr sz="1159" dirty="0">
                <a:solidFill>
                  <a:srgbClr val="1B1F24"/>
                </a:solidFill>
                <a:latin typeface="Consolas"/>
              </a:rPr>
              <a:t> in ...)                           # ⑦ </a:t>
            </a:r>
            <a:r>
              <a:rPr sz="1159" dirty="0" err="1">
                <a:solidFill>
                  <a:srgbClr val="1B1F24"/>
                </a:solidFill>
                <a:latin typeface="Consolas"/>
              </a:rPr>
              <a:t>加权求和</a:t>
            </a:r>
            <a:endParaRPr sz="1159" dirty="0">
              <a:solidFill>
                <a:srgbClr val="1B1F24"/>
              </a:solidFill>
              <a:latin typeface="Consolas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9" dirty="0">
                <a:solidFill>
                  <a:srgbClr val="1B1F24"/>
                </a:solidFill>
                <a:latin typeface="Consolas"/>
              </a:rPr>
              <a:t>return </a:t>
            </a:r>
            <a:r>
              <a:rPr sz="1159" dirty="0" err="1">
                <a:solidFill>
                  <a:srgbClr val="1B1F24"/>
                </a:solidFill>
                <a:latin typeface="Consolas"/>
              </a:rPr>
              <a:t>self.norm</a:t>
            </a:r>
            <a:r>
              <a:rPr sz="1159" dirty="0">
                <a:solidFill>
                  <a:srgbClr val="1B1F24"/>
                </a:solidFill>
                <a:latin typeface="Consolas"/>
              </a:rPr>
              <a:t>(out)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166176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esmoe/module.py:284-336（为讲解做了缩排，逻辑与源码一致）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16752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>
                <a:solidFill>
                  <a:srgbClr val="667085"/>
                </a:solidFill>
                <a:latin typeface="Microsoft YaHei"/>
              </a:rPr>
              <a:t>本包 </a:t>
            </a:r>
            <a:r>
              <a:rPr sz="1050">
                <a:solidFill>
                  <a:srgbClr val="1B1F24"/>
                </a:solidFill>
                <a:latin typeface="Consolas"/>
              </a:rPr>
              <a:t>esmoe/module.py:284-336</a:t>
            </a:r>
            <a:r>
              <a:rPr sz="1050">
                <a:solidFill>
                  <a:srgbClr val="D8DEE6"/>
                </a:solidFill>
                <a:latin typeface="Microsoft YaHei"/>
              </a:rPr>
              <a:t>　　</a:t>
            </a:r>
            <a:r>
              <a:rPr sz="1050">
                <a:solidFill>
                  <a:srgbClr val="667085"/>
                </a:solidFill>
                <a:latin typeface="Microsoft YaHei"/>
              </a:rPr>
              <a:t>上游 </a:t>
            </a:r>
            <a:r>
              <a:rPr sz="1050">
                <a:solidFill>
                  <a:srgbClr val="1B1F24"/>
                </a:solidFill>
                <a:latin typeface="Consolas"/>
              </a:rPr>
              <a:t>moe/modules.py:535-704</a:t>
            </a:r>
            <a:r>
              <a:rPr sz="1050">
                <a:solidFill>
                  <a:srgbClr val="D8DEE6"/>
                </a:solidFill>
                <a:latin typeface="Microsoft YaHei"/>
              </a:rPr>
              <a:t>　　</a:t>
            </a:r>
            <a:r>
              <a:rPr sz="1050">
                <a:solidFill>
                  <a:srgbClr val="667085"/>
                </a:solidFill>
                <a:latin typeface="Microsoft YaHei"/>
              </a:rPr>
              <a:t>论文 </a:t>
            </a:r>
            <a:r>
              <a:rPr sz="1050">
                <a:solidFill>
                  <a:srgbClr val="1B1F24"/>
                </a:solidFill>
                <a:latin typeface="Consolas"/>
              </a:rPr>
              <a:t>式 (2)(8)(9)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696528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② 与上游逐行对应：先 clamp 再转 fp32 做 softmax。上游在 </a:t>
            </a:r>
            <a:r>
              <a:rPr sz="1300" b="0">
                <a:solidFill>
                  <a:srgbClr val="1B1F24"/>
                </a:solidFill>
                <a:latin typeface="Consolas"/>
              </a:rPr>
              <a:t>routers.py</a:t>
            </a:r>
            <a:r>
              <a:rPr sz="1350" b="0">
                <a:solidFill>
                  <a:srgbClr val="1B1F24"/>
                </a:solidFill>
                <a:latin typeface="Microsoft YaHei"/>
              </a:rPr>
              <a:t>，我们在块里——因为本包的路由器就是两层 Linear，不单独成类。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3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1">
                <a:solidFill>
                  <a:srgbClr val="B3272D"/>
                </a:solidFill>
                <a:latin typeface="Microsoft YaHei"/>
              </a:rPr>
              <a:t>⑤ 的位置是本讲解第二次强调的那个时间点：</a:t>
            </a:r>
            <a:r>
              <a:rPr sz="1350" b="0">
                <a:solidFill>
                  <a:srgbClr val="1B1F24"/>
                </a:solidFill>
                <a:latin typeface="Microsoft YaHei"/>
              </a:rPr>
              <a:t>　重归一在剪枝之前。0.1.6 之前我们把顺序写反了，下一页讲。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第三章 · 块的源码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那个把 mAP 打到 0.04 的缺陷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第三章　我们的包：逐处讲</a:t>
            </a:r>
            <a:r>
              <a:rPr sz="950">
                <a:solidFill>
                  <a:srgbClr val="667085"/>
                </a:solidFill>
                <a:latin typeface="Consolas"/>
              </a:rPr>
              <a:t>　·　50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5394960" cy="1504632"/>
          </a:xfrm>
          <a:prstGeom prst="roundRect">
            <a:avLst>
              <a:gd name="adj" fmla="val 8826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1B1F24"/>
                </a:solidFill>
                <a:latin typeface="Consolas"/>
              </a:rPr>
              <a:t># 0.1.5（错）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1B1F24"/>
                </a:solidFill>
                <a:latin typeface="Consolas"/>
              </a:rPr>
              <a:t>gate = scatter(top-k </a:t>
            </a:r>
            <a:r>
              <a:rPr sz="1250" dirty="0" err="1">
                <a:solidFill>
                  <a:srgbClr val="1B1F24"/>
                </a:solidFill>
                <a:latin typeface="Consolas"/>
              </a:rPr>
              <a:t>的原始概率</a:t>
            </a:r>
            <a:r>
              <a:rPr sz="1250" dirty="0">
                <a:solidFill>
                  <a:srgbClr val="1B1F24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B3272D"/>
                </a:solidFill>
                <a:latin typeface="Consolas"/>
              </a:rPr>
              <a:t>▸ if </a:t>
            </a:r>
            <a:r>
              <a:rPr sz="1250" dirty="0" err="1">
                <a:solidFill>
                  <a:srgbClr val="B3272D"/>
                </a:solidFill>
                <a:latin typeface="Consolas"/>
              </a:rPr>
              <a:t>阈值</a:t>
            </a:r>
            <a:r>
              <a:rPr sz="1250" dirty="0">
                <a:solidFill>
                  <a:srgbClr val="B3272D"/>
                </a:solidFill>
                <a:latin typeface="Consolas"/>
              </a:rPr>
              <a:t> and not training: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B3272D"/>
                </a:solidFill>
                <a:latin typeface="Consolas"/>
              </a:rPr>
              <a:t>▸     </a:t>
            </a:r>
            <a:r>
              <a:rPr sz="1250" dirty="0" err="1">
                <a:solidFill>
                  <a:srgbClr val="B3272D"/>
                </a:solidFill>
                <a:latin typeface="Consolas"/>
              </a:rPr>
              <a:t>剪掉</a:t>
            </a:r>
            <a:r>
              <a:rPr sz="1250" dirty="0">
                <a:solidFill>
                  <a:srgbClr val="B3272D"/>
                </a:solidFill>
                <a:latin typeface="Consolas"/>
              </a:rPr>
              <a:t> gate &lt; 0.4 的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1B1F24"/>
                </a:solidFill>
                <a:latin typeface="Consolas"/>
              </a:rPr>
              <a:t>gate = gate / </a:t>
            </a:r>
            <a:r>
              <a:rPr sz="1250" dirty="0" err="1">
                <a:solidFill>
                  <a:srgbClr val="1B1F24"/>
                </a:solidFill>
                <a:latin typeface="Consolas"/>
              </a:rPr>
              <a:t>gate.sum</a:t>
            </a:r>
            <a:r>
              <a:rPr sz="1250" dirty="0">
                <a:solidFill>
                  <a:srgbClr val="1B1F24"/>
                </a:solidFill>
                <a:latin typeface="Consolas"/>
              </a:rPr>
              <a:t>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113976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拿原始概率去比 0.4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1536192"/>
            <a:ext cx="5394960" cy="1504632"/>
          </a:xfrm>
          <a:prstGeom prst="roundRect">
            <a:avLst>
              <a:gd name="adj" fmla="val 9479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1B1F24"/>
                </a:solidFill>
                <a:latin typeface="Consolas"/>
              </a:rPr>
              <a:t># 0.1.6（对，与上游一致）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1B1F24"/>
                </a:solidFill>
                <a:latin typeface="Consolas"/>
              </a:rPr>
              <a:t>gate = scatter(top-k </a:t>
            </a:r>
            <a:r>
              <a:rPr sz="1250" dirty="0" err="1">
                <a:solidFill>
                  <a:srgbClr val="1B1F24"/>
                </a:solidFill>
                <a:latin typeface="Consolas"/>
              </a:rPr>
              <a:t>的原始概率</a:t>
            </a:r>
            <a:r>
              <a:rPr sz="1250" dirty="0">
                <a:solidFill>
                  <a:srgbClr val="1B1F24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B3272D"/>
                </a:solidFill>
                <a:latin typeface="Consolas"/>
              </a:rPr>
              <a:t>▸ gate = gate / </a:t>
            </a:r>
            <a:r>
              <a:rPr sz="1250" dirty="0" err="1">
                <a:solidFill>
                  <a:srgbClr val="B3272D"/>
                </a:solidFill>
                <a:latin typeface="Consolas"/>
              </a:rPr>
              <a:t>gate.sum</a:t>
            </a:r>
            <a:r>
              <a:rPr sz="1250" dirty="0">
                <a:solidFill>
                  <a:srgbClr val="B3272D"/>
                </a:solidFill>
                <a:latin typeface="Consolas"/>
              </a:rPr>
              <a:t>()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B3272D"/>
                </a:solidFill>
                <a:latin typeface="Consolas"/>
              </a:rPr>
              <a:t>▸ if </a:t>
            </a:r>
            <a:r>
              <a:rPr sz="1250" dirty="0" err="1">
                <a:solidFill>
                  <a:srgbClr val="B3272D"/>
                </a:solidFill>
                <a:latin typeface="Consolas"/>
              </a:rPr>
              <a:t>阈值</a:t>
            </a:r>
            <a:r>
              <a:rPr sz="1250" dirty="0">
                <a:solidFill>
                  <a:srgbClr val="B3272D"/>
                </a:solidFill>
                <a:latin typeface="Consolas"/>
              </a:rPr>
              <a:t> and not training: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1B1F24"/>
                </a:solidFill>
                <a:latin typeface="Consolas"/>
              </a:rPr>
              <a:t>      </a:t>
            </a:r>
            <a:r>
              <a:rPr sz="1250" dirty="0" err="1">
                <a:solidFill>
                  <a:srgbClr val="1B1F24"/>
                </a:solidFill>
                <a:latin typeface="Consolas"/>
              </a:rPr>
              <a:t>剪掉</a:t>
            </a:r>
            <a:r>
              <a:rPr sz="1250" dirty="0">
                <a:solidFill>
                  <a:srgbClr val="1B1F24"/>
                </a:solidFill>
                <a:latin typeface="Consolas"/>
              </a:rPr>
              <a:t> gate &lt; 0.4 </a:t>
            </a:r>
            <a:r>
              <a:rPr sz="1250" dirty="0" err="1">
                <a:solidFill>
                  <a:srgbClr val="1B1F24"/>
                </a:solidFill>
                <a:latin typeface="Consolas"/>
              </a:rPr>
              <a:t>的；再归一一次</a:t>
            </a:r>
            <a:endParaRPr sz="1250" dirty="0">
              <a:solidFill>
                <a:srgbClr val="1B1F24"/>
              </a:solidFill>
              <a:latin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36208" y="3113976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拿重归一后的份额去比 0.4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552888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四选二时，四个概率加起来是 1，第二名极少能到 0.4——所以验证时几乎每张图都被剪成单专家，而训练走的是两专家混合。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四个块叠加，特征分布整个偏掉：训练损失一切正常，验证 mAP50 塌到 0.0427。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1">
                <a:solidFill>
                  <a:srgbClr val="B3272D"/>
                </a:solidFill>
                <a:latin typeface="Microsoft YaHei"/>
              </a:rPr>
              <a:t>同一份权重，只换这一处次序：0.0427 → 0.3741（不剪枝 0.3748）。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怎么发现的：B 臂三张卡的训练损失与另两臂逐项持平，验证却全塌——训练正常、推理崩，只可能是块内训练/推理分叉的那几处。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怎么防住下一次：补了两条把上游语义钉死的测试。原来那两条剪枝测试用的是 </a:t>
            </a:r>
            <a:r>
              <a:rPr sz="1300" b="0">
                <a:solidFill>
                  <a:srgbClr val="1B1F24"/>
                </a:solidFill>
                <a:latin typeface="Consolas"/>
              </a:rPr>
              <a:t>top_k == num_experts</a:t>
            </a:r>
            <a:r>
              <a:rPr sz="1350" b="0">
                <a:solidFill>
                  <a:srgbClr val="1B1F24"/>
                </a:solidFill>
                <a:latin typeface="Microsoft YaHei"/>
              </a:rPr>
              <a:t>，那个条件下本就不剪，是空测——</a:t>
            </a:r>
            <a:r>
              <a:rPr sz="1350" b="1">
                <a:solidFill>
                  <a:srgbClr val="1B1F24"/>
                </a:solidFill>
                <a:latin typeface="Microsoft YaHei"/>
              </a:rPr>
              <a:t>这比缺陷本身更值得记</a:t>
            </a:r>
            <a:r>
              <a:rPr sz="1350" b="0">
                <a:solidFill>
                  <a:srgbClr val="1B1F24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第三章 · 块的源码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小巧思 ② 掩码要用张量算术写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第三章　我们的包：逐处讲</a:t>
            </a:r>
            <a:r>
              <a:rPr sz="950">
                <a:solidFill>
                  <a:srgbClr val="667085"/>
                </a:solidFill>
                <a:latin typeface="Consolas"/>
              </a:rPr>
              <a:t>　·　51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6949440" cy="1042035"/>
          </a:xfrm>
          <a:prstGeom prst="roundRect">
            <a:avLst>
              <a:gd name="adj" fmla="val 11949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dirty="0">
                <a:solidFill>
                  <a:srgbClr val="1B1F24"/>
                </a:solidFill>
                <a:latin typeface="Consolas"/>
              </a:rPr>
              <a:t>leader = </a:t>
            </a:r>
            <a:r>
              <a:rPr sz="1300" dirty="0" err="1">
                <a:solidFill>
                  <a:srgbClr val="1B1F24"/>
                </a:solidFill>
                <a:latin typeface="Consolas"/>
              </a:rPr>
              <a:t>F.one_hot</a:t>
            </a:r>
            <a:r>
              <a:rPr sz="1300" dirty="0">
                <a:solidFill>
                  <a:srgbClr val="1B1F24"/>
                </a:solidFill>
                <a:latin typeface="Consolas"/>
              </a:rPr>
              <a:t>(chosen[:, 0], </a:t>
            </a:r>
            <a:r>
              <a:rPr sz="1300" dirty="0" err="1">
                <a:solidFill>
                  <a:srgbClr val="1B1F24"/>
                </a:solidFill>
                <a:latin typeface="Consolas"/>
              </a:rPr>
              <a:t>probs.shape</a:t>
            </a:r>
            <a:r>
              <a:rPr sz="1300" dirty="0">
                <a:solidFill>
                  <a:srgbClr val="1B1F24"/>
                </a:solidFill>
                <a:latin typeface="Consolas"/>
              </a:rPr>
              <a:t>[1]).to(</a:t>
            </a:r>
            <a:r>
              <a:rPr sz="1300" dirty="0" err="1">
                <a:solidFill>
                  <a:srgbClr val="1B1F24"/>
                </a:solidFill>
                <a:latin typeface="Consolas"/>
              </a:rPr>
              <a:t>torch.bool</a:t>
            </a:r>
            <a:r>
              <a:rPr sz="1300" dirty="0">
                <a:solidFill>
                  <a:srgbClr val="1B1F24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dirty="0">
                <a:solidFill>
                  <a:srgbClr val="B3272D"/>
                </a:solidFill>
                <a:latin typeface="Consolas"/>
              </a:rPr>
              <a:t>▸ gate = gate * ((gate &gt;= </a:t>
            </a:r>
            <a:r>
              <a:rPr sz="1300" dirty="0" err="1">
                <a:solidFill>
                  <a:srgbClr val="B3272D"/>
                </a:solidFill>
                <a:latin typeface="Consolas"/>
              </a:rPr>
              <a:t>self.dynamic_threshold</a:t>
            </a:r>
            <a:r>
              <a:rPr sz="1300" dirty="0">
                <a:solidFill>
                  <a:srgbClr val="B3272D"/>
                </a:solidFill>
                <a:latin typeface="Consolas"/>
              </a:rPr>
              <a:t>) | leader)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dirty="0">
                <a:solidFill>
                  <a:srgbClr val="1B1F24"/>
                </a:solidFill>
                <a:latin typeface="Consolas"/>
              </a:rPr>
              <a:t>gate = gate / </a:t>
            </a:r>
            <a:r>
              <a:rPr sz="1300" dirty="0" err="1">
                <a:solidFill>
                  <a:srgbClr val="1B1F24"/>
                </a:solidFill>
                <a:latin typeface="Consolas"/>
              </a:rPr>
              <a:t>gate.sum</a:t>
            </a:r>
            <a:r>
              <a:rPr sz="1300" dirty="0">
                <a:solidFill>
                  <a:srgbClr val="1B1F24"/>
                </a:solidFill>
                <a:latin typeface="Consolas"/>
              </a:rPr>
              <a:t>(dim=1, </a:t>
            </a:r>
            <a:r>
              <a:rPr sz="1300" dirty="0" err="1">
                <a:solidFill>
                  <a:srgbClr val="1B1F24"/>
                </a:solidFill>
                <a:latin typeface="Consolas"/>
              </a:rPr>
              <a:t>keepdim</a:t>
            </a:r>
            <a:r>
              <a:rPr sz="1300" dirty="0">
                <a:solidFill>
                  <a:srgbClr val="1B1F24"/>
                </a:solidFill>
                <a:latin typeface="Consolas"/>
              </a:rPr>
              <a:t>=True).</a:t>
            </a:r>
            <a:r>
              <a:rPr sz="1300" dirty="0" err="1">
                <a:solidFill>
                  <a:srgbClr val="1B1F24"/>
                </a:solidFill>
                <a:latin typeface="Consolas"/>
              </a:rPr>
              <a:t>clamp_min</a:t>
            </a:r>
            <a:r>
              <a:rPr sz="1300" dirty="0">
                <a:solidFill>
                  <a:srgbClr val="1B1F24"/>
                </a:solidFill>
                <a:latin typeface="Consolas"/>
              </a:rPr>
              <a:t>(1e-9)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651379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esmoe/module.py：剪枝掩码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16752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>
                <a:solidFill>
                  <a:srgbClr val="667085"/>
                </a:solidFill>
                <a:latin typeface="Microsoft YaHei"/>
              </a:rPr>
              <a:t>本包 </a:t>
            </a:r>
            <a:r>
              <a:rPr sz="1050">
                <a:solidFill>
                  <a:srgbClr val="1B1F24"/>
                </a:solidFill>
                <a:latin typeface="Consolas"/>
              </a:rPr>
              <a:t>esmoe/module.py 剪枝掩码</a:t>
            </a:r>
            <a:r>
              <a:rPr sz="1050">
                <a:solidFill>
                  <a:srgbClr val="D8DEE6"/>
                </a:solidFill>
                <a:latin typeface="Microsoft YaHei"/>
              </a:rPr>
              <a:t>　　</a:t>
            </a:r>
            <a:r>
              <a:rPr sz="1050">
                <a:solidFill>
                  <a:srgbClr val="667085"/>
                </a:solidFill>
                <a:latin typeface="Microsoft YaHei"/>
              </a:rPr>
              <a:t>上游 </a:t>
            </a:r>
            <a:r>
              <a:rPr sz="1050">
                <a:solidFill>
                  <a:srgbClr val="1B1F24"/>
                </a:solidFill>
                <a:latin typeface="Consolas"/>
              </a:rPr>
              <a:t>moe/modules.py:672-686</a:t>
            </a:r>
            <a:r>
              <a:rPr sz="1050">
                <a:solidFill>
                  <a:srgbClr val="D8DEE6"/>
                </a:solidFill>
                <a:latin typeface="Microsoft YaHei"/>
              </a:rPr>
              <a:t>　　</a:t>
            </a:r>
            <a:r>
              <a:rPr sz="1050">
                <a:solidFill>
                  <a:srgbClr val="667085"/>
                </a:solidFill>
                <a:latin typeface="Microsoft YaHei"/>
              </a:rPr>
              <a:t>同类问题 </a:t>
            </a:r>
            <a:r>
              <a:rPr sz="1050">
                <a:solidFill>
                  <a:srgbClr val="1B1F24"/>
                </a:solidFill>
                <a:latin typeface="Consolas"/>
              </a:rPr>
              <a:t>YOLO-Master PR #241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181731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早期版本用 </a:t>
            </a:r>
            <a:r>
              <a:rPr sz="1350" b="0">
                <a:solidFill>
                  <a:srgbClr val="1B1F24"/>
                </a:solidFill>
                <a:latin typeface="Consolas"/>
              </a:rPr>
              <a:t>scatter_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 塞一个 Python 布尔量。追踪器（</a:t>
            </a:r>
            <a:r>
              <a:rPr sz="1350" b="0">
                <a:solidFill>
                  <a:srgbClr val="1B1F24"/>
                </a:solidFill>
                <a:latin typeface="Consolas"/>
              </a:rPr>
              <a:t>torch.jit.trace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）没有对应的算子，导出直接失败。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改成纯张量运算之后，掩码逐输入重算，导出的图对任何输入都还原真实路由。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0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这条也是我们给上游提的修复的同一类问题：</a:t>
            </a:r>
            <a:r>
              <a:rPr sz="1400" b="1">
                <a:solidFill>
                  <a:srgbClr val="B3272D"/>
                </a:solidFill>
                <a:latin typeface="Microsoft YaHei"/>
              </a:rPr>
              <a:t>上游的追踪守卫只挡了 ONNX，没挡 torch.jit.trace（PR #241，已合入）。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第三章 · 块的源码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小巧思 ③ 多卡下，没被选中的专家也要「在图里」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第三章　我们的包：逐处讲</a:t>
            </a:r>
            <a:r>
              <a:rPr sz="950">
                <a:solidFill>
                  <a:srgbClr val="667085"/>
                </a:solidFill>
                <a:latin typeface="Consolas"/>
              </a:rPr>
              <a:t>　·　52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7315200" cy="2242819"/>
          </a:xfrm>
          <a:prstGeom prst="roundRect">
            <a:avLst>
              <a:gd name="adj" fmla="val 7461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1B1F24"/>
                </a:solidFill>
                <a:latin typeface="Consolas"/>
              </a:rPr>
              <a:t>joined = </a:t>
            </a:r>
            <a:r>
              <a:rPr sz="1250" dirty="0" err="1">
                <a:solidFill>
                  <a:srgbClr val="1B1F24"/>
                </a:solidFill>
                <a:latin typeface="Consolas"/>
              </a:rPr>
              <a:t>self.training</a:t>
            </a:r>
            <a:r>
              <a:rPr sz="1250" dirty="0">
                <a:solidFill>
                  <a:srgbClr val="1B1F24"/>
                </a:solidFill>
                <a:latin typeface="Consolas"/>
              </a:rPr>
              <a:t> and not every and </a:t>
            </a:r>
            <a:r>
              <a:rPr sz="1250" dirty="0" err="1">
                <a:solidFill>
                  <a:srgbClr val="1B1F24"/>
                </a:solidFill>
                <a:latin typeface="Consolas"/>
              </a:rPr>
              <a:t>dist.is_initialized</a:t>
            </a:r>
            <a:r>
              <a:rPr sz="1250" dirty="0">
                <a:solidFill>
                  <a:srgbClr val="1B1F24"/>
                </a:solidFill>
                <a:latin typeface="Consolas"/>
              </a:rPr>
              <a:t>()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1B1F24"/>
                </a:solidFill>
                <a:latin typeface="Consolas"/>
              </a:rPr>
              <a:t>for index, expert in enumerate(</a:t>
            </a:r>
            <a:r>
              <a:rPr sz="1250" dirty="0" err="1">
                <a:solidFill>
                  <a:srgbClr val="1B1F24"/>
                </a:solidFill>
                <a:latin typeface="Consolas"/>
              </a:rPr>
              <a:t>self.experts</a:t>
            </a:r>
            <a:r>
              <a:rPr sz="1250" dirty="0">
                <a:solidFill>
                  <a:srgbClr val="1B1F24"/>
                </a:solidFill>
                <a:latin typeface="Consolas"/>
              </a:rPr>
              <a:t>):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1B1F24"/>
                </a:solidFill>
                <a:latin typeface="Consolas"/>
              </a:rPr>
              <a:t>    share = gate[:, index].view(-1, 1, 1, 1)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1B1F24"/>
                </a:solidFill>
                <a:latin typeface="Consolas"/>
              </a:rPr>
              <a:t>    if every or </a:t>
            </a:r>
            <a:r>
              <a:rPr sz="1250" dirty="0" err="1">
                <a:solidFill>
                  <a:srgbClr val="1B1F24"/>
                </a:solidFill>
                <a:latin typeface="Consolas"/>
              </a:rPr>
              <a:t>torch.count_nonzero</a:t>
            </a:r>
            <a:r>
              <a:rPr sz="1250" dirty="0">
                <a:solidFill>
                  <a:srgbClr val="1B1F24"/>
                </a:solidFill>
                <a:latin typeface="Consolas"/>
              </a:rPr>
              <a:t>(share):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1B1F24"/>
                </a:solidFill>
                <a:latin typeface="Consolas"/>
              </a:rPr>
              <a:t>        out = out + share * expert(x)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B3272D"/>
                </a:solidFill>
                <a:latin typeface="Consolas"/>
              </a:rPr>
              <a:t>▸   </a:t>
            </a:r>
            <a:r>
              <a:rPr sz="1250" dirty="0" err="1">
                <a:solidFill>
                  <a:srgbClr val="B3272D"/>
                </a:solidFill>
                <a:latin typeface="Consolas"/>
              </a:rPr>
              <a:t>elif</a:t>
            </a:r>
            <a:r>
              <a:rPr sz="1250" dirty="0">
                <a:solidFill>
                  <a:srgbClr val="B3272D"/>
                </a:solidFill>
                <a:latin typeface="Consolas"/>
              </a:rPr>
              <a:t> joined: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B3272D"/>
                </a:solidFill>
                <a:latin typeface="Consolas"/>
              </a:rPr>
              <a:t>▸       touched = sum(</a:t>
            </a:r>
            <a:r>
              <a:rPr sz="1250" dirty="0" err="1">
                <a:solidFill>
                  <a:srgbClr val="B3272D"/>
                </a:solidFill>
                <a:latin typeface="Consolas"/>
              </a:rPr>
              <a:t>p.flatten</a:t>
            </a:r>
            <a:r>
              <a:rPr sz="1250" dirty="0">
                <a:solidFill>
                  <a:srgbClr val="B3272D"/>
                </a:solidFill>
                <a:latin typeface="Consolas"/>
              </a:rPr>
              <a:t>()[0] for p in </a:t>
            </a:r>
            <a:r>
              <a:rPr sz="1250" dirty="0" err="1">
                <a:solidFill>
                  <a:srgbClr val="B3272D"/>
                </a:solidFill>
                <a:latin typeface="Consolas"/>
              </a:rPr>
              <a:t>expert.parameters</a:t>
            </a:r>
            <a:r>
              <a:rPr sz="1250" dirty="0">
                <a:solidFill>
                  <a:srgbClr val="B3272D"/>
                </a:solidFill>
                <a:latin typeface="Consolas"/>
              </a:rPr>
              <a:t>())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B3272D"/>
                </a:solidFill>
                <a:latin typeface="Consolas"/>
              </a:rPr>
              <a:t>▸       out = out + touched.to(</a:t>
            </a:r>
            <a:r>
              <a:rPr sz="1250" dirty="0" err="1">
                <a:solidFill>
                  <a:srgbClr val="B3272D"/>
                </a:solidFill>
                <a:latin typeface="Consolas"/>
              </a:rPr>
              <a:t>out.dtype</a:t>
            </a:r>
            <a:r>
              <a:rPr sz="1250" dirty="0">
                <a:solidFill>
                  <a:srgbClr val="B3272D"/>
                </a:solidFill>
                <a:latin typeface="Consolas"/>
              </a:rPr>
              <a:t>) * 0.0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52163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esmoe/module.py：DDP 下让未被路由到的专家以零权重留在计算图里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16752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>
                <a:solidFill>
                  <a:srgbClr val="667085"/>
                </a:solidFill>
                <a:latin typeface="Microsoft YaHei"/>
              </a:rPr>
              <a:t>本包 </a:t>
            </a:r>
            <a:r>
              <a:rPr sz="1050">
                <a:solidFill>
                  <a:srgbClr val="1B1F24"/>
                </a:solidFill>
                <a:latin typeface="Consolas"/>
              </a:rPr>
              <a:t>esmoe/module.py forward</a:t>
            </a:r>
            <a:r>
              <a:rPr sz="1050">
                <a:solidFill>
                  <a:srgbClr val="D8DEE6"/>
                </a:solidFill>
                <a:latin typeface="Microsoft YaHei"/>
              </a:rPr>
              <a:t>　　</a:t>
            </a:r>
            <a:r>
              <a:rPr sz="1050">
                <a:solidFill>
                  <a:srgbClr val="667085"/>
                </a:solidFill>
                <a:latin typeface="Microsoft YaHei"/>
              </a:rPr>
              <a:t>验证 </a:t>
            </a:r>
            <a:r>
              <a:rPr sz="1050">
                <a:solidFill>
                  <a:srgbClr val="1B1F24"/>
                </a:solidFill>
                <a:latin typeface="Consolas"/>
              </a:rPr>
              <a:t>tests/test_distributed.py</a:t>
            </a:r>
            <a:r>
              <a:rPr sz="1050">
                <a:solidFill>
                  <a:srgbClr val="D8DEE6"/>
                </a:solidFill>
                <a:latin typeface="Microsoft YaHei"/>
              </a:rPr>
              <a:t>　　</a:t>
            </a:r>
            <a:r>
              <a:rPr sz="1050">
                <a:solidFill>
                  <a:srgbClr val="667085"/>
                </a:solidFill>
                <a:latin typeface="Microsoft YaHei"/>
              </a:rPr>
              <a:t>官方约束 </a:t>
            </a:r>
            <a:r>
              <a:rPr sz="1050">
                <a:solidFill>
                  <a:srgbClr val="1B1F24"/>
                </a:solidFill>
                <a:latin typeface="Consolas"/>
              </a:rPr>
              <a:t>find_unused_parameters=False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382515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DDP 要求每个参数在每个 rank 上都进到图里。某张卡这一步刚好没有图路由到某个专家，reducer 就会报错——Ultralytics 在 </a:t>
            </a:r>
            <a:r>
              <a:rPr sz="1300" b="0">
                <a:solidFill>
                  <a:srgbClr val="1B1F24"/>
                </a:solidFill>
                <a:latin typeface="Consolas"/>
              </a:rPr>
              <a:t>compile=True</a:t>
            </a:r>
            <a:r>
              <a:rPr sz="1350" b="0">
                <a:solidFill>
                  <a:srgbClr val="1B1F24"/>
                </a:solidFill>
                <a:latin typeface="Microsoft YaHei"/>
              </a:rPr>
              <a:t> 时用的正是 </a:t>
            </a:r>
            <a:r>
              <a:rPr sz="1300" b="0">
                <a:solidFill>
                  <a:srgbClr val="1B1F24"/>
                </a:solidFill>
                <a:latin typeface="Consolas"/>
              </a:rPr>
              <a:t>find_unused_parameters=False</a:t>
            </a:r>
            <a:r>
              <a:rPr sz="1350" b="0">
                <a:solidFill>
                  <a:srgbClr val="1B1F24"/>
                </a:solidFill>
                <a:latin typeface="Microsoft YaHei"/>
              </a:rPr>
              <a:t>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解法：让它以「乘 0」的方式进图。梯度本来就是零，数值不变，但 reducer 满意了。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单进程仍然跳过，速度不受影响。两个 gloo 进程复现了修前的报错、修后通过（tests/test_distributed.py）。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第三章 · 块的源码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小巧思 ④ 旧检查点要还能加载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第三章　我们的包：逐处讲</a:t>
            </a:r>
            <a:r>
              <a:rPr sz="950">
                <a:solidFill>
                  <a:srgbClr val="667085"/>
                </a:solidFill>
                <a:latin typeface="Consolas"/>
              </a:rPr>
              <a:t>　·　53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6949440" cy="1996757"/>
          </a:xfrm>
          <a:prstGeom prst="roundRect">
            <a:avLst>
              <a:gd name="adj" fmla="val 7311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1B1F24"/>
                </a:solidFill>
                <a:latin typeface="Consolas"/>
              </a:rPr>
              <a:t>def __</a:t>
            </a:r>
            <a:r>
              <a:rPr sz="1250" dirty="0" err="1">
                <a:solidFill>
                  <a:srgbClr val="1B1F24"/>
                </a:solidFill>
                <a:latin typeface="Consolas"/>
              </a:rPr>
              <a:t>setstate</a:t>
            </a:r>
            <a:r>
              <a:rPr sz="1250" dirty="0">
                <a:solidFill>
                  <a:srgbClr val="1B1F24"/>
                </a:solidFill>
                <a:latin typeface="Consolas"/>
              </a:rPr>
              <a:t>__(self, state):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1B1F24"/>
                </a:solidFill>
                <a:latin typeface="Consolas"/>
              </a:rPr>
              <a:t>    super().__</a:t>
            </a:r>
            <a:r>
              <a:rPr sz="1250" dirty="0" err="1">
                <a:solidFill>
                  <a:srgbClr val="1B1F24"/>
                </a:solidFill>
                <a:latin typeface="Consolas"/>
              </a:rPr>
              <a:t>setstate</a:t>
            </a:r>
            <a:r>
              <a:rPr sz="1250" dirty="0">
                <a:solidFill>
                  <a:srgbClr val="1B1F24"/>
                </a:solidFill>
                <a:latin typeface="Consolas"/>
              </a:rPr>
              <a:t>__(state)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B3272D"/>
                </a:solidFill>
                <a:latin typeface="Consolas"/>
              </a:rPr>
              <a:t>▸   for key, default in </a:t>
            </a:r>
            <a:r>
              <a:rPr sz="1250" dirty="0" err="1">
                <a:solidFill>
                  <a:srgbClr val="B3272D"/>
                </a:solidFill>
                <a:latin typeface="Consolas"/>
              </a:rPr>
              <a:t>SETTINGS.items</a:t>
            </a:r>
            <a:r>
              <a:rPr sz="1250" dirty="0">
                <a:solidFill>
                  <a:srgbClr val="B3272D"/>
                </a:solidFill>
                <a:latin typeface="Consolas"/>
              </a:rPr>
              <a:t>():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B3272D"/>
                </a:solidFill>
                <a:latin typeface="Consolas"/>
              </a:rPr>
              <a:t>▸       if not </a:t>
            </a:r>
            <a:r>
              <a:rPr sz="1250" dirty="0" err="1">
                <a:solidFill>
                  <a:srgbClr val="B3272D"/>
                </a:solidFill>
                <a:latin typeface="Consolas"/>
              </a:rPr>
              <a:t>hasattr</a:t>
            </a:r>
            <a:r>
              <a:rPr sz="1250" dirty="0">
                <a:solidFill>
                  <a:srgbClr val="B3272D"/>
                </a:solidFill>
                <a:latin typeface="Consolas"/>
              </a:rPr>
              <a:t>(self, key):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B3272D"/>
                </a:solidFill>
                <a:latin typeface="Consolas"/>
              </a:rPr>
              <a:t>▸           </a:t>
            </a:r>
            <a:r>
              <a:rPr sz="1250" dirty="0" err="1">
                <a:solidFill>
                  <a:srgbClr val="B3272D"/>
                </a:solidFill>
                <a:latin typeface="Consolas"/>
              </a:rPr>
              <a:t>setattr</a:t>
            </a:r>
            <a:r>
              <a:rPr sz="1250" dirty="0">
                <a:solidFill>
                  <a:srgbClr val="B3272D"/>
                </a:solidFill>
                <a:latin typeface="Consolas"/>
              </a:rPr>
              <a:t>(self, key, default)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1B1F24"/>
                </a:solidFill>
                <a:latin typeface="Consolas"/>
              </a:rPr>
              <a:t>    if not </a:t>
            </a:r>
            <a:r>
              <a:rPr sz="1250" dirty="0" err="1">
                <a:solidFill>
                  <a:srgbClr val="1B1F24"/>
                </a:solidFill>
                <a:latin typeface="Consolas"/>
              </a:rPr>
              <a:t>hasattr</a:t>
            </a:r>
            <a:r>
              <a:rPr sz="1250" dirty="0">
                <a:solidFill>
                  <a:srgbClr val="1B1F24"/>
                </a:solidFill>
                <a:latin typeface="Consolas"/>
              </a:rPr>
              <a:t>(self, "norm"):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1B1F24"/>
                </a:solidFill>
                <a:latin typeface="Consolas"/>
              </a:rPr>
              <a:t>        </a:t>
            </a:r>
            <a:r>
              <a:rPr sz="1250" dirty="0" err="1">
                <a:solidFill>
                  <a:srgbClr val="1B1F24"/>
                </a:solidFill>
                <a:latin typeface="Consolas"/>
              </a:rPr>
              <a:t>self.norm</a:t>
            </a:r>
            <a:r>
              <a:rPr sz="1250" dirty="0">
                <a:solidFill>
                  <a:srgbClr val="1B1F24"/>
                </a:solidFill>
                <a:latin typeface="Consolas"/>
              </a:rPr>
              <a:t> = </a:t>
            </a:r>
            <a:r>
              <a:rPr sz="1250" dirty="0" err="1">
                <a:solidFill>
                  <a:srgbClr val="1B1F24"/>
                </a:solidFill>
                <a:latin typeface="Consolas"/>
              </a:rPr>
              <a:t>nn.Identity</a:t>
            </a:r>
            <a:r>
              <a:rPr sz="1250" dirty="0">
                <a:solidFill>
                  <a:srgbClr val="1B1F24"/>
                </a:solidFill>
                <a:latin typeface="Consolas"/>
              </a:rPr>
              <a:t>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606101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esmoe/module.py：给早于某个设置的检查点补上它那一代的默认值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16752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>
                <a:solidFill>
                  <a:srgbClr val="667085"/>
                </a:solidFill>
                <a:latin typeface="Microsoft YaHei"/>
              </a:rPr>
              <a:t>本包 </a:t>
            </a:r>
            <a:r>
              <a:rPr sz="1050">
                <a:solidFill>
                  <a:srgbClr val="1B1F24"/>
                </a:solidFill>
                <a:latin typeface="Consolas"/>
              </a:rPr>
              <a:t>esmoe/module.py:__setstate__</a:t>
            </a:r>
            <a:r>
              <a:rPr sz="1050">
                <a:solidFill>
                  <a:srgbClr val="D8DEE6"/>
                </a:solidFill>
                <a:latin typeface="Microsoft YaHei"/>
              </a:rPr>
              <a:t>　　</a:t>
            </a:r>
            <a:r>
              <a:rPr sz="1050">
                <a:solidFill>
                  <a:srgbClr val="667085"/>
                </a:solidFill>
                <a:latin typeface="Microsoft YaHei"/>
              </a:rPr>
              <a:t>覆盖范围 </a:t>
            </a:r>
            <a:r>
              <a:rPr sz="1050">
                <a:solidFill>
                  <a:srgbClr val="1B1F24"/>
                </a:solidFill>
                <a:latin typeface="Consolas"/>
              </a:rPr>
              <a:t>checkpoints 分支 161 个权重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82128" y="1536192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PyTorch 的检查点存的是模块对象本身。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在还没有 </a:t>
            </a:r>
            <a:r>
              <a:rPr sz="1250" b="0">
                <a:solidFill>
                  <a:srgbClr val="1B1F24"/>
                </a:solidFill>
                <a:latin typeface="Consolas"/>
              </a:rPr>
              <a:t>out_norm</a:t>
            </a:r>
            <a:r>
              <a:rPr sz="1300" b="0">
                <a:solidFill>
                  <a:srgbClr val="1B1F24"/>
                </a:solidFill>
                <a:latin typeface="Microsoft YaHei"/>
              </a:rPr>
              <a:t> 开关的年代存下的块，反序列化回来就没有这个属性，前向第一行就 AttributeError。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30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Consolas"/>
              </a:rPr>
              <a:t>__setstate__</a:t>
            </a:r>
            <a:r>
              <a:rPr sz="1300" b="0">
                <a:solidFill>
                  <a:srgbClr val="1B1F24"/>
                </a:solidFill>
                <a:latin typeface="Microsoft YaHei"/>
              </a:rPr>
              <a:t> 里按 </a:t>
            </a:r>
            <a:r>
              <a:rPr sz="1250" b="0">
                <a:solidFill>
                  <a:srgbClr val="1B1F24"/>
                </a:solidFill>
                <a:latin typeface="Consolas"/>
              </a:rPr>
              <a:t>SETTINGS</a:t>
            </a:r>
            <a:r>
              <a:rPr sz="1300" b="0">
                <a:solidFill>
                  <a:srgbClr val="1B1F24"/>
                </a:solidFill>
                <a:latin typeface="Microsoft YaHei"/>
              </a:rPr>
              <a:t> 补默认值——补的正是它当年跑的那个值。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30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00" b="1">
                <a:solidFill>
                  <a:srgbClr val="B3272D"/>
                </a:solidFill>
                <a:latin typeface="Microsoft YaHei"/>
              </a:rPr>
              <a:t>这让既有的上百个检查点在新版本里依然能加载、能复算。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第三章 · 平衡项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四个平衡目标，默认是 Switch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第三章　我们的包：逐处讲</a:t>
            </a:r>
            <a:r>
              <a:rPr sz="950">
                <a:solidFill>
                  <a:srgbClr val="667085"/>
                </a:solidFill>
                <a:latin typeface="Consolas"/>
              </a:rPr>
              <a:t>　·　54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36192"/>
          <a:ext cx="10972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名字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读哪个张量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公式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为什么留着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switch（默认）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完整 softmax × top-k 指示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E · Σ(p̄ · load)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唯一对没进 top-k 的专家也有梯度的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gshard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重归一后的门控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E · Σū²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上游 ES_MOE 用的就是它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master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重归一后的门控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论文式 13，与 gshard 差仿射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论文写的那一个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gshard_probs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原始概率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E · Σū²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只为隔离「读概率还是读门控」这一个变量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354787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默认值是被数据定下来的，不是拍脑袋：读门控的目标对没进 top-k 的专家梯度恒为零，实测 6 个检查点里 5 个出现死专家；Switch 在 66 个里一个都没有。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3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1">
                <a:solidFill>
                  <a:srgbClr val="B3272D"/>
                </a:solidFill>
                <a:latin typeface="Microsoft YaHei"/>
              </a:rPr>
              <a:t>开发版一度把默认改成 gshard，发布前按这批数据改了回来。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第三章 · 配方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上游配方：把「怎么训」做成可替换的一项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第三章　我们的包：逐处讲</a:t>
            </a:r>
            <a:r>
              <a:rPr sz="950">
                <a:solidFill>
                  <a:srgbClr val="667085"/>
                </a:solidFill>
                <a:latin typeface="Consolas"/>
              </a:rPr>
              <a:t>　·　55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7132320" cy="2407555"/>
          </a:xfrm>
          <a:prstGeom prst="roundRect">
            <a:avLst>
              <a:gd name="adj" fmla="val 5232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83" dirty="0">
                <a:solidFill>
                  <a:srgbClr val="1B1F24"/>
                </a:solidFill>
                <a:latin typeface="Consolas"/>
              </a:rPr>
              <a:t>DECAY, FLOOR, CEILING, BUDGET = 0.99, 1e-4, 1e4, 3.0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83" dirty="0">
                <a:solidFill>
                  <a:srgbClr val="1B1F24"/>
                </a:solidFill>
                <a:latin typeface="Consolas"/>
              </a:rPr>
              <a:t>ROUTER_LR, EXPERT_WARMUP = 0.5, 3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endParaRPr sz="1083" dirty="0">
              <a:solidFill>
                <a:srgbClr val="1B1F24"/>
              </a:solidFill>
              <a:latin typeface="Consolas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83" dirty="0">
                <a:solidFill>
                  <a:srgbClr val="1B1F24"/>
                </a:solidFill>
                <a:latin typeface="Consolas"/>
              </a:rPr>
              <a:t>def </a:t>
            </a:r>
            <a:r>
              <a:rPr sz="1083" dirty="0" err="1">
                <a:solidFill>
                  <a:srgbClr val="1B1F24"/>
                </a:solidFill>
                <a:latin typeface="Consolas"/>
              </a:rPr>
              <a:t>normalise</a:t>
            </a:r>
            <a:r>
              <a:rPr sz="1083" dirty="0">
                <a:solidFill>
                  <a:srgbClr val="1B1F24"/>
                </a:solidFill>
                <a:latin typeface="Consolas"/>
              </a:rPr>
              <a:t>(owner, aux, weight):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83" dirty="0">
                <a:solidFill>
                  <a:srgbClr val="1B1F24"/>
                </a:solidFill>
                <a:latin typeface="Consolas"/>
              </a:rPr>
              <a:t>    aux = aux if </a:t>
            </a:r>
            <a:r>
              <a:rPr sz="1083" dirty="0" err="1">
                <a:solidFill>
                  <a:srgbClr val="1B1F24"/>
                </a:solidFill>
                <a:latin typeface="Consolas"/>
              </a:rPr>
              <a:t>torch.isfinite</a:t>
            </a:r>
            <a:r>
              <a:rPr sz="1083" dirty="0">
                <a:solidFill>
                  <a:srgbClr val="1B1F24"/>
                </a:solidFill>
                <a:latin typeface="Consolas"/>
              </a:rPr>
              <a:t>(aux) else </a:t>
            </a:r>
            <a:r>
              <a:rPr sz="1083" dirty="0" err="1">
                <a:solidFill>
                  <a:srgbClr val="1B1F24"/>
                </a:solidFill>
                <a:latin typeface="Consolas"/>
              </a:rPr>
              <a:t>zeros_like</a:t>
            </a:r>
            <a:r>
              <a:rPr sz="1083" dirty="0">
                <a:solidFill>
                  <a:srgbClr val="1B1F24"/>
                </a:solidFill>
                <a:latin typeface="Consolas"/>
              </a:rPr>
              <a:t>(aux)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83" dirty="0">
                <a:solidFill>
                  <a:srgbClr val="B3272D"/>
                </a:solidFill>
                <a:latin typeface="Consolas"/>
              </a:rPr>
              <a:t>▸   magnitude = min(max(float(</a:t>
            </a:r>
            <a:r>
              <a:rPr sz="1083" dirty="0" err="1">
                <a:solidFill>
                  <a:srgbClr val="B3272D"/>
                </a:solidFill>
                <a:latin typeface="Consolas"/>
              </a:rPr>
              <a:t>aux.detach</a:t>
            </a:r>
            <a:r>
              <a:rPr sz="1083" dirty="0">
                <a:solidFill>
                  <a:srgbClr val="B3272D"/>
                </a:solidFill>
                <a:latin typeface="Consolas"/>
              </a:rPr>
              <a:t>().abs()), FLOOR), CEILING)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83" dirty="0">
                <a:solidFill>
                  <a:srgbClr val="B3272D"/>
                </a:solidFill>
                <a:latin typeface="Consolas"/>
              </a:rPr>
              <a:t>▸   scale = owner._</a:t>
            </a:r>
            <a:r>
              <a:rPr sz="1083" dirty="0" err="1">
                <a:solidFill>
                  <a:srgbClr val="B3272D"/>
                </a:solidFill>
                <a:latin typeface="Consolas"/>
              </a:rPr>
              <a:t>esmoe_aux_scale</a:t>
            </a:r>
            <a:r>
              <a:rPr sz="1083" dirty="0">
                <a:solidFill>
                  <a:srgbClr val="B3272D"/>
                </a:solidFill>
                <a:latin typeface="Consolas"/>
              </a:rPr>
              <a:t> = DECAY * </a:t>
            </a:r>
            <a:r>
              <a:rPr sz="1083" dirty="0" err="1">
                <a:solidFill>
                  <a:srgbClr val="B3272D"/>
                </a:solidFill>
                <a:latin typeface="Consolas"/>
              </a:rPr>
              <a:t>prev</a:t>
            </a:r>
            <a:r>
              <a:rPr sz="1083" dirty="0">
                <a:solidFill>
                  <a:srgbClr val="B3272D"/>
                </a:solidFill>
                <a:latin typeface="Consolas"/>
              </a:rPr>
              <a:t> + (1 - DECAY) * magnitude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83" dirty="0">
                <a:solidFill>
                  <a:srgbClr val="1B1F24"/>
                </a:solidFill>
                <a:latin typeface="Consolas"/>
              </a:rPr>
              <a:t>    term = aux / scale * weight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83" dirty="0">
                <a:solidFill>
                  <a:srgbClr val="B3272D"/>
                </a:solidFill>
                <a:latin typeface="Consolas"/>
              </a:rPr>
              <a:t>▸   term = term * min(1.0, BUDGET / max(float(</a:t>
            </a:r>
            <a:r>
              <a:rPr sz="1083" dirty="0" err="1">
                <a:solidFill>
                  <a:srgbClr val="B3272D"/>
                </a:solidFill>
                <a:latin typeface="Consolas"/>
              </a:rPr>
              <a:t>term.detach</a:t>
            </a:r>
            <a:r>
              <a:rPr sz="1083" dirty="0">
                <a:solidFill>
                  <a:srgbClr val="B3272D"/>
                </a:solidFill>
                <a:latin typeface="Consolas"/>
              </a:rPr>
              <a:t>().abs()), FLOOR))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83" dirty="0">
                <a:solidFill>
                  <a:srgbClr val="1B1F24"/>
                </a:solidFill>
                <a:latin typeface="Consolas"/>
              </a:rPr>
              <a:t>    return term if </a:t>
            </a:r>
            <a:r>
              <a:rPr sz="1083" dirty="0" err="1">
                <a:solidFill>
                  <a:srgbClr val="1B1F24"/>
                </a:solidFill>
                <a:latin typeface="Consolas"/>
              </a:rPr>
              <a:t>isfinite</a:t>
            </a:r>
            <a:r>
              <a:rPr sz="1083" dirty="0">
                <a:solidFill>
                  <a:srgbClr val="1B1F24"/>
                </a:solidFill>
                <a:latin typeface="Consolas"/>
              </a:rPr>
              <a:t>(term) and abs(term) &lt;= CEILING else </a:t>
            </a:r>
            <a:r>
              <a:rPr sz="1083" dirty="0" err="1">
                <a:solidFill>
                  <a:srgbClr val="1B1F24"/>
                </a:solidFill>
                <a:latin typeface="Consolas"/>
              </a:rPr>
              <a:t>zeros_like</a:t>
            </a:r>
            <a:r>
              <a:rPr sz="1083" dirty="0">
                <a:solidFill>
                  <a:srgbClr val="1B1F24"/>
                </a:solidFill>
                <a:latin typeface="Consolas"/>
              </a:rPr>
              <a:t>(term)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016899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esmoe/upstream.py：常数与出处都写在模块头部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16752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>
                <a:solidFill>
                  <a:srgbClr val="667085"/>
                </a:solidFill>
                <a:latin typeface="Microsoft YaHei"/>
              </a:rPr>
              <a:t>本包 </a:t>
            </a:r>
            <a:r>
              <a:rPr sz="1050">
                <a:solidFill>
                  <a:srgbClr val="1B1F24"/>
                </a:solidFill>
                <a:latin typeface="Consolas"/>
              </a:rPr>
              <a:t>esmoe/upstream.py:normalise</a:t>
            </a:r>
            <a:r>
              <a:rPr sz="1050">
                <a:solidFill>
                  <a:srgbClr val="D8DEE6"/>
                </a:solidFill>
                <a:latin typeface="Microsoft YaHei"/>
              </a:rPr>
              <a:t>　　</a:t>
            </a:r>
            <a:r>
              <a:rPr sz="1050">
                <a:solidFill>
                  <a:srgbClr val="667085"/>
                </a:solidFill>
                <a:latin typeface="Microsoft YaHei"/>
              </a:rPr>
              <a:t>上游 </a:t>
            </a:r>
            <a:r>
              <a:rPr sz="1050">
                <a:solidFill>
                  <a:srgbClr val="1B1F24"/>
                </a:solidFill>
                <a:latin typeface="Consolas"/>
              </a:rPr>
              <a:t>nn/mixture_loss.py:69-75,214-241,300-353</a:t>
            </a:r>
            <a:r>
              <a:rPr sz="1050">
                <a:solidFill>
                  <a:srgbClr val="D8DEE6"/>
                </a:solidFill>
                <a:latin typeface="Microsoft YaHei"/>
              </a:rPr>
              <a:t>　　</a:t>
            </a:r>
            <a:r>
              <a:rPr sz="1050">
                <a:solidFill>
                  <a:srgbClr val="667085"/>
                </a:solidFill>
                <a:latin typeface="Microsoft YaHei"/>
              </a:rPr>
              <a:t>断言 </a:t>
            </a:r>
            <a:r>
              <a:rPr sz="1050">
                <a:solidFill>
                  <a:srgbClr val="1B1F24"/>
                </a:solidFill>
                <a:latin typeface="Consolas"/>
              </a:rPr>
              <a:t>tests/test_recipe.py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65007" y="1536192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照上游 </a:t>
            </a:r>
            <a:r>
              <a:rPr sz="1200" b="0">
                <a:solidFill>
                  <a:srgbClr val="1B1F24"/>
                </a:solidFill>
                <a:latin typeface="Consolas"/>
              </a:rPr>
              <a:t>nn/mixture_loss.py</a:t>
            </a:r>
            <a:r>
              <a:rPr sz="1250" b="0">
                <a:solidFill>
                  <a:srgbClr val="1B1F24"/>
                </a:solidFill>
                <a:latin typeface="Microsoft YaHei"/>
              </a:rPr>
              <a:t> 逐行写成：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非有限换零 → 幅值夹到 [1e-4, 1e4] → decay 0.99 的 EMA → 除以它再乘 weight → 按 3.0 封顶（系数 detach）→ 末端再守一次。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2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1">
                <a:solidFill>
                  <a:srgbClr val="B3272D"/>
                </a:solidFill>
                <a:latin typeface="Microsoft YaHei"/>
              </a:rPr>
              <a:t>为什么要做成配方而不是默认？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因为定这件事的时候，</a:t>
            </a:r>
            <a:r>
              <a:rPr sz="1200" b="0">
                <a:solidFill>
                  <a:srgbClr val="1B1F24"/>
                </a:solidFill>
                <a:latin typeface="Consolas"/>
              </a:rPr>
              <a:t>results/</a:t>
            </a:r>
            <a:r>
              <a:rPr sz="1250" b="0">
                <a:solidFill>
                  <a:srgbClr val="1B1F24"/>
                </a:solidFill>
                <a:latin typeface="Microsoft YaHei"/>
              </a:rPr>
              <a:t> 里已经有 113 条按本包原来的方式训出来的记录。默认一改，它们就不再是「现在这个包」的产物。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所以：默认不动，上游那一套作为一个可选配方并列存在，同配置对照时才用它。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第三章 · 配方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小巧思 ⑤ 路由器分组时，基准学习率要读回来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第三章　我们的包：逐处讲</a:t>
            </a:r>
            <a:r>
              <a:rPr sz="950">
                <a:solidFill>
                  <a:srgbClr val="667085"/>
                </a:solidFill>
                <a:latin typeface="Consolas"/>
              </a:rPr>
              <a:t>　·　56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7132320" cy="2107441"/>
          </a:xfrm>
          <a:prstGeom prst="roundRect">
            <a:avLst>
              <a:gd name="adj" fmla="val 7336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64" dirty="0">
                <a:solidFill>
                  <a:srgbClr val="1B1F24"/>
                </a:solidFill>
                <a:latin typeface="Consolas"/>
              </a:rPr>
              <a:t>template = next(g for g in </a:t>
            </a:r>
            <a:r>
              <a:rPr sz="1164" dirty="0" err="1">
                <a:solidFill>
                  <a:srgbClr val="1B1F24"/>
                </a:solidFill>
                <a:latin typeface="Consolas"/>
              </a:rPr>
              <a:t>optimizer.param_groups</a:t>
            </a:r>
            <a:r>
              <a:rPr sz="1164" dirty="0">
                <a:solidFill>
                  <a:srgbClr val="1B1F24"/>
                </a:solidFill>
                <a:latin typeface="Consolas"/>
              </a:rPr>
              <a:t> if not </a:t>
            </a:r>
            <a:r>
              <a:rPr sz="1164" dirty="0" err="1">
                <a:solidFill>
                  <a:srgbClr val="1B1F24"/>
                </a:solidFill>
                <a:latin typeface="Consolas"/>
              </a:rPr>
              <a:t>g.get</a:t>
            </a:r>
            <a:r>
              <a:rPr sz="1164" dirty="0">
                <a:solidFill>
                  <a:srgbClr val="1B1F24"/>
                </a:solidFill>
                <a:latin typeface="Consolas"/>
              </a:rPr>
              <a:t>("</a:t>
            </a:r>
            <a:r>
              <a:rPr sz="1164" dirty="0" err="1">
                <a:solidFill>
                  <a:srgbClr val="1B1F24"/>
                </a:solidFill>
                <a:latin typeface="Consolas"/>
              </a:rPr>
              <a:t>use_muon</a:t>
            </a:r>
            <a:r>
              <a:rPr sz="1164" dirty="0">
                <a:solidFill>
                  <a:srgbClr val="1B1F24"/>
                </a:solidFill>
                <a:latin typeface="Consolas"/>
              </a:rPr>
              <a:t>"))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64" dirty="0">
                <a:solidFill>
                  <a:srgbClr val="B3272D"/>
                </a:solidFill>
                <a:latin typeface="Consolas"/>
              </a:rPr>
              <a:t>▸ base = min(group["</a:t>
            </a:r>
            <a:r>
              <a:rPr sz="1164" dirty="0" err="1">
                <a:solidFill>
                  <a:srgbClr val="B3272D"/>
                </a:solidFill>
                <a:latin typeface="Consolas"/>
              </a:rPr>
              <a:t>lr</a:t>
            </a:r>
            <a:r>
              <a:rPr sz="1164" dirty="0">
                <a:solidFill>
                  <a:srgbClr val="B3272D"/>
                </a:solidFill>
                <a:latin typeface="Consolas"/>
              </a:rPr>
              <a:t>"] for group in </a:t>
            </a:r>
            <a:r>
              <a:rPr sz="1164" dirty="0" err="1">
                <a:solidFill>
                  <a:srgbClr val="B3272D"/>
                </a:solidFill>
                <a:latin typeface="Consolas"/>
              </a:rPr>
              <a:t>optimizer.param_groups</a:t>
            </a:r>
            <a:r>
              <a:rPr sz="1164" dirty="0">
                <a:solidFill>
                  <a:srgbClr val="B3272D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64" dirty="0">
                <a:solidFill>
                  <a:srgbClr val="1B1F24"/>
                </a:solidFill>
                <a:latin typeface="Consolas"/>
              </a:rPr>
              <a:t>for group in </a:t>
            </a:r>
            <a:r>
              <a:rPr sz="1164" dirty="0" err="1">
                <a:solidFill>
                  <a:srgbClr val="1B1F24"/>
                </a:solidFill>
                <a:latin typeface="Consolas"/>
              </a:rPr>
              <a:t>optimizer.param_groups</a:t>
            </a:r>
            <a:r>
              <a:rPr sz="1164" dirty="0">
                <a:solidFill>
                  <a:srgbClr val="1B1F24"/>
                </a:solidFill>
                <a:latin typeface="Consolas"/>
              </a:rPr>
              <a:t>: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64" dirty="0">
                <a:solidFill>
                  <a:srgbClr val="1B1F24"/>
                </a:solidFill>
                <a:latin typeface="Consolas"/>
              </a:rPr>
              <a:t>    group["params"] = [p for p in group["params"] if id(p) not in routers]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64" dirty="0" err="1">
                <a:solidFill>
                  <a:srgbClr val="1B1F24"/>
                </a:solidFill>
                <a:latin typeface="Consolas"/>
              </a:rPr>
              <a:t>optimizer.add_param_group</a:t>
            </a:r>
            <a:r>
              <a:rPr sz="1164" dirty="0">
                <a:solidFill>
                  <a:srgbClr val="1B1F24"/>
                </a:solidFill>
                <a:latin typeface="Consolas"/>
              </a:rPr>
              <a:t>(settings | {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64" dirty="0">
                <a:solidFill>
                  <a:srgbClr val="1B1F24"/>
                </a:solidFill>
                <a:latin typeface="Consolas"/>
              </a:rPr>
              <a:t>    "params": list(</a:t>
            </a:r>
            <a:r>
              <a:rPr sz="1164" dirty="0" err="1">
                <a:solidFill>
                  <a:srgbClr val="1B1F24"/>
                </a:solidFill>
                <a:latin typeface="Consolas"/>
              </a:rPr>
              <a:t>routers.values</a:t>
            </a:r>
            <a:r>
              <a:rPr sz="1164" dirty="0">
                <a:solidFill>
                  <a:srgbClr val="1B1F24"/>
                </a:solidFill>
                <a:latin typeface="Consolas"/>
              </a:rPr>
              <a:t>()),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64" dirty="0">
                <a:solidFill>
                  <a:srgbClr val="B3272D"/>
                </a:solidFill>
                <a:latin typeface="Consolas"/>
              </a:rPr>
              <a:t>▸   "</a:t>
            </a:r>
            <a:r>
              <a:rPr sz="1164" dirty="0" err="1">
                <a:solidFill>
                  <a:srgbClr val="B3272D"/>
                </a:solidFill>
                <a:latin typeface="Consolas"/>
              </a:rPr>
              <a:t>lr</a:t>
            </a:r>
            <a:r>
              <a:rPr sz="1164" dirty="0">
                <a:solidFill>
                  <a:srgbClr val="B3272D"/>
                </a:solidFill>
                <a:latin typeface="Consolas"/>
              </a:rPr>
              <a:t>": base * ROUTER_LR, "</a:t>
            </a:r>
            <a:r>
              <a:rPr sz="1164" dirty="0" err="1">
                <a:solidFill>
                  <a:srgbClr val="B3272D"/>
                </a:solidFill>
                <a:latin typeface="Consolas"/>
              </a:rPr>
              <a:t>weight_decay</a:t>
            </a:r>
            <a:r>
              <a:rPr sz="1164" dirty="0">
                <a:solidFill>
                  <a:srgbClr val="B3272D"/>
                </a:solidFill>
                <a:latin typeface="Consolas"/>
              </a:rPr>
              <a:t>": decay, "</a:t>
            </a:r>
            <a:r>
              <a:rPr sz="1164" dirty="0" err="1">
                <a:solidFill>
                  <a:srgbClr val="B3272D"/>
                </a:solidFill>
                <a:latin typeface="Consolas"/>
              </a:rPr>
              <a:t>param_group</a:t>
            </a:r>
            <a:r>
              <a:rPr sz="1164" dirty="0">
                <a:solidFill>
                  <a:srgbClr val="B3272D"/>
                </a:solidFill>
                <a:latin typeface="Consolas"/>
              </a:rPr>
              <a:t>": "router",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64" dirty="0">
                <a:solidFill>
                  <a:srgbClr val="1B1F24"/>
                </a:solidFill>
                <a:latin typeface="Consolas"/>
              </a:rPr>
              <a:t>})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716785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esmoe/upstream.py：split_routers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16752"/>
            <a:ext cx="1105783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>
                <a:solidFill>
                  <a:srgbClr val="667085"/>
                </a:solidFill>
                <a:latin typeface="Microsoft YaHei"/>
              </a:rPr>
              <a:t>本包 </a:t>
            </a:r>
            <a:r>
              <a:rPr sz="1050">
                <a:solidFill>
                  <a:srgbClr val="1B1F24"/>
                </a:solidFill>
                <a:latin typeface="Consolas"/>
              </a:rPr>
              <a:t>esmoe/upstream.py:split_routers</a:t>
            </a:r>
            <a:r>
              <a:rPr sz="1050">
                <a:solidFill>
                  <a:srgbClr val="D8DEE6"/>
                </a:solidFill>
                <a:latin typeface="Microsoft YaHei"/>
              </a:rPr>
              <a:t>　　</a:t>
            </a:r>
            <a:r>
              <a:rPr sz="1050">
                <a:solidFill>
                  <a:srgbClr val="667085"/>
                </a:solidFill>
                <a:latin typeface="Microsoft YaHei"/>
              </a:rPr>
              <a:t>上游 </a:t>
            </a:r>
            <a:r>
              <a:rPr sz="1050">
                <a:solidFill>
                  <a:srgbClr val="1B1F24"/>
                </a:solidFill>
                <a:latin typeface="Consolas"/>
              </a:rPr>
              <a:t>engine/trainer.py:1584-1700</a:t>
            </a:r>
            <a:r>
              <a:rPr sz="1050">
                <a:solidFill>
                  <a:srgbClr val="D8DEE6"/>
                </a:solidFill>
                <a:latin typeface="Microsoft YaHei"/>
              </a:rPr>
              <a:t>　　</a:t>
            </a:r>
            <a:r>
              <a:rPr sz="1050">
                <a:solidFill>
                  <a:srgbClr val="667085"/>
                </a:solidFill>
                <a:latin typeface="Microsoft YaHei"/>
              </a:rPr>
              <a:t>断言 </a:t>
            </a:r>
            <a:r>
              <a:rPr sz="1050">
                <a:solidFill>
                  <a:srgbClr val="1B1F24"/>
                </a:solidFill>
                <a:latin typeface="Consolas"/>
              </a:rPr>
              <a:t>tests/test_recipe.py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292857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上游是在 </a:t>
            </a:r>
            <a:r>
              <a:rPr sz="1300" b="0">
                <a:solidFill>
                  <a:srgbClr val="1B1F24"/>
                </a:solidFill>
                <a:latin typeface="Consolas"/>
              </a:rPr>
              <a:t>build_optimizer</a:t>
            </a:r>
            <a:r>
              <a:rPr sz="1350" b="0">
                <a:solidFill>
                  <a:srgbClr val="1B1F24"/>
                </a:solidFill>
                <a:latin typeface="Microsoft YaHei"/>
              </a:rPr>
              <a:t> 里从头分组，基准学习率是它自己算出来的那一个。我们是在优化器建好之后再动它，所以得先把那个基准找回来。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1">
                <a:solidFill>
                  <a:srgbClr val="B3272D"/>
                </a:solidFill>
                <a:latin typeface="Microsoft YaHei"/>
              </a:rPr>
              <a:t>MuSGD 会给某些组三倍学习率、但不会给谁更低——所以取所有组的最小值，正好是基准。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这类「读回来而不是重算」的做法，能让同一段代码在 </a:t>
            </a:r>
            <a:r>
              <a:rPr sz="1300" b="0">
                <a:solidFill>
                  <a:srgbClr val="1B1F24"/>
                </a:solidFill>
                <a:latin typeface="Consolas"/>
              </a:rPr>
              <a:t>optimizer="auto"</a:t>
            </a:r>
            <a:r>
              <a:rPr sz="1350" b="0">
                <a:solidFill>
                  <a:srgbClr val="1B1F24"/>
                </a:solidFill>
                <a:latin typeface="Microsoft YaHei"/>
              </a:rPr>
              <a:t> 选出任何优化器时都成立。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第三章 · 踩过的坑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设置必须写进配置文件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第三章　我们的包：逐处讲</a:t>
            </a:r>
            <a:r>
              <a:rPr sz="950">
                <a:solidFill>
                  <a:srgbClr val="667085"/>
                </a:solidFill>
                <a:latin typeface="Consolas"/>
              </a:rPr>
              <a:t>　·　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3619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1">
                <a:solidFill>
                  <a:srgbClr val="B3272D"/>
                </a:solidFill>
                <a:latin typeface="Microsoft YaHei"/>
              </a:rPr>
              <a:t>0.1.4 的缺陷：</a:t>
            </a:r>
            <a:r>
              <a:rPr sz="1400" b="0">
                <a:solidFill>
                  <a:srgbClr val="1B1F24"/>
                </a:solidFill>
                <a:latin typeface="Consolas"/>
              </a:rPr>
              <a:t>equip()</a:t>
            </a:r>
            <a:r>
              <a:rPr sz="1450" b="0">
                <a:solidFill>
                  <a:srgbClr val="1B1F24"/>
                </a:solidFill>
                <a:latin typeface="Microsoft YaHei"/>
              </a:rPr>
              <a:t> 之后在块实例上设的开关，训练出来的模型里根本没有。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0">
                <a:solidFill>
                  <a:srgbClr val="1B1F24"/>
                </a:solidFill>
                <a:latin typeface="Microsoft YaHei"/>
              </a:rPr>
              <a:t>原因就是第二章说的坎三：训练器照 </a:t>
            </a:r>
            <a:r>
              <a:rPr sz="1400" b="0">
                <a:solidFill>
                  <a:srgbClr val="1B1F24"/>
                </a:solidFill>
                <a:latin typeface="Consolas"/>
              </a:rPr>
              <a:t>model.yaml</a:t>
            </a:r>
            <a:r>
              <a:rPr sz="1450" b="0">
                <a:solidFill>
                  <a:srgbClr val="1B1F24"/>
                </a:solidFill>
                <a:latin typeface="Microsoft YaHei"/>
              </a:rPr>
              <a:t> 重建模型，之前那个实例连同它身上的设置一起被丢掉。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0">
                <a:solidFill>
                  <a:srgbClr val="1B1F24"/>
                </a:solidFill>
                <a:latin typeface="Microsoft YaHei"/>
              </a:rPr>
              <a:t>不报错、不留痕——命令行记录里写着 </a:t>
            </a:r>
            <a:r>
              <a:rPr sz="1400" b="0">
                <a:solidFill>
                  <a:srgbClr val="1B1F24"/>
                </a:solidFill>
                <a:latin typeface="Consolas"/>
              </a:rPr>
              <a:t>--balance gshard</a:t>
            </a:r>
            <a:r>
              <a:rPr sz="1450" b="0">
                <a:solidFill>
                  <a:srgbClr val="1B1F24"/>
                </a:solidFill>
                <a:latin typeface="Microsoft YaHei"/>
              </a:rPr>
              <a:t>，实际训练的是构造函数默认值。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273552"/>
            <a:ext cx="3551834" cy="173736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怎么修的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graft() / equip() 把设置写进 yaml；块接受一个 options 映射并按名字解析目标函数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9930" y="3273552"/>
            <a:ext cx="3551834" cy="173736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怎么防住下次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scripts/train.py 建好模型就读回块上的设置
与请求不符，训练开始前就退出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72932" y="3273552"/>
            <a:ext cx="3551834" cy="173736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怎么对账历史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scripts/blockspec.py 从每个检查点读回当时真正生效的设置，逐条核对记录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285231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核完的结论：当时仓库里已发布的 120 条记录零条需要更正，因为受影响的那几条那时还没跑。这件事写在发布说明里，也写进了已知局限。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第三章 · 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一条实验记录里要写下什么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第三章　我们的包：逐处讲</a:t>
            </a:r>
            <a:r>
              <a:rPr sz="950">
                <a:solidFill>
                  <a:srgbClr val="667085"/>
                </a:solidFill>
                <a:latin typeface="Consolas"/>
              </a:rPr>
              <a:t>　·　58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5852160" cy="2433744"/>
          </a:xfrm>
          <a:prstGeom prst="roundRect">
            <a:avLst>
              <a:gd name="adj" fmla="val 6567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97" dirty="0">
                <a:solidFill>
                  <a:srgbClr val="1B1F24"/>
                </a:solidFill>
                <a:latin typeface="Consolas"/>
              </a:rPr>
              <a:t>{"</a:t>
            </a:r>
            <a:r>
              <a:rPr sz="997" dirty="0" err="1">
                <a:solidFill>
                  <a:srgbClr val="1B1F24"/>
                </a:solidFill>
                <a:latin typeface="Consolas"/>
              </a:rPr>
              <a:t>experiment_id</a:t>
            </a:r>
            <a:r>
              <a:rPr sz="997" dirty="0">
                <a:solidFill>
                  <a:srgbClr val="1B1F24"/>
                </a:solidFill>
                <a:latin typeface="Consolas"/>
              </a:rPr>
              <a:t>": "...",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97" dirty="0">
                <a:solidFill>
                  <a:srgbClr val="1B1F24"/>
                </a:solidFill>
                <a:latin typeface="Consolas"/>
              </a:rPr>
              <a:t> "</a:t>
            </a:r>
            <a:r>
              <a:rPr sz="997" dirty="0" err="1">
                <a:solidFill>
                  <a:srgbClr val="1B1F24"/>
                </a:solidFill>
                <a:latin typeface="Consolas"/>
              </a:rPr>
              <a:t>git_ref</a:t>
            </a:r>
            <a:r>
              <a:rPr sz="997" dirty="0">
                <a:solidFill>
                  <a:srgbClr val="1B1F24"/>
                </a:solidFill>
                <a:latin typeface="Consolas"/>
              </a:rPr>
              <a:t>": {"toolkit": "...", "</a:t>
            </a:r>
            <a:r>
              <a:rPr sz="997" dirty="0" err="1">
                <a:solidFill>
                  <a:srgbClr val="1B1F24"/>
                </a:solidFill>
                <a:latin typeface="Consolas"/>
              </a:rPr>
              <a:t>ultralytics</a:t>
            </a:r>
            <a:r>
              <a:rPr sz="997" dirty="0">
                <a:solidFill>
                  <a:srgbClr val="1B1F24"/>
                </a:solidFill>
                <a:latin typeface="Consolas"/>
              </a:rPr>
              <a:t>": "8.4.101",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97" dirty="0">
                <a:solidFill>
                  <a:srgbClr val="1B1F24"/>
                </a:solidFill>
                <a:latin typeface="Consolas"/>
              </a:rPr>
              <a:t>             "framework": "...", "</a:t>
            </a:r>
            <a:r>
              <a:rPr sz="997" dirty="0" err="1">
                <a:solidFill>
                  <a:srgbClr val="1B1F24"/>
                </a:solidFill>
                <a:latin typeface="Consolas"/>
              </a:rPr>
              <a:t>yolo_master_base_ref</a:t>
            </a:r>
            <a:r>
              <a:rPr sz="997" dirty="0">
                <a:solidFill>
                  <a:srgbClr val="1B1F24"/>
                </a:solidFill>
                <a:latin typeface="Consolas"/>
              </a:rPr>
              <a:t>": "..."},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97" dirty="0">
                <a:solidFill>
                  <a:srgbClr val="1B1F24"/>
                </a:solidFill>
                <a:latin typeface="Consolas"/>
              </a:rPr>
              <a:t> "config": {"</a:t>
            </a:r>
            <a:r>
              <a:rPr sz="997" dirty="0" err="1">
                <a:solidFill>
                  <a:srgbClr val="1B1F24"/>
                </a:solidFill>
                <a:latin typeface="Consolas"/>
              </a:rPr>
              <a:t>model_yaml</a:t>
            </a:r>
            <a:r>
              <a:rPr sz="997" dirty="0">
                <a:solidFill>
                  <a:srgbClr val="1B1F24"/>
                </a:solidFill>
                <a:latin typeface="Consolas"/>
              </a:rPr>
              <a:t>": "...", "sha256": "...", "balance": "...",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97" dirty="0">
                <a:solidFill>
                  <a:srgbClr val="1B1F24"/>
                </a:solidFill>
                <a:latin typeface="Consolas"/>
              </a:rPr>
              <a:t>            "</a:t>
            </a:r>
            <a:r>
              <a:rPr sz="997" dirty="0" err="1">
                <a:solidFill>
                  <a:srgbClr val="1B1F24"/>
                </a:solidFill>
                <a:latin typeface="Consolas"/>
              </a:rPr>
              <a:t>out_norm</a:t>
            </a:r>
            <a:r>
              <a:rPr sz="997" dirty="0">
                <a:solidFill>
                  <a:srgbClr val="1B1F24"/>
                </a:solidFill>
                <a:latin typeface="Consolas"/>
              </a:rPr>
              <a:t>": false, "</a:t>
            </a:r>
            <a:r>
              <a:rPr sz="997" dirty="0" err="1">
                <a:solidFill>
                  <a:srgbClr val="1B1F24"/>
                </a:solidFill>
                <a:latin typeface="Consolas"/>
              </a:rPr>
              <a:t>dynamic_threshold</a:t>
            </a:r>
            <a:r>
              <a:rPr sz="997" dirty="0">
                <a:solidFill>
                  <a:srgbClr val="1B1F24"/>
                </a:solidFill>
                <a:latin typeface="Consolas"/>
              </a:rPr>
              <a:t>": 0.0, "blocks": 1},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97" dirty="0">
                <a:solidFill>
                  <a:srgbClr val="1B1F24"/>
                </a:solidFill>
                <a:latin typeface="Consolas"/>
              </a:rPr>
              <a:t> "dataset": {"name": "...", "splits": {"train": 6471, "</a:t>
            </a:r>
            <a:r>
              <a:rPr sz="997" dirty="0" err="1">
                <a:solidFill>
                  <a:srgbClr val="1B1F24"/>
                </a:solidFill>
                <a:latin typeface="Consolas"/>
              </a:rPr>
              <a:t>val</a:t>
            </a:r>
            <a:r>
              <a:rPr sz="997" dirty="0">
                <a:solidFill>
                  <a:srgbClr val="1B1F24"/>
                </a:solidFill>
                <a:latin typeface="Consolas"/>
              </a:rPr>
              <a:t>": 548}},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97" dirty="0">
                <a:solidFill>
                  <a:srgbClr val="1B1F24"/>
                </a:solidFill>
                <a:latin typeface="Consolas"/>
              </a:rPr>
              <a:t> "hardware": {"</a:t>
            </a:r>
            <a:r>
              <a:rPr sz="997" dirty="0" err="1">
                <a:solidFill>
                  <a:srgbClr val="1B1F24"/>
                </a:solidFill>
                <a:latin typeface="Consolas"/>
              </a:rPr>
              <a:t>gpu</a:t>
            </a:r>
            <a:r>
              <a:rPr sz="997" dirty="0">
                <a:solidFill>
                  <a:srgbClr val="1B1F24"/>
                </a:solidFill>
                <a:latin typeface="Consolas"/>
              </a:rPr>
              <a:t>": "...", "torch": "..."},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97" dirty="0">
                <a:solidFill>
                  <a:srgbClr val="1B1F24"/>
                </a:solidFill>
                <a:latin typeface="Consolas"/>
              </a:rPr>
              <a:t> "budget": {"epochs": 120, "batch": 32, "</a:t>
            </a:r>
            <a:r>
              <a:rPr sz="997" dirty="0" err="1">
                <a:solidFill>
                  <a:srgbClr val="1B1F24"/>
                </a:solidFill>
                <a:latin typeface="Consolas"/>
              </a:rPr>
              <a:t>imgsz</a:t>
            </a:r>
            <a:r>
              <a:rPr sz="997" dirty="0">
                <a:solidFill>
                  <a:srgbClr val="1B1F24"/>
                </a:solidFill>
                <a:latin typeface="Consolas"/>
              </a:rPr>
              <a:t>": 800,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97" dirty="0">
                <a:solidFill>
                  <a:srgbClr val="1B1F24"/>
                </a:solidFill>
                <a:latin typeface="Consolas"/>
              </a:rPr>
              <a:t>            "amp": true, "</a:t>
            </a:r>
            <a:r>
              <a:rPr sz="997" dirty="0" err="1">
                <a:solidFill>
                  <a:srgbClr val="1B1F24"/>
                </a:solidFill>
                <a:latin typeface="Consolas"/>
              </a:rPr>
              <a:t>amp_at_end</a:t>
            </a:r>
            <a:r>
              <a:rPr sz="997" dirty="0">
                <a:solidFill>
                  <a:srgbClr val="1B1F24"/>
                </a:solidFill>
                <a:latin typeface="Consolas"/>
              </a:rPr>
              <a:t>": false, "</a:t>
            </a:r>
            <a:r>
              <a:rPr sz="997" dirty="0" err="1">
                <a:solidFill>
                  <a:srgbClr val="1B1F24"/>
                </a:solidFill>
                <a:latin typeface="Consolas"/>
              </a:rPr>
              <a:t>gpu_hours</a:t>
            </a:r>
            <a:r>
              <a:rPr sz="997" dirty="0">
                <a:solidFill>
                  <a:srgbClr val="1B1F24"/>
                </a:solidFill>
                <a:latin typeface="Consolas"/>
              </a:rPr>
              <a:t>": 10.75},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97" dirty="0">
                <a:solidFill>
                  <a:srgbClr val="1B1F24"/>
                </a:solidFill>
                <a:latin typeface="Consolas"/>
              </a:rPr>
              <a:t> "seed": 0, "metrics": {...}, "params": 2814406,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97" dirty="0">
                <a:solidFill>
                  <a:srgbClr val="1B1F24"/>
                </a:solidFill>
                <a:latin typeface="Consolas"/>
              </a:rPr>
              <a:t> "artifact": {"path": "...", "sha256": "..."}}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043088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scripts/train.py 每跑完一条就写一条；任务书附录 B 要求的字段逐项对得上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84848" y="153619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00" b="1">
                <a:solidFill>
                  <a:srgbClr val="B3272D"/>
                </a:solidFill>
                <a:latin typeface="Microsoft YaHei"/>
              </a:rPr>
              <a:t>199 条记录，其中 142 条满协议。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300" b="1">
              <a:solidFill>
                <a:srgbClr val="B3272D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三个字段是后来加的，都是被现实逼出来的：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30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00" b="1">
                <a:solidFill>
                  <a:srgbClr val="B3272D"/>
                </a:solidFill>
                <a:latin typeface="Microsoft YaHei"/>
              </a:rPr>
              <a:t>amp_at_end</a:t>
            </a:r>
            <a:r>
              <a:rPr sz="1300" b="0">
                <a:solidFill>
                  <a:srgbClr val="1B1F24"/>
                </a:solidFill>
                <a:latin typeface="Microsoft YaHei"/>
              </a:rPr>
              <a:t>
训练器可能中途关掉混合精度，</a:t>
            </a:r>
            <a:r>
              <a:rPr sz="1250" b="0">
                <a:solidFill>
                  <a:srgbClr val="1B1F24"/>
                </a:solidFill>
                <a:latin typeface="Consolas"/>
              </a:rPr>
              <a:t>args.amp</a:t>
            </a:r>
            <a:r>
              <a:rPr sz="1300" b="0">
                <a:solidFill>
                  <a:srgbClr val="1B1F24"/>
                </a:solidFill>
                <a:latin typeface="Microsoft YaHei"/>
              </a:rPr>
              <a:t> 不会变；只有读训练器状态才知道。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00" b="1">
                <a:solidFill>
                  <a:srgbClr val="B3272D"/>
                </a:solidFill>
                <a:latin typeface="Microsoft YaHei"/>
              </a:rPr>
              <a:t>batch_at_end</a:t>
            </a:r>
            <a:r>
              <a:rPr sz="1300" b="0">
                <a:solidFill>
                  <a:srgbClr val="1B1F24"/>
                </a:solidFill>
                <a:latin typeface="Microsoft YaHei"/>
              </a:rPr>
              <a:t>
首轮显存不足时 ultralytics 会自动把 batch 减半，那一轮就不是同一个实验了。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00" b="1">
                <a:solidFill>
                  <a:srgbClr val="B3272D"/>
                </a:solidFill>
                <a:latin typeface="Microsoft YaHei"/>
              </a:rPr>
              <a:t>epochs_replayed</a:t>
            </a:r>
            <a:r>
              <a:rPr sz="1300" b="0">
                <a:solidFill>
                  <a:srgbClr val="1B1F24"/>
                </a:solidFill>
                <a:latin typeface="Microsoft YaHei"/>
              </a:rPr>
              <a:t>
上游会回滚重跑某一轮，不记下来就对不上时间。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第三章 · 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为什么要再测一遍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第三章　我们的包：逐处讲</a:t>
            </a:r>
            <a:r>
              <a:rPr sz="950">
                <a:solidFill>
                  <a:srgbClr val="667085"/>
                </a:solidFill>
                <a:latin typeface="Consolas"/>
              </a:rPr>
              <a:t>　·　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3619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0">
                <a:solidFill>
                  <a:srgbClr val="1B1F24"/>
                </a:solidFill>
                <a:latin typeface="Microsoft YaHei"/>
              </a:rPr>
              <a:t>训练曲线上的指标，是</a:t>
            </a:r>
            <a:r>
              <a:rPr sz="1450" b="1">
                <a:solidFill>
                  <a:srgbClr val="1B1F24"/>
                </a:solidFill>
                <a:latin typeface="Microsoft YaHei"/>
              </a:rPr>
              <a:t>各自的训练器</a:t>
            </a:r>
            <a:r>
              <a:rPr sz="1450" b="0">
                <a:solidFill>
                  <a:srgbClr val="1B1F24"/>
                </a:solidFill>
                <a:latin typeface="Microsoft YaHei"/>
              </a:rPr>
              <a:t>测出来的：两个框架的验证实现不同，不该直接相减。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1">
                <a:solidFill>
                  <a:srgbClr val="B3272D"/>
                </a:solidFill>
                <a:latin typeface="Microsoft YaHei"/>
              </a:rPr>
              <a:t>scripts/measure.py</a:t>
            </a:r>
            <a:r>
              <a:rPr sz="1450" b="0">
                <a:solidFill>
                  <a:srgbClr val="1B1F24"/>
                </a:solidFill>
                <a:latin typeface="Microsoft YaHei"/>
              </a:rPr>
              <a:t>　按各 run 自己的配置重建模型 → 装回它 </a:t>
            </a:r>
            <a:r>
              <a:rPr sz="1400" b="0">
                <a:solidFill>
                  <a:srgbClr val="1B1F24"/>
                </a:solidFill>
                <a:latin typeface="Consolas"/>
              </a:rPr>
              <a:t>last.pt</a:t>
            </a:r>
            <a:r>
              <a:rPr sz="1450" b="0">
                <a:solidFill>
                  <a:srgbClr val="1B1F24"/>
                </a:solidFill>
                <a:latin typeface="Microsoft YaHei"/>
              </a:rPr>
              <a:t> 里的 EMA 权重 → 用同一套验证参数各测一遍。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0">
                <a:solidFill>
                  <a:srgbClr val="1B1F24"/>
                </a:solidFill>
                <a:latin typeface="Microsoft YaHei"/>
              </a:rPr>
              <a:t>取 </a:t>
            </a:r>
            <a:r>
              <a:rPr sz="1400" b="0">
                <a:solidFill>
                  <a:srgbClr val="1B1F24"/>
                </a:solidFill>
                <a:latin typeface="Consolas"/>
              </a:rPr>
              <a:t>last.pt</a:t>
            </a:r>
            <a:r>
              <a:rPr sz="1450" b="0">
                <a:solidFill>
                  <a:srgbClr val="1B1F24"/>
                </a:solidFill>
                <a:latin typeface="Microsoft YaHei"/>
              </a:rPr>
              <a:t> 而不是 </a:t>
            </a:r>
            <a:r>
              <a:rPr sz="1400" b="0">
                <a:solidFill>
                  <a:srgbClr val="1B1F24"/>
                </a:solidFill>
                <a:latin typeface="Consolas"/>
              </a:rPr>
              <a:t>best.pt</a:t>
            </a:r>
            <a:r>
              <a:rPr sz="1450" b="0">
                <a:solidFill>
                  <a:srgbClr val="1B1F24"/>
                </a:solidFill>
                <a:latin typeface="Microsoft YaHei"/>
              </a:rPr>
              <a:t>：四臂都 </a:t>
            </a:r>
            <a:r>
              <a:rPr sz="1400" b="0">
                <a:solidFill>
                  <a:srgbClr val="1B1F24"/>
                </a:solidFill>
                <a:latin typeface="Consolas"/>
              </a:rPr>
              <a:t>patience=0</a:t>
            </a:r>
            <a:r>
              <a:rPr sz="1450" b="0">
                <a:solidFill>
                  <a:srgbClr val="1B1F24"/>
                </a:solidFill>
                <a:latin typeface="Microsoft YaHei"/>
              </a:rPr>
              <a:t> 跑满 120 轮，末轮权重可比；而 B 臂的 </a:t>
            </a:r>
            <a:r>
              <a:rPr sz="1400" b="0">
                <a:solidFill>
                  <a:srgbClr val="1B1F24"/>
                </a:solidFill>
                <a:latin typeface="Consolas"/>
              </a:rPr>
              <a:t>best</a:t>
            </a:r>
            <a:r>
              <a:rPr sz="1450" b="0">
                <a:solidFill>
                  <a:srgbClr val="1B1F24"/>
                </a:solidFill>
                <a:latin typeface="Microsoft YaHei"/>
              </a:rPr>
              <a:t> 曾由那个坏掉的验证指标挑出。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0">
                <a:solidFill>
                  <a:srgbClr val="1B1F24"/>
                </a:solidFill>
                <a:latin typeface="Microsoft YaHei"/>
              </a:rPr>
              <a:t>记录本身不改写——训练器当时测到的值留在 </a:t>
            </a:r>
            <a:r>
              <a:rPr sz="1400" b="0">
                <a:solidFill>
                  <a:srgbClr val="1B1F24"/>
                </a:solidFill>
                <a:latin typeface="Consolas"/>
              </a:rPr>
              <a:t>metrics_by_trainer</a:t>
            </a:r>
            <a:r>
              <a:rPr sz="1450" b="0">
                <a:solidFill>
                  <a:srgbClr val="1B1F24"/>
                </a:solidFill>
                <a:latin typeface="Microsoft YaHei"/>
              </a:rPr>
              <a:t> 里，谁都能对照。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4462272"/>
            <a:ext cx="3551834" cy="118872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同一份权重重复测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差约 0.0002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9930" y="4462272"/>
            <a:ext cx="3551834" cy="118872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验证集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548 张图、38759 个实例，三张卡一致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72932" y="4462272"/>
            <a:ext cx="3551834" cy="118872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评测参数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imgsz 800、batch 16、不用半精度、同一份 data yaml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第三章 · 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分组键里有什么，决定了哪些运行会被当成「同一格」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第三章　我们的包：逐处讲</a:t>
            </a:r>
            <a:r>
              <a:rPr sz="950">
                <a:solidFill>
                  <a:srgbClr val="667085"/>
                </a:solidFill>
                <a:latin typeface="Consolas"/>
              </a:rPr>
              <a:t>　·　60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10607040" cy="1553845"/>
          </a:xfrm>
          <a:prstGeom prst="roundRect">
            <a:avLst>
              <a:gd name="adj" fmla="val 9074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dirty="0">
                <a:solidFill>
                  <a:srgbClr val="1B1F24"/>
                </a:solidFill>
                <a:latin typeface="Consolas"/>
              </a:rPr>
              <a:t>variant = </a:t>
            </a:r>
            <a:r>
              <a:rPr sz="1300" dirty="0" err="1">
                <a:solidFill>
                  <a:srgbClr val="1B1F24"/>
                </a:solidFill>
                <a:latin typeface="Consolas"/>
              </a:rPr>
              <a:t>主干</a:t>
            </a:r>
            <a:r>
              <a:rPr sz="1300" dirty="0">
                <a:solidFill>
                  <a:srgbClr val="1B1F24"/>
                </a:solidFill>
                <a:latin typeface="Consolas"/>
              </a:rPr>
              <a:t> - </a:t>
            </a:r>
            <a:r>
              <a:rPr sz="1300" dirty="0" err="1">
                <a:solidFill>
                  <a:srgbClr val="1B1F24"/>
                </a:solidFill>
                <a:latin typeface="Consolas"/>
              </a:rPr>
              <a:t>块配置</a:t>
            </a:r>
            <a:r>
              <a:rPr sz="1300" dirty="0">
                <a:solidFill>
                  <a:srgbClr val="1B1F24"/>
                </a:solidFill>
                <a:latin typeface="Consolas"/>
              </a:rPr>
              <a:t> @ </a:t>
            </a:r>
            <a:r>
              <a:rPr sz="1300" dirty="0" err="1">
                <a:solidFill>
                  <a:srgbClr val="1B1F24"/>
                </a:solidFill>
                <a:latin typeface="Consolas"/>
              </a:rPr>
              <a:t>预算</a:t>
            </a:r>
            <a:r>
              <a:rPr sz="1300" dirty="0">
                <a:solidFill>
                  <a:srgbClr val="1B1F24"/>
                </a:solidFill>
                <a:latin typeface="Consolas"/>
              </a:rPr>
              <a:t> [ </a:t>
            </a:r>
            <a:r>
              <a:rPr sz="1300" dirty="0" err="1">
                <a:solidFill>
                  <a:srgbClr val="1B1F24"/>
                </a:solidFill>
                <a:latin typeface="Consolas"/>
              </a:rPr>
              <a:t>硬件栈</a:t>
            </a:r>
            <a:r>
              <a:rPr sz="1300" dirty="0">
                <a:solidFill>
                  <a:srgbClr val="1B1F24"/>
                </a:solidFill>
                <a:latin typeface="Consolas"/>
              </a:rPr>
              <a:t> ]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endParaRPr sz="1300" dirty="0">
              <a:solidFill>
                <a:srgbClr val="1B1F24"/>
              </a:solidFill>
              <a:latin typeface="Consolas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dirty="0" err="1">
                <a:solidFill>
                  <a:srgbClr val="1B1F24"/>
                </a:solidFill>
                <a:latin typeface="Consolas"/>
              </a:rPr>
              <a:t>块配置：专家数</a:t>
            </a:r>
            <a:r>
              <a:rPr sz="1300" dirty="0">
                <a:solidFill>
                  <a:srgbClr val="1B1F24"/>
                </a:solidFill>
                <a:latin typeface="Consolas"/>
              </a:rPr>
              <a:t> / top-k / </a:t>
            </a:r>
            <a:r>
              <a:rPr sz="1300" dirty="0" err="1">
                <a:solidFill>
                  <a:srgbClr val="1B1F24"/>
                </a:solidFill>
                <a:latin typeface="Consolas"/>
              </a:rPr>
              <a:t>辅助权重</a:t>
            </a:r>
            <a:r>
              <a:rPr sz="1300" dirty="0">
                <a:solidFill>
                  <a:srgbClr val="1B1F24"/>
                </a:solidFill>
                <a:latin typeface="Consolas"/>
              </a:rPr>
              <a:t> / </a:t>
            </a:r>
            <a:r>
              <a:rPr sz="1300" dirty="0" err="1">
                <a:solidFill>
                  <a:srgbClr val="1B1F24"/>
                </a:solidFill>
                <a:latin typeface="Consolas"/>
              </a:rPr>
              <a:t>平衡项</a:t>
            </a:r>
            <a:r>
              <a:rPr sz="1300" dirty="0">
                <a:solidFill>
                  <a:srgbClr val="1B1F24"/>
                </a:solidFill>
                <a:latin typeface="Consolas"/>
              </a:rPr>
              <a:t> / rewire / </a:t>
            </a:r>
            <a:r>
              <a:rPr sz="1300" dirty="0" err="1">
                <a:solidFill>
                  <a:srgbClr val="1B1F24"/>
                </a:solidFill>
                <a:latin typeface="Consolas"/>
              </a:rPr>
              <a:t>out_norm</a:t>
            </a:r>
            <a:r>
              <a:rPr sz="1300" dirty="0">
                <a:solidFill>
                  <a:srgbClr val="1B1F24"/>
                </a:solidFill>
                <a:latin typeface="Consolas"/>
              </a:rPr>
              <a:t> / dense / </a:t>
            </a:r>
            <a:r>
              <a:rPr sz="1300" dirty="0" err="1">
                <a:solidFill>
                  <a:srgbClr val="1B1F24"/>
                </a:solidFill>
                <a:latin typeface="Consolas"/>
              </a:rPr>
              <a:t>剪枝阈值</a:t>
            </a:r>
            <a:r>
              <a:rPr sz="1300" dirty="0">
                <a:solidFill>
                  <a:srgbClr val="1B1F24"/>
                </a:solidFill>
                <a:latin typeface="Consolas"/>
              </a:rPr>
              <a:t> / </a:t>
            </a:r>
            <a:r>
              <a:rPr sz="1300" dirty="0" err="1">
                <a:solidFill>
                  <a:srgbClr val="1B1F24"/>
                </a:solidFill>
                <a:latin typeface="Consolas"/>
              </a:rPr>
              <a:t>块数</a:t>
            </a:r>
            <a:endParaRPr sz="1300" dirty="0">
              <a:solidFill>
                <a:srgbClr val="1B1F24"/>
              </a:solidFill>
              <a:latin typeface="Consolas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dirty="0" err="1">
                <a:solidFill>
                  <a:srgbClr val="1B1F24"/>
                </a:solidFill>
                <a:latin typeface="Consolas"/>
              </a:rPr>
              <a:t>预算</a:t>
            </a:r>
            <a:r>
              <a:rPr sz="1300" dirty="0">
                <a:solidFill>
                  <a:srgbClr val="1B1F24"/>
                </a:solidFill>
                <a:latin typeface="Consolas"/>
              </a:rPr>
              <a:t>：  epochs · </a:t>
            </a:r>
            <a:r>
              <a:rPr sz="1300" dirty="0" err="1">
                <a:solidFill>
                  <a:srgbClr val="1B1F24"/>
                </a:solidFill>
                <a:latin typeface="Consolas"/>
              </a:rPr>
              <a:t>数据比例</a:t>
            </a:r>
            <a:r>
              <a:rPr sz="1300" dirty="0">
                <a:solidFill>
                  <a:srgbClr val="1B1F24"/>
                </a:solidFill>
                <a:latin typeface="Consolas"/>
              </a:rPr>
              <a:t> · </a:t>
            </a:r>
            <a:r>
              <a:rPr sz="1300" dirty="0" err="1">
                <a:solidFill>
                  <a:srgbClr val="1B1F24"/>
                </a:solidFill>
                <a:latin typeface="Consolas"/>
              </a:rPr>
              <a:t>imgsz</a:t>
            </a:r>
            <a:r>
              <a:rPr sz="1300" dirty="0">
                <a:solidFill>
                  <a:srgbClr val="1B1F24"/>
                </a:solidFill>
                <a:latin typeface="Consolas"/>
              </a:rPr>
              <a:t> · 精度（fp32 </a:t>
            </a:r>
            <a:r>
              <a:rPr sz="1300" dirty="0" err="1">
                <a:solidFill>
                  <a:srgbClr val="1B1F24"/>
                </a:solidFill>
                <a:latin typeface="Consolas"/>
              </a:rPr>
              <a:t>与混合精度分开</a:t>
            </a:r>
            <a:r>
              <a:rPr sz="1300" dirty="0">
                <a:solidFill>
                  <a:srgbClr val="1B1F24"/>
                </a:solidFill>
                <a:latin typeface="Consolas"/>
              </a:rPr>
              <a:t>）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dirty="0" err="1">
                <a:solidFill>
                  <a:srgbClr val="1B1F24"/>
                </a:solidFill>
                <a:latin typeface="Consolas"/>
              </a:rPr>
              <a:t>硬件栈：GPU</a:t>
            </a:r>
            <a:r>
              <a:rPr sz="1300" dirty="0">
                <a:solidFill>
                  <a:srgbClr val="1B1F24"/>
                </a:solidFill>
                <a:latin typeface="Consolas"/>
              </a:rPr>
              <a:t> </a:t>
            </a:r>
            <a:r>
              <a:rPr sz="1300" dirty="0" err="1">
                <a:solidFill>
                  <a:srgbClr val="1B1F24"/>
                </a:solidFill>
                <a:latin typeface="Consolas"/>
              </a:rPr>
              <a:t>型号</a:t>
            </a:r>
            <a:r>
              <a:rPr sz="1300" dirty="0">
                <a:solidFill>
                  <a:srgbClr val="1B1F24"/>
                </a:solidFill>
                <a:latin typeface="Consolas"/>
              </a:rPr>
              <a:t> / </a:t>
            </a:r>
            <a:r>
              <a:rPr sz="1300" dirty="0" err="1">
                <a:solidFill>
                  <a:srgbClr val="1B1F24"/>
                </a:solidFill>
                <a:latin typeface="Consolas"/>
              </a:rPr>
              <a:t>运行时版本</a:t>
            </a:r>
            <a:r>
              <a:rPr sz="1300" dirty="0">
                <a:solidFill>
                  <a:srgbClr val="1B1F24"/>
                </a:solidFill>
                <a:latin typeface="Consolas"/>
              </a:rPr>
              <a:t> / </a:t>
            </a:r>
            <a:r>
              <a:rPr sz="1300" dirty="0" err="1">
                <a:solidFill>
                  <a:srgbClr val="1B1F24"/>
                </a:solidFill>
                <a:latin typeface="Consolas"/>
              </a:rPr>
              <a:t>训练它的框架</a:t>
            </a:r>
            <a:endParaRPr sz="1300" dirty="0">
              <a:solidFill>
                <a:srgbClr val="1B1F24"/>
              </a:solidFill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3163189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scripts/report.py：variant() 与 arm()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693541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每一项都是被现实加进去的：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1">
                <a:solidFill>
                  <a:srgbClr val="B3272D"/>
                </a:solidFill>
                <a:latin typeface="Microsoft YaHei"/>
              </a:rPr>
              <a:t>imgsz</a:t>
            </a:r>
            <a:r>
              <a:rPr sz="1350" b="0">
                <a:solidFill>
                  <a:srgbClr val="1B1F24"/>
                </a:solidFill>
                <a:latin typeface="Microsoft YaHei"/>
              </a:rPr>
              <a:t>　640 与 800 曾被平均进同一行——那正是文档承诺不会发生的事。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1">
                <a:solidFill>
                  <a:srgbClr val="B3272D"/>
                </a:solidFill>
                <a:latin typeface="Microsoft YaHei"/>
              </a:rPr>
              <a:t>硬件栈</a:t>
            </a:r>
            <a:r>
              <a:rPr sz="1350" b="0">
                <a:solidFill>
                  <a:srgbClr val="1B1F24"/>
                </a:solidFill>
                <a:latin typeface="Microsoft YaHei"/>
              </a:rPr>
              <a:t>　同一配置在两台机器上的运行，曾被当成重复样本折进同一格。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1">
                <a:solidFill>
                  <a:srgbClr val="B3272D"/>
                </a:solidFill>
                <a:latin typeface="Microsoft YaHei"/>
              </a:rPr>
              <a:t>块配置</a:t>
            </a:r>
            <a:r>
              <a:rPr sz="1350" b="0">
                <a:solidFill>
                  <a:srgbClr val="1B1F24"/>
                </a:solidFill>
                <a:latin typeface="Microsoft YaHei"/>
              </a:rPr>
              <a:t>　带输出归一化的运行不是不带的那条臂的重复。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1">
                <a:solidFill>
                  <a:srgbClr val="B3272D"/>
                </a:solidFill>
                <a:latin typeface="Microsoft YaHei"/>
              </a:rPr>
              <a:t>精度</a:t>
            </a:r>
            <a:r>
              <a:rPr sz="1350" b="0">
                <a:solidFill>
                  <a:srgbClr val="1B1F24"/>
                </a:solidFill>
                <a:latin typeface="Microsoft YaHei"/>
              </a:rPr>
              <a:t>　FP32 与混合精度是两个实验，不是一个实验的两个样本。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1">
                <a:solidFill>
                  <a:srgbClr val="B3272D"/>
                </a:solidFill>
                <a:latin typeface="Microsoft YaHei"/>
              </a:rPr>
              <a:t>规律：每次「发现两组数被错误地平均了」，就往键里加一项，并补一条测试。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第三章 · 脚本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机制分析三件套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第三章　我们的包：逐处讲</a:t>
            </a:r>
            <a:r>
              <a:rPr sz="950">
                <a:solidFill>
                  <a:srgbClr val="667085"/>
                </a:solidFill>
                <a:latin typeface="Consolas"/>
              </a:rPr>
              <a:t>　·　61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3551834" cy="192024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routing.py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在验证集上跑每个块的路由器：专家使用率、死专家、熵、top-2 组合数、与目标尺度的相关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930" y="1536192"/>
            <a:ext cx="3551834" cy="192024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buckets.py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COCO 面积分档：32² / 96²，maxDets 500
VisDrone 官方口径没有分档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72932" y="1536192"/>
            <a:ext cx="3551834" cy="192024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pressure.py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各平衡目标在同一权重下加到路由 logits 上的梯度，按各检查点实际收敛到的分布量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91363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这三件套回答的是「块到底在干什么」，而不是「块涨没涨点」。第四章里最结实的几条结论都出自它们。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0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1">
                <a:solidFill>
                  <a:srgbClr val="B3272D"/>
                </a:solidFill>
                <a:latin typeface="Microsoft YaHei"/>
              </a:rPr>
              <a:t>它们都只读检查点，不需要重训。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　任何人拿 </a:t>
            </a:r>
            <a:r>
              <a:rPr sz="1350" b="0">
                <a:solidFill>
                  <a:srgbClr val="1B1F24"/>
                </a:solidFill>
                <a:latin typeface="Consolas"/>
              </a:rPr>
              <a:t>checkpoints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 分支上的权重都能复算出同样的数字。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第三章 · 脚本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对账两件套与交付审计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第三章　我们的包：逐处讲</a:t>
            </a:r>
            <a:r>
              <a:rPr sz="950">
                <a:solidFill>
                  <a:srgbClr val="667085"/>
                </a:solidFill>
                <a:latin typeface="Consolas"/>
              </a:rPr>
              <a:t>　·　62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3551834" cy="164592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blockspec.py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从每个检查点读回它当时真正生效的块设置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9930" y="1536192"/>
            <a:ext cx="3551834" cy="164592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backfill.py --check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配置哈希、数据集划分、卡时、产物校验和，逐条补齐并复核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72932" y="1536192"/>
            <a:ext cx="3551834" cy="164592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closure.py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把交付与实验纪律逐条对着仓库证据核一遍，当前 0 项未达标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3547872"/>
          <a:ext cx="1060704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1F24"/>
                          </a:solidFill>
                          <a:latin typeface="Microsoft YaHei"/>
                        </a:rPr>
                        <a:t>criterion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1F24"/>
                          </a:solidFill>
                          <a:latin typeface="Microsoft YaHei"/>
                        </a:rPr>
                        <a:t>met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1F24"/>
                          </a:solidFill>
                          <a:latin typeface="Microsoft YaHei"/>
                        </a:rPr>
                        <a:t>evidence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provenance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yes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142 条满协议记录带版本、环境与配置哈希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controls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yes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100 条臂运行与同 seed、同卡的基线配对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statistics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yes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31 个比较格，29 个满三 seed；不满的两格已在已知局限里声明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negative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yes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11 次登记、3 条结果出来之前的更正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upstream fix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yes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#241 已合入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aux loss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yes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94 条运行优化了它；verify.json 里 10 项检查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5815584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closure.py 的输出（节选）——它读的是记录与 git 历史，不是人写的清单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第三章 · 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单测做不到的，用真训练来验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第三章　我们的包：逐处讲</a:t>
            </a:r>
            <a:r>
              <a:rPr sz="950">
                <a:solidFill>
                  <a:srgbClr val="667085"/>
                </a:solidFill>
                <a:latin typeface="Consolas"/>
              </a:rPr>
              <a:t>　·　63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36192"/>
          <a:ext cx="1097280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1F24"/>
                          </a:solidFill>
                          <a:latin typeface="Microsoft YaHei"/>
                        </a:rPr>
                        <a:t>verify.py 的十项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B1F24"/>
                          </a:solidFill>
                          <a:latin typeface="Microsoft YaHei"/>
                        </a:rPr>
                        <a:t>它在证明什么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训练日志里的辅助损失为正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平衡项真的被算了，而且进了日志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weight=0 时损失表不变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关掉它就完全不影响原有流程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检查点往返 / 断点续训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存下来的块还能加载、还能接着训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多个块一起训练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四块布局不会互相干扰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val 与 predict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推理路径没被训练期的改动带坏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ONNX 导出 / 导出后按输入路由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导出的图不会把某一次的路由固化进去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DDP 子进程 / 两个 rank 共享路由梯度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667085"/>
                          </a:solidFill>
                          <a:latin typeface="Microsoft YaHei"/>
                        </a:rPr>
                        <a:t>多卡下块名与配方都能自动恢复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27939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每项打印 PASS / FAIL 与背后的观测值，写进 </a:t>
            </a:r>
            <a:r>
              <a:rPr sz="1300" b="0">
                <a:solidFill>
                  <a:srgbClr val="1B1F24"/>
                </a:solidFill>
                <a:latin typeface="Consolas"/>
              </a:rPr>
              <a:t>results/verify.json</a:t>
            </a:r>
            <a:r>
              <a:rPr sz="1350" b="0">
                <a:solidFill>
                  <a:srgbClr val="1B1F24"/>
                </a:solidFill>
                <a:latin typeface="Microsoft YaHei"/>
              </a:rPr>
              <a:t>，任何人都能重跑。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3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1">
                <a:solidFill>
                  <a:srgbClr val="B3272D"/>
                </a:solidFill>
                <a:latin typeface="Microsoft YaHei"/>
              </a:rPr>
              <a:t>加上 319 项单元测试：其中对上游的比对测试，是把上游的算子按它的源码重写一遍再逐位比，不是 import 过来。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这样一来，上游哪天改了实现，我们的测试会亮红灯——而不是跟着一起变。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第三章 · 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CI 与文档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第三章　我们的包：逐处讲</a:t>
            </a:r>
            <a:r>
              <a:rPr sz="950">
                <a:solidFill>
                  <a:srgbClr val="667085"/>
                </a:solidFill>
                <a:latin typeface="Consolas"/>
              </a:rPr>
              <a:t>　·　64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2613583" cy="137160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测试矩阵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两个 ultralytics 版本 × 多个 Python 版本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1679" y="1536192"/>
            <a:ext cx="2613583" cy="137160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文档站严格构建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任何坏链接或语言泄漏都让流水线失败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6430" y="1536192"/>
            <a:ext cx="2613583" cy="137160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CodeQL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代码扫描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11181" y="1536192"/>
            <a:ext cx="2613583" cy="137160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发布金丝雀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每月两次，在干净环境里装 PyPI 上的包跑文档里的快速上手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36499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文档站九页、中英双语：快速上手、API、选型、已知局限、判读线、实验结果、效果图、发布说明。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图表由脚本从运行记录重算，所以图与表不会对不上。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wiki 放的是「怎么复现」与「数据留存」；上游讨论 #276 放结项材料。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一条自我要求：</a:t>
            </a:r>
            <a:r>
              <a:rPr sz="1350" b="1">
                <a:solidFill>
                  <a:srgbClr val="B3272D"/>
                </a:solidFill>
                <a:latin typeface="Microsoft YaHei"/>
              </a:rPr>
              <a:t>文档里每个数字都要能指回某个脚本的输出，指不回去的就删掉。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350" b="1">
              <a:solidFill>
                <a:srgbClr val="B3272D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包与工程讲完了。最后一章把这些脚本跑出来的数字摆出来：测到了什么，以及哪些没测到。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377440"/>
            <a:ext cx="11057839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600" b="0">
                <a:solidFill>
                  <a:srgbClr val="1F8A80"/>
                </a:solidFill>
                <a:latin typeface="Microsoft YaHei"/>
              </a:rPr>
              <a:t>第四章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788920"/>
            <a:ext cx="11057839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800" b="0">
                <a:solidFill>
                  <a:srgbClr val="1B1F24"/>
                </a:solidFill>
                <a:latin typeface="Microsoft YaHei"/>
              </a:rPr>
              <a:t>实验与数据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931920"/>
            <a:ext cx="8229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</a:pPr>
            <a:r>
              <a:rPr sz="1450" b="0">
                <a:solidFill>
                  <a:srgbClr val="667085"/>
                </a:solidFill>
                <a:latin typeface="Microsoft YaHei"/>
              </a:rPr>
              <a:t>199 条记录、142 条满协议运行、八轮判读线。这一章只讲测出了什么，以及哪些没测出来。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第四章 · 怎么测的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协议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第四章　实验与数据</a:t>
            </a:r>
            <a:r>
              <a:rPr sz="950">
                <a:solidFill>
                  <a:srgbClr val="667085"/>
                </a:solidFill>
                <a:latin typeface="Consolas"/>
              </a:rPr>
              <a:t>　·　66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2613583" cy="146304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数据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VisDrone2019-DET 全量：train 6471 / val 548，10 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1679" y="1536192"/>
            <a:ext cx="2613583" cy="146304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预算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imgsz 800、120 epoch、batch 32、patience 0，其余取默认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6430" y="1536192"/>
            <a:ext cx="2613583" cy="146304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配对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开关两臂同 seed、同卡，比的是配对差值而不是两组均值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11181" y="1536192"/>
            <a:ext cx="2613583" cy="146304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重复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每格三个 seed 起（v10n 五个）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45643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为什么强调「同卡」：同一配置换一台机器跑，结果会差——我们实测过，所以分组键里带硬件栈，配对也只在卡内做。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0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为什么强调「配对差」：两组均值会被 seed 的离散度淹没；配对差消掉了 seed 本身的影响。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0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1">
                <a:solidFill>
                  <a:srgbClr val="B3272D"/>
                </a:solidFill>
                <a:latin typeface="Microsoft YaHei"/>
              </a:rPr>
              <a:t>三个 seed 不支持显著性检验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（3/3 全胜时符号检验 p = 0.125），所以本章任何「有效」都只写成方向一致的小幅改善。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第四章 · 主结果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七代主干：效应按主干末端分组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第四章　实验与数据</a:t>
            </a:r>
            <a:r>
              <a:rPr sz="950">
                <a:solidFill>
                  <a:srgbClr val="667085"/>
                </a:solidFill>
                <a:latin typeface="Consolas"/>
              </a:rPr>
              <a:t>　·　67</a:t>
            </a:r>
          </a:p>
        </p:txBody>
      </p:sp>
      <p:pic>
        <p:nvPicPr>
          <p:cNvPr id="5" name="Picture 4" descr="generation-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687" y="1536192"/>
            <a:ext cx="7132320" cy="35719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217866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SPPF 结尾的三代为正；末端换成注意力块之后贴零；E2E 头转负。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1">
                <a:solidFill>
                  <a:srgbClr val="B3272D"/>
                </a:solidFill>
                <a:latin typeface="Microsoft YaHei"/>
              </a:rPr>
              <a:t>按版本号排并不单调</a:t>
            </a:r>
            <a:r>
              <a:rPr sz="1350" b="0">
                <a:solidFill>
                  <a:srgbClr val="1B1F24"/>
                </a:solidFill>
                <a:latin typeface="Microsoft YaHei"/>
              </a:rPr>
              <a:t>：v10n（−0.0002）低于 11n（+0.0013）。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第四章 · 主结果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对照臂：上游的每一处默认，单独测一遍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第四章　实验与数据</a:t>
            </a:r>
            <a:r>
              <a:rPr sz="950">
                <a:solidFill>
                  <a:srgbClr val="667085"/>
                </a:solidFill>
                <a:latin typeface="Consolas"/>
              </a:rPr>
              <a:t>　·　68</a:t>
            </a:r>
          </a:p>
        </p:txBody>
      </p:sp>
      <p:pic>
        <p:nvPicPr>
          <p:cNvPr id="5" name="Picture 4" descr="alignment-a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487" y="1536192"/>
            <a:ext cx="8046720" cy="37049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285231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上游块内的两个默认（输出归一化、训练期跑满专家）在 v5n 上都是 3/3 为正——它们不是无谓的复杂度。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00" b="1">
                <a:solidFill>
                  <a:srgbClr val="B3272D"/>
                </a:solidFill>
                <a:latin typeface="Microsoft YaHei"/>
              </a:rPr>
              <a:t>四块布局在本包默认配方下两个主干 9 个 seed 全负；</a:t>
            </a:r>
            <a:r>
              <a:rPr sz="1300" b="0">
                <a:solidFill>
                  <a:srgbClr val="1B1F24"/>
                </a:solidFill>
                <a:latin typeface="Microsoft YaHei"/>
              </a:rPr>
              <a:t>每块权重降到四分之一、辅助损失总量对齐单块后仍然全负：差在块数，不在平衡压力。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第四章 · 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塌缩分两层：分派集中，和专家死掉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第四章　实验与数据</a:t>
            </a:r>
            <a:r>
              <a:rPr sz="950">
                <a:solidFill>
                  <a:srgbClr val="667085"/>
                </a:solidFill>
                <a:latin typeface="Consolas"/>
              </a:rPr>
              <a:t>　·　69</a:t>
            </a:r>
          </a:p>
        </p:txBody>
      </p:sp>
      <p:pic>
        <p:nvPicPr>
          <p:cNvPr id="5" name="Picture 4" descr="dead-exp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10512"/>
            <a:ext cx="6035040" cy="22625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50608" y="153619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1">
                <a:solidFill>
                  <a:srgbClr val="B3272D"/>
                </a:solidFill>
                <a:latin typeface="Microsoft YaHei"/>
              </a:rPr>
              <a:t>第一层：分派集中。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主导专家吃下 0.47–0.94 的 top-1 选择。但它不预测精度——81 个运行上相关系数 r = +0.044。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2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1">
                <a:solidFill>
                  <a:srgbClr val="B3272D"/>
                </a:solidFill>
                <a:latin typeface="Microsoft YaHei"/>
              </a:rPr>
              <a:t>第二层：专家死掉。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进入 top-2 的验证图不足 1%，就再也拿不到梯度。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2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去掉平衡项：6 个检查点全部死掉两个专家。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权重 0.01 的 Switch 项：66 个检查点一个都没有。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读门控的目标（上游、论文）：6 个里 5 个有死专家。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347357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左图是第七轮 B 臂的三个检查点：四个块里三个各有死专家，块 3 三次都没有。路由概率的熵是最大值的 98.5%（几乎均匀），而 top-2 组合恒定——概率均匀掩盖了分派塌缩。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第四章 · 与上游对照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先复核一遍：他们发布的模型，我们能不能装起来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第四章　实验与数据</a:t>
            </a:r>
            <a:r>
              <a:rPr sz="950">
                <a:solidFill>
                  <a:srgbClr val="667085"/>
                </a:solidFill>
                <a:latin typeface="Consolas"/>
              </a:rPr>
              <a:t>　·　70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36192"/>
          <a:ext cx="950976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1F24"/>
                          </a:solidFill>
                          <a:latin typeface="Microsoft YaHei"/>
                        </a:rPr>
                        <a:t>COCO val2017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1F24"/>
                          </a:solidFill>
                          <a:latin typeface="Microsoft YaHei"/>
                        </a:rPr>
                        <a:t>YOLO-Master 分支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1F24"/>
                          </a:solidFill>
                          <a:latin typeface="Microsoft YaHei"/>
                        </a:rPr>
                        <a:t>官方 Ultralytics + 本包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Microsoft YaHei"/>
                        </a:rPr>
                        <a:t>precision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Consolas"/>
                        </a:rPr>
                        <a:t>0.68425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Consolas"/>
                        </a:rPr>
                        <a:t>0.68425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Microsoft YaHei"/>
                        </a:rPr>
                        <a:t>recall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Consolas"/>
                        </a:rPr>
                        <a:t>0.53357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Consolas"/>
                        </a:rPr>
                        <a:t>0.53357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Microsoft YaHei"/>
                        </a:rPr>
                        <a:t>mAP50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Consolas"/>
                        </a:rPr>
                        <a:t>0.58532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Consolas"/>
                        </a:rPr>
                        <a:t>0.58532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Microsoft YaHei"/>
                        </a:rPr>
                        <a:t>mAP50-95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Consolas"/>
                        </a:rPr>
                        <a:t>0.42288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Consolas"/>
                        </a:rPr>
                        <a:t>0.42288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Microsoft YaHei"/>
                        </a:rPr>
                        <a:t>参数量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Consolas"/>
                        </a:rPr>
                        <a:t>2,694,364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667085"/>
                          </a:solidFill>
                          <a:latin typeface="Consolas"/>
                        </a:rPr>
                        <a:t>2,694,364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391363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把发布权重装进本包的块，四项指标逐位一致。这说明块的前向在数值上就是同一个东西。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0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顺带一条供上游参考：</a:t>
            </a:r>
            <a:r>
              <a:rPr sz="1400" b="1">
                <a:solidFill>
                  <a:srgbClr val="B3272D"/>
                </a:solidFill>
                <a:latin typeface="Microsoft YaHei"/>
              </a:rPr>
              <a:t>发布的这个模型是每块 3 专家、top-3 全开，与仓库 yaml 在当前代码下建出的 4 专家 top-2 不是同一个配置。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第四章 · 与上游对照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第七轮：同一个模型，两个框架各训一遍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第四章　实验与数据</a:t>
            </a:r>
            <a:r>
              <a:rPr sz="950">
                <a:solidFill>
                  <a:srgbClr val="667085"/>
                </a:solidFill>
                <a:latin typeface="Consolas"/>
              </a:rPr>
              <a:t>　·　71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36192"/>
          <a:ext cx="10972799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臂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框架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模型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训练方式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上游分支（锁定 acce839c）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它自己的 yolo-master-n，四个 ES_MOE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上游默认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A0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上游分支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同一模型去掉四个块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上游默认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官方 8.4.101 + 本包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同一模型，四个 ESMoE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复刻上游配方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官方 8.4.101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同一模型去掉四个块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默认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336499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每个 seed 的四臂在同一张卡上。A 与 B 逐层参数一致（2,814,406），两条基线一致（2,291,406）。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0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两个问题：</a:t>
            </a:r>
            <a:r>
              <a:rPr sz="1400" b="1">
                <a:solidFill>
                  <a:srgbClr val="1B1F24"/>
                </a:solidFill>
                <a:latin typeface="Microsoft YaHei"/>
              </a:rPr>
              <a:t>两个实现是不是一回事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（A − B），以及</a:t>
            </a:r>
            <a:r>
              <a:rPr sz="1400" b="1">
                <a:solidFill>
                  <a:srgbClr val="1B1F24"/>
                </a:solidFill>
                <a:latin typeface="Microsoft YaHei"/>
              </a:rPr>
              <a:t>同样的块在两个框架里是不是同样的作用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（差之差）。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0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1">
                <a:solidFill>
                  <a:srgbClr val="B3272D"/>
                </a:solidFill>
                <a:latin typeface="Microsoft YaHei"/>
              </a:rPr>
              <a:t>四条预测在开跑前就登记了。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　第八轮把四臂都换成 FP32，摘掉 A − B 里的精度混杂。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第四章 · 与上游对照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第七轮的结果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第四章　实验与数据</a:t>
            </a:r>
            <a:r>
              <a:rPr sz="950">
                <a:solidFill>
                  <a:srgbClr val="667085"/>
                </a:solidFill>
                <a:latin typeface="Consolas"/>
              </a:rPr>
              <a:t>　·　72</a:t>
            </a:r>
          </a:p>
        </p:txBody>
      </p:sp>
      <p:pic>
        <p:nvPicPr>
          <p:cNvPr id="5" name="Picture 4" descr="same-config-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808" y="1536192"/>
            <a:ext cx="7498079" cy="39196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46811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三个 seed，四臂逐一重测。A0 在每个 seed 上都低于 C，差 0.0055 至 0.0084；两条带块的臂都高于各自的基线。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第四章 · 与上游对照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把它读成四条配对差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第四章　实验与数据</a:t>
            </a:r>
            <a:r>
              <a:rPr sz="950">
                <a:solidFill>
                  <a:srgbClr val="667085"/>
                </a:solidFill>
                <a:latin typeface="Consolas"/>
              </a:rPr>
              <a:t>　·　73</a:t>
            </a:r>
          </a:p>
        </p:txBody>
      </p:sp>
      <p:pic>
        <p:nvPicPr>
          <p:cNvPr id="5" name="Picture 4" descr="same-config-d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927" y="1536192"/>
            <a:ext cx="7863840" cy="32683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491947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00" b="1">
                <a:solidFill>
                  <a:srgbClr val="B3272D"/>
                </a:solidFill>
                <a:latin typeface="Microsoft YaHei"/>
              </a:rPr>
              <a:t>A − A0 与 B − C 都为正、都 3/3、区间都不跨零：</a:t>
            </a:r>
            <a:r>
              <a:rPr sz="1300" b="0">
                <a:solidFill>
                  <a:srgbClr val="1B1F24"/>
                </a:solidFill>
                <a:latin typeface="Microsoft YaHei"/>
              </a:rPr>
              <a:t>块在两个框架里都有效。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00" b="1">
                <a:solidFill>
                  <a:srgbClr val="B3272D"/>
                </a:solidFill>
                <a:latin typeface="Microsoft YaHei"/>
              </a:rPr>
              <a:t>差之差落在噪声带内：</a:t>
            </a:r>
            <a:r>
              <a:rPr sz="1300" b="0">
                <a:solidFill>
                  <a:srgbClr val="1B1F24"/>
                </a:solidFill>
                <a:latin typeface="Microsoft YaHei"/>
              </a:rPr>
              <a:t>两边加的量一样多——这就是「同样的块在两个框架里作用一致」。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00" b="1">
                <a:solidFill>
                  <a:srgbClr val="B3272D"/>
                </a:solidFill>
                <a:latin typeface="Microsoft YaHei"/>
              </a:rPr>
              <a:t>A − B 跨在两条判读线之间，记为无法判定，</a:t>
            </a:r>
            <a:r>
              <a:rPr sz="1300" b="0">
                <a:solidFill>
                  <a:srgbClr val="1B1F24"/>
                </a:solidFill>
                <a:latin typeface="Microsoft YaHei"/>
              </a:rPr>
              <a:t>　并且含一项混杂：A、A0 在第 1 轮就被上游训练器关成 FP32，B、C 是混合精度。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第四章 · 与上游对照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第七轮的分档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第四章　实验与数据</a:t>
            </a:r>
            <a:r>
              <a:rPr sz="950">
                <a:solidFill>
                  <a:srgbClr val="667085"/>
                </a:solidFill>
                <a:latin typeface="Consolas"/>
              </a:rPr>
              <a:t>　·　74</a:t>
            </a:r>
          </a:p>
        </p:txBody>
      </p:sp>
      <p:pic>
        <p:nvPicPr>
          <p:cNvPr id="5" name="Picture 4" descr="buckets-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36192"/>
            <a:ext cx="6766560" cy="34406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99248" y="1536192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1">
                <a:solidFill>
                  <a:srgbClr val="B3272D"/>
                </a:solidFill>
                <a:latin typeface="Microsoft YaHei"/>
              </a:rPr>
              <a:t>两个框架里，块都让各档齐涨，</a:t>
            </a:r>
            <a:r>
              <a:rPr sz="1250" b="0">
                <a:solidFill>
                  <a:srgbClr val="1B1F24"/>
                </a:solidFill>
                <a:latin typeface="Microsoft YaHei"/>
              </a:rPr>
              <a:t>大目标涨得最多。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2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第七轮里小目标的增益最小，这与论文说本设计利好小目标不一致。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第四章 · 与上游对照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训练成本：两轮分开看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第四章　实验与数据</a:t>
            </a:r>
            <a:r>
              <a:rPr sz="950">
                <a:solidFill>
                  <a:srgbClr val="667085"/>
                </a:solidFill>
                <a:latin typeface="Consolas"/>
              </a:rPr>
              <a:t>　·　75</a:t>
            </a:r>
          </a:p>
        </p:txBody>
      </p:sp>
      <p:pic>
        <p:nvPicPr>
          <p:cNvPr id="5" name="Picture 4" descr="cost-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36192"/>
            <a:ext cx="6766560" cy="32012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99248" y="1536192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1">
                <a:solidFill>
                  <a:srgbClr val="B3272D"/>
                </a:solidFill>
                <a:latin typeface="Microsoft YaHei"/>
              </a:rPr>
              <a:t>第七轮（混合精度）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上游那两条臂在第 1 轮被自己的训练器关掉混合精度，此后整程 FP32；B、C 全程混合精度。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A 臂 10.8 卡时，B 臂 4.7 卡时。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2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1">
                <a:solidFill>
                  <a:srgbClr val="B3272D"/>
                </a:solidFill>
                <a:latin typeface="Microsoft YaHei"/>
              </a:rPr>
              <a:t>第八轮（FP32）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四臂从第 1 轮就是 FP32。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A 臂 10.6 卡时，B 臂 10.6 卡时，两者相当：第七轮的耗时差来自精度。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2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第八轮四臂都在 FP32 下训，A − B 只剩实现差。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第四章 · 与上游对照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第八轮：四臂全程 FP32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第四章　实验与数据</a:t>
            </a:r>
            <a:r>
              <a:rPr sz="950">
                <a:solidFill>
                  <a:srgbClr val="667085"/>
                </a:solidFill>
                <a:latin typeface="Consolas"/>
              </a:rPr>
              <a:t>　·　76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2613583" cy="182880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怎么做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四臂全部 --amp 0，从第 1 轮就是 FP32；一台机器三张 C500，一卡一个 seed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1679" y="1536192"/>
            <a:ext cx="2613583" cy="182880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开跑前验了什么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卡上的 fork 与配置与锁定版本逐字节一致；四臂冒烟都是 amp_at_end=False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6430" y="1536192"/>
            <a:ext cx="2613583" cy="182880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中途出的事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seed 2 的 A0 三次被同一个设备故障打断，由完成 114 轮的检查点续跑完成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11181" y="1536192"/>
            <a:ext cx="2613583" cy="182880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46304" rIns="109728" bIns="54864" rtlCol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顺带修的设计缺口</a:t>
            </a:r>
          </a:p>
          <a:p>
            <a:pPr algn="l">
              <a:spcBef>
                <a:spcPts val="400"/>
              </a:spcBef>
            </a:pPr>
            <a:r>
              <a:rPr sz="1150">
                <a:solidFill>
                  <a:srgbClr val="667085"/>
                </a:solidFill>
                <a:latin typeface="Microsoft YaHei"/>
              </a:rPr>
              <a:t>分组键补上精度；同一配置再跑一遍只进噪声底，不顶替原实验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82219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问题与第七轮相同：两个实现是不是一回事（A − B），同样的块在两个框架里是不是同样的作用（差之差）。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0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1">
                <a:solidFill>
                  <a:srgbClr val="B3272D"/>
                </a:solidFill>
                <a:latin typeface="Microsoft YaHei"/>
              </a:rPr>
              <a:t>四条预测在 B、C 臂结果出来之前登记，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见判读线的第八轮预登记。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第四章 · 与上游对照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第八轮的结果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第四章　实验与数据</a:t>
            </a:r>
            <a:r>
              <a:rPr sz="950">
                <a:solidFill>
                  <a:srgbClr val="667085"/>
                </a:solidFill>
                <a:latin typeface="Consolas"/>
              </a:rPr>
              <a:t>　·　77</a:t>
            </a:r>
          </a:p>
        </p:txBody>
      </p:sp>
      <p:pic>
        <p:nvPicPr>
          <p:cNvPr id="5" name="Picture 4" descr="same-config-bars-r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808" y="1536192"/>
            <a:ext cx="7498079" cy="39196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46811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三个 seed，四臂逐一重测。两条带块的臂仍都高于各自的基线；seed 2 上 B 与 A 几乎打平。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第四章 · 与上游对照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第八轮的四条配对差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第四章　实验与数据</a:t>
            </a:r>
            <a:r>
              <a:rPr sz="950">
                <a:solidFill>
                  <a:srgbClr val="667085"/>
                </a:solidFill>
                <a:latin typeface="Consolas"/>
              </a:rPr>
              <a:t>　·　78</a:t>
            </a:r>
          </a:p>
        </p:txBody>
      </p:sp>
      <p:pic>
        <p:nvPicPr>
          <p:cNvPr id="5" name="Picture 4" descr="same-config-did-r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927" y="1536192"/>
            <a:ext cx="7863840" cy="32683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491947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00" b="1">
                <a:solidFill>
                  <a:srgbClr val="B3272D"/>
                </a:solidFill>
                <a:latin typeface="Microsoft YaHei"/>
              </a:rPr>
              <a:t>差之差 +0.0009，仍等效；A − A0 +0.0104，仍有效（3/3）：</a:t>
            </a:r>
            <a:r>
              <a:rPr sz="1300" b="0">
                <a:solidFill>
                  <a:srgbClr val="1B1F24"/>
                </a:solidFill>
                <a:latin typeface="Microsoft YaHei"/>
              </a:rPr>
              <a:t>块在两个框架里的作用一致，这一条两轮都成立。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00" b="1">
                <a:solidFill>
                  <a:srgbClr val="B3272D"/>
                </a:solidFill>
                <a:latin typeface="Microsoft YaHei"/>
              </a:rPr>
              <a:t>B − C 三个 seed 都为正、mAP50-95 也为正，按判读线有效；</a:t>
            </a:r>
            <a:r>
              <a:rPr sz="1300" b="0">
                <a:solidFill>
                  <a:srgbClr val="1B1F24"/>
                </a:solidFill>
                <a:latin typeface="Microsoft YaHei"/>
              </a:rPr>
              <a:t>seed 0 只有 +0.0042，区间跨零，按噪声底三档无法判定。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00" b="1">
                <a:solidFill>
                  <a:srgbClr val="B3272D"/>
                </a:solidFill>
                <a:latin typeface="Microsoft YaHei"/>
              </a:rPr>
              <a:t>A − B 从第七轮的 −0.0069 翻到 +0.0046，仍跨在判读线之间。</a:t>
            </a:r>
            <a:r>
              <a:rPr sz="1300" b="0">
                <a:solidFill>
                  <a:srgbClr val="1B1F24"/>
                </a:solidFill>
                <a:latin typeface="Microsoft YaHei"/>
              </a:rPr>
              <a:t>　B 在 FP32 下也要 10.6 小时，与 A 相同：第七轮的耗时差来自精度。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第四章 · 与上游对照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第八轮的分档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第四章　实验与数据</a:t>
            </a:r>
            <a:r>
              <a:rPr sz="950">
                <a:solidFill>
                  <a:srgbClr val="667085"/>
                </a:solidFill>
                <a:latin typeface="Consolas"/>
              </a:rPr>
              <a:t>　·　79</a:t>
            </a:r>
          </a:p>
        </p:txBody>
      </p:sp>
      <p:pic>
        <p:nvPicPr>
          <p:cNvPr id="5" name="Picture 4" descr="buckets-bars-r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36192"/>
            <a:ext cx="6766560" cy="34829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99248" y="1536192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1">
                <a:solidFill>
                  <a:srgbClr val="B3272D"/>
                </a:solidFill>
                <a:latin typeface="Microsoft YaHei"/>
              </a:rPr>
              <a:t>两个框架里都是大目标涨得最多，</a:t>
            </a:r>
            <a:r>
              <a:rPr sz="1250" b="0">
                <a:solidFill>
                  <a:srgbClr val="1B1F24"/>
                </a:solidFill>
                <a:latin typeface="Microsoft YaHei"/>
              </a:rPr>
              <a:t>但都只有 2/3 为正。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2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上游一侧：小目标 +0.0086，仍小于中目标 +0.0106。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本包一侧：小目标 +0.0069，与中目标 +0.0063 相当。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25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第七轮两侧都是小目标最小（+0.0049、+0.0080）。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第四章 · 与上游对照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FP32 下同配置跑两遍差多少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第四章　实验与数据</a:t>
            </a:r>
            <a:r>
              <a:rPr sz="950">
                <a:solidFill>
                  <a:srgbClr val="667085"/>
                </a:solidFill>
                <a:latin typeface="Consolas"/>
              </a:rPr>
              <a:t>　·　80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36192"/>
          <a:ext cx="585216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臂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原运行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重复运行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差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B（seed 0）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Consolas"/>
                        </a:rPr>
                        <a:t>0.3601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Consolas"/>
                        </a:rPr>
                        <a:t>0.3636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Consolas"/>
                        </a:rPr>
                        <a:t>0.0035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C（seed 0）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Consolas"/>
                        </a:rPr>
                        <a:t>0.3559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Consolas"/>
                        </a:rPr>
                        <a:t>0.3560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Consolas"/>
                        </a:rPr>
                        <a:t>0.0001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A（seed 1）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Consolas"/>
                        </a:rPr>
                        <a:t>0.3651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Consolas"/>
                        </a:rPr>
                        <a:t>0.3634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Consolas"/>
                        </a:rPr>
                        <a:t>0.0018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A0（seed 1）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Consolas"/>
                        </a:rPr>
                        <a:t>0.3552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Consolas"/>
                        </a:rPr>
                        <a:t>0.3519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Consolas"/>
                        </a:rPr>
                        <a:t>0.0033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C（seed 2）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Consolas"/>
                        </a:rPr>
                        <a:t>0.3521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Consolas"/>
                        </a:rPr>
                        <a:t>0.3625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Consolas"/>
                        </a:rPr>
                        <a:t>0.0103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187952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五对的差：均值 0.0038，最大 0.0103。混合精度下是 0.0045 / 0.0130，同一量级。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1">
                <a:solidFill>
                  <a:srgbClr val="B3272D"/>
                </a:solidFill>
                <a:latin typeface="Microsoft YaHei"/>
              </a:rPr>
              <a:t>带块两对的差都小于基线三对的均值，</a:t>
            </a:r>
            <a:r>
              <a:rPr sz="1350" b="0">
                <a:solidFill>
                  <a:srgbClr val="1B1F24"/>
                </a:solidFill>
                <a:latin typeface="Microsoft YaHei"/>
              </a:rPr>
              <a:t>预登记的「带块运行离散度更大」没有成立。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76288" y="1536192"/>
          <a:ext cx="46634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第八轮的差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混合精度底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FP32 底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判读线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A − B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无法判定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无法判定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A − A0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有效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有效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有效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B − C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无法判定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无法判定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有效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差之差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等效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等效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76288" y="4187952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两套噪声底给出的档位相同。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A − A0、B − C 另按判读线判：配对 mAP50 均值 &gt; 0、至少 2/3 为正、mAP50-95 均值 ≥ 0。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第四章 · 判读线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八轮判读线，逐条对账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第四章　实验与数据</a:t>
            </a:r>
            <a:r>
              <a:rPr sz="950">
                <a:solidFill>
                  <a:srgbClr val="667085"/>
                </a:solidFill>
                <a:latin typeface="Consolas"/>
              </a:rPr>
              <a:t>　·　81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36192"/>
          <a:ext cx="10972800" cy="2282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轮次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问的问题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结果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一 ~ 三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块在单个主干上有没有效、随预算怎么变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两条预测成立，一条被推翻并公开更正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四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平衡项换成读门控的目标会怎样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预测成立：塌缩没有解除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五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四块布局是不是更好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预测被推翻，方向相反：四块全负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六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平衡项到底在防什么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预测成立：它防的是专家死掉，不是分派集中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七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我们的实现与上游是不是一回事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块的作用一致（等效）；整体比较无法判定；四块那条预测被推翻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八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去掉精度混杂后还是不是一回事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块的作用仍一致（等效）；整体比较仍无法判定；两侧加块都有效；FP32 噪声底与混合精度同量级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23367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11 次登记、3 条结果出来之前的更正，全部带 git 时间戳（</a:t>
            </a:r>
            <a:r>
              <a:rPr sz="1350" b="0">
                <a:solidFill>
                  <a:srgbClr val="1B1F24"/>
                </a:solidFill>
                <a:latin typeface="Consolas"/>
              </a:rPr>
              <a:t>closure.py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 从 git 历史数出）。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40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1">
                <a:solidFill>
                  <a:srgbClr val="B3272D"/>
                </a:solidFill>
                <a:latin typeface="Microsoft YaHei"/>
              </a:rPr>
              <a:t>被结果推翻的预测不删，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判读线页上每一轮都保留原文，判定写在后面。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第四章 · 不主张的部分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已知局限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第四章　实验与数据</a:t>
            </a:r>
            <a:r>
              <a:rPr sz="950">
                <a:solidFill>
                  <a:srgbClr val="667085"/>
                </a:solidFill>
                <a:latin typeface="Consolas"/>
              </a:rPr>
              <a:t>　·　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3619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0">
                <a:solidFill>
                  <a:srgbClr val="1B1F24"/>
                </a:solidFill>
                <a:latin typeface="Microsoft YaHei"/>
              </a:rPr>
              <a:t>· 只在 VisDrone 上做过满协议对照，没有跨数据集结论；nano 量级主干、单卡。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0">
                <a:solidFill>
                  <a:srgbClr val="1B1F24"/>
                </a:solidFill>
                <a:latin typeface="Microsoft YaHei"/>
              </a:rPr>
              <a:t>· 三个 seed，统计力不足以做显著性检验；效应量与同配置重复运行的离散度同量级。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0">
                <a:solidFill>
                  <a:srgbClr val="1B1F24"/>
                </a:solidFill>
                <a:latin typeface="Microsoft YaHei"/>
              </a:rPr>
              <a:t>· 路由没有学到按尺度分工：概率与目标尺寸的相关跨 seed 变号。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0">
                <a:solidFill>
                  <a:srgbClr val="1B1F24"/>
                </a:solidFill>
                <a:latin typeface="Microsoft YaHei"/>
              </a:rPr>
              <a:t>· 平衡项防得住专家死掉，维持不了均匀分派。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0">
                <a:solidFill>
                  <a:srgbClr val="1B1F24"/>
                </a:solidFill>
                <a:latin typeface="Microsoft YaHei"/>
              </a:rPr>
              <a:t>· 四块布局的结论限定在配方之内：换上游那一整套之后结论相反。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0">
                <a:solidFill>
                  <a:srgbClr val="1B1F24"/>
                </a:solidFill>
                <a:latin typeface="Microsoft YaHei"/>
              </a:rPr>
              <a:t>· 上游训练器静默关闭混合精度，只在曦云 C500 上实测到，未在其他卡复现。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50" b="0">
                <a:solidFill>
                  <a:srgbClr val="1B1F24"/>
                </a:solidFill>
                <a:latin typeface="Microsoft YaHei"/>
              </a:rPr>
              <a:t>· 没有用 </a:t>
            </a:r>
            <a:r>
              <a:rPr sz="1400" b="0">
                <a:solidFill>
                  <a:srgbClr val="1B1F24"/>
                </a:solidFill>
                <a:latin typeface="Consolas"/>
              </a:rPr>
              <a:t>compile=True</a:t>
            </a:r>
            <a:r>
              <a:rPr sz="1450" b="0">
                <a:solidFill>
                  <a:srgbClr val="1B1F24"/>
                </a:solidFill>
                <a:latin typeface="Microsoft YaHei"/>
              </a:rPr>
              <a:t> 实跑过多卡训练；对应的 DDP 设置与编译路径分别验证过。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64515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350" b="1">
                <a:solidFill>
                  <a:srgbClr val="B3272D"/>
                </a:solidFill>
                <a:latin typeface="Microsoft YaHei"/>
              </a:rPr>
              <a:t>这一页与文档站的已知局限逐条一致。</a:t>
            </a:r>
            <a:r>
              <a:rPr sz="1350" b="0">
                <a:solidFill>
                  <a:srgbClr val="1B1F24"/>
                </a:solidFill>
                <a:latin typeface="Microsoft YaHei"/>
              </a:rPr>
              <a:t>　引用本讲解任何数字之前，请先读它。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第四章 · 复算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怎么复现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第四章　实验与数据</a:t>
            </a:r>
            <a:r>
              <a:rPr sz="950">
                <a:solidFill>
                  <a:srgbClr val="667085"/>
                </a:solidFill>
                <a:latin typeface="Consolas"/>
              </a:rPr>
              <a:t>　·　83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7680960" cy="2242819"/>
          </a:xfrm>
          <a:prstGeom prst="roundRect">
            <a:avLst>
              <a:gd name="adj" fmla="val 5707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109728" rtlCol="0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>
                <a:solidFill>
                  <a:srgbClr val="1B1F24"/>
                </a:solidFill>
                <a:latin typeface="Consolas"/>
              </a:rPr>
              <a:t>git clone https://github.com/Lfan-ke/ES-MoE &amp;&amp; cd ES-</a:t>
            </a:r>
            <a:r>
              <a:rPr sz="1250" dirty="0" err="1">
                <a:solidFill>
                  <a:srgbClr val="1B1F24"/>
                </a:solidFill>
                <a:latin typeface="Consolas"/>
              </a:rPr>
              <a:t>MoE</a:t>
            </a:r>
            <a:endParaRPr sz="1250" dirty="0">
              <a:solidFill>
                <a:srgbClr val="1B1F24"/>
              </a:solidFill>
              <a:latin typeface="Consolas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 err="1">
                <a:solidFill>
                  <a:srgbClr val="1B1F24"/>
                </a:solidFill>
                <a:latin typeface="Consolas"/>
              </a:rPr>
              <a:t>uv</a:t>
            </a:r>
            <a:r>
              <a:rPr sz="1250" dirty="0">
                <a:solidFill>
                  <a:srgbClr val="1B1F24"/>
                </a:solidFill>
                <a:latin typeface="Consolas"/>
              </a:rPr>
              <a:t> sync --group dev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 err="1">
                <a:solidFill>
                  <a:srgbClr val="1B1F24"/>
                </a:solidFill>
                <a:latin typeface="Consolas"/>
              </a:rPr>
              <a:t>uv</a:t>
            </a:r>
            <a:r>
              <a:rPr sz="1250" dirty="0">
                <a:solidFill>
                  <a:srgbClr val="1B1F24"/>
                </a:solidFill>
                <a:latin typeface="Consolas"/>
              </a:rPr>
              <a:t> run </a:t>
            </a:r>
            <a:r>
              <a:rPr sz="1250" dirty="0" err="1">
                <a:solidFill>
                  <a:srgbClr val="1B1F24"/>
                </a:solidFill>
                <a:latin typeface="Consolas"/>
              </a:rPr>
              <a:t>pytest</a:t>
            </a:r>
            <a:r>
              <a:rPr sz="1250" dirty="0">
                <a:solidFill>
                  <a:srgbClr val="1B1F24"/>
                </a:solidFill>
                <a:latin typeface="Consolas"/>
              </a:rPr>
              <a:t> -q                      # 319 项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 err="1">
                <a:solidFill>
                  <a:srgbClr val="1B1F24"/>
                </a:solidFill>
                <a:latin typeface="Consolas"/>
              </a:rPr>
              <a:t>uv</a:t>
            </a:r>
            <a:r>
              <a:rPr sz="1250" dirty="0">
                <a:solidFill>
                  <a:srgbClr val="1B1F24"/>
                </a:solidFill>
                <a:latin typeface="Consolas"/>
              </a:rPr>
              <a:t> run python scripts/report.py       # </a:t>
            </a:r>
            <a:r>
              <a:rPr sz="1250" dirty="0" err="1">
                <a:solidFill>
                  <a:srgbClr val="1B1F24"/>
                </a:solidFill>
                <a:latin typeface="Consolas"/>
              </a:rPr>
              <a:t>配对表</a:t>
            </a:r>
            <a:endParaRPr sz="1250" dirty="0">
              <a:solidFill>
                <a:srgbClr val="1B1F24"/>
              </a:solidFill>
              <a:latin typeface="Consolas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 err="1">
                <a:solidFill>
                  <a:srgbClr val="1B1F24"/>
                </a:solidFill>
                <a:latin typeface="Consolas"/>
              </a:rPr>
              <a:t>uv</a:t>
            </a:r>
            <a:r>
              <a:rPr sz="1250" dirty="0">
                <a:solidFill>
                  <a:srgbClr val="1B1F24"/>
                </a:solidFill>
                <a:latin typeface="Consolas"/>
              </a:rPr>
              <a:t> run python scripts/same_config.py  # </a:t>
            </a:r>
            <a:r>
              <a:rPr sz="1250" dirty="0" err="1">
                <a:solidFill>
                  <a:srgbClr val="1B1F24"/>
                </a:solidFill>
                <a:latin typeface="Consolas"/>
              </a:rPr>
              <a:t>与上游的同配置对照</a:t>
            </a:r>
            <a:endParaRPr sz="1250" dirty="0">
              <a:solidFill>
                <a:srgbClr val="1B1F24"/>
              </a:solidFill>
              <a:latin typeface="Consolas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 err="1">
                <a:solidFill>
                  <a:srgbClr val="1B1F24"/>
                </a:solidFill>
                <a:latin typeface="Consolas"/>
              </a:rPr>
              <a:t>uv</a:t>
            </a:r>
            <a:r>
              <a:rPr sz="1250" dirty="0">
                <a:solidFill>
                  <a:srgbClr val="1B1F24"/>
                </a:solidFill>
                <a:latin typeface="Consolas"/>
              </a:rPr>
              <a:t> run python scripts/buckets.py --</a:t>
            </a:r>
            <a:r>
              <a:rPr sz="1250" dirty="0" err="1">
                <a:solidFill>
                  <a:srgbClr val="1B1F24"/>
                </a:solidFill>
                <a:latin typeface="Consolas"/>
              </a:rPr>
              <a:t>summarise</a:t>
            </a:r>
            <a:endParaRPr sz="1250" dirty="0">
              <a:solidFill>
                <a:srgbClr val="1B1F24"/>
              </a:solidFill>
              <a:latin typeface="Consolas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 err="1">
                <a:solidFill>
                  <a:srgbClr val="1B1F24"/>
                </a:solidFill>
                <a:latin typeface="Consolas"/>
              </a:rPr>
              <a:t>uv</a:t>
            </a:r>
            <a:r>
              <a:rPr sz="1250" dirty="0">
                <a:solidFill>
                  <a:srgbClr val="1B1F24"/>
                </a:solidFill>
                <a:latin typeface="Consolas"/>
              </a:rPr>
              <a:t> run python scripts/routing.py --</a:t>
            </a:r>
            <a:r>
              <a:rPr sz="1250" dirty="0" err="1">
                <a:solidFill>
                  <a:srgbClr val="1B1F24"/>
                </a:solidFill>
                <a:latin typeface="Consolas"/>
              </a:rPr>
              <a:t>summarise</a:t>
            </a:r>
            <a:endParaRPr sz="1250" dirty="0">
              <a:solidFill>
                <a:srgbClr val="1B1F24"/>
              </a:solidFill>
              <a:latin typeface="Consolas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dirty="0" err="1">
                <a:solidFill>
                  <a:srgbClr val="1B1F24"/>
                </a:solidFill>
                <a:latin typeface="Consolas"/>
              </a:rPr>
              <a:t>uv</a:t>
            </a:r>
            <a:r>
              <a:rPr sz="1250" dirty="0">
                <a:solidFill>
                  <a:srgbClr val="1B1F24"/>
                </a:solidFill>
                <a:latin typeface="Consolas"/>
              </a:rPr>
              <a:t> run python scripts/closure.py      # </a:t>
            </a:r>
            <a:r>
              <a:rPr sz="1250" dirty="0" err="1">
                <a:solidFill>
                  <a:srgbClr val="1B1F24"/>
                </a:solidFill>
                <a:latin typeface="Consolas"/>
              </a:rPr>
              <a:t>交付审计</a:t>
            </a:r>
            <a:endParaRPr sz="1250" dirty="0">
              <a:solidFill>
                <a:srgbClr val="1B1F24"/>
              </a:solidFill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3852163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00" b="0">
                <a:solidFill>
                  <a:srgbClr val="667085"/>
                </a:solidFill>
                <a:latin typeface="Microsoft YaHei"/>
              </a:rPr>
              <a:t>不需要重训：分档与路由都只读检查点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3648" y="153619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权重在 </a:t>
            </a:r>
            <a:r>
              <a:rPr sz="1150" b="0">
                <a:solidFill>
                  <a:srgbClr val="1B1F24"/>
                </a:solidFill>
                <a:latin typeface="Consolas"/>
              </a:rPr>
              <a:t>checkpoints</a:t>
            </a:r>
            <a:r>
              <a:rPr sz="1200" b="0">
                <a:solidFill>
                  <a:srgbClr val="1B1F24"/>
                </a:solidFill>
                <a:latin typeface="Microsoft YaHei"/>
              </a:rPr>
              <a:t> 分支（Git LFS，孤儿分支，与 main 隔离）：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endParaRPr sz="1200" b="0">
              <a:solidFill>
                <a:srgbClr val="1B1F24"/>
              </a:solidFill>
              <a:latin typeface="Microsoft YaHei"/>
            </a:endParaRP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· </a:t>
            </a:r>
            <a:r>
              <a:rPr sz="1150" b="0">
                <a:solidFill>
                  <a:srgbClr val="1B1F24"/>
                </a:solidFill>
                <a:latin typeface="Consolas"/>
              </a:rPr>
              <a:t>weights/&lt;run&gt;-best.pt</a:t>
            </a:r>
            <a:r>
              <a:rPr sz="1200" b="0">
                <a:solidFill>
                  <a:srgbClr val="1B1F24"/>
                </a:solidFill>
                <a:latin typeface="Microsoft YaHei"/>
              </a:rPr>
              <a:t>　每个满协议运行的检查点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· </a:t>
            </a:r>
            <a:r>
              <a:rPr sz="1150" b="0">
                <a:solidFill>
                  <a:srgbClr val="1B1F24"/>
                </a:solidFill>
                <a:latin typeface="Consolas"/>
              </a:rPr>
              <a:t>weights/&lt;run&gt;-last.pt</a:t>
            </a:r>
            <a:r>
              <a:rPr sz="1200" b="0">
                <a:solidFill>
                  <a:srgbClr val="1B1F24"/>
                </a:solidFill>
                <a:latin typeface="Microsoft YaHei"/>
              </a:rPr>
              <a:t>　同配置对照四臂的最终权重（重测用的就是它）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· </a:t>
            </a:r>
            <a:r>
              <a:rPr sz="1150" b="0">
                <a:solidFill>
                  <a:srgbClr val="1B1F24"/>
                </a:solidFill>
                <a:latin typeface="Consolas"/>
              </a:rPr>
              <a:t>args/&lt;run&gt;.yaml</a:t>
            </a:r>
            <a:r>
              <a:rPr sz="1200" b="0">
                <a:solidFill>
                  <a:srgbClr val="1B1F24"/>
                </a:solidFill>
                <a:latin typeface="Microsoft YaHei"/>
              </a:rPr>
              <a:t>　完整训练参数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· </a:t>
            </a:r>
            <a:r>
              <a:rPr sz="1150" b="0">
                <a:solidFill>
                  <a:srgbClr val="1B1F24"/>
                </a:solidFill>
                <a:latin typeface="Consolas"/>
              </a:rPr>
              <a:t>curves/&lt;run&gt;.csv</a:t>
            </a:r>
            <a:r>
              <a:rPr sz="1200" b="0">
                <a:solidFill>
                  <a:srgbClr val="1B1F24"/>
                </a:solidFill>
                <a:latin typeface="Microsoft YaHei"/>
              </a:rPr>
              <a:t>　逐轮曲线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第四章 · 收尾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我们主张什么，不主张什么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第四章　实验与数据</a:t>
            </a:r>
            <a:r>
              <a:rPr sz="950">
                <a:solidFill>
                  <a:srgbClr val="667085"/>
                </a:solidFill>
                <a:latin typeface="Consolas"/>
              </a:rPr>
              <a:t>　·　84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36192"/>
            <a:ext cx="5303520" cy="310896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54864" rtlCol="0" anchor="t"/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600" b="1">
                <a:solidFill>
                  <a:srgbClr val="1B1F24"/>
                </a:solidFill>
                <a:latin typeface="Microsoft YaHei"/>
              </a:rPr>
              <a:t>我们主张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667085"/>
                </a:solidFill>
                <a:latin typeface="Microsoft YaHei"/>
              </a:rPr>
              <a:t>·　这个块可以不改框架、不用 fork 就装进官方 Ultralytics，并且辅助损失真的进优化器。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667085"/>
                </a:solidFill>
                <a:latin typeface="Microsoft YaHei"/>
              </a:rPr>
              <a:t>·　我们的实现与上游在块这一层是同一个东西：发布模型逐位复核过，满协议对照里作用等效。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667085"/>
                </a:solidFill>
                <a:latin typeface="Microsoft YaHei"/>
              </a:rPr>
              <a:t>·　在 VisDrone、nano 主干、这个预算下，效应的方向按主干末端的结构分组。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667085"/>
                </a:solidFill>
                <a:latin typeface="Microsoft YaHei"/>
              </a:rPr>
              <a:t>·　平衡项防的是专家死掉；读门控的目标防不住。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6208" y="1536192"/>
            <a:ext cx="5303520" cy="3108960"/>
          </a:xfrm>
          <a:prstGeom prst="round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82880" rIns="201168" bIns="54864" rtlCol="0" anchor="t"/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600" b="1">
                <a:solidFill>
                  <a:srgbClr val="1B1F24"/>
                </a:solidFill>
                <a:latin typeface="Microsoft YaHei"/>
              </a:rPr>
              <a:t>我们不主张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667085"/>
                </a:solidFill>
                <a:latin typeface="Microsoft YaHei"/>
              </a:rPr>
              <a:t>·　不主张这个块在别的数据集、别的量级上也涨点。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667085"/>
                </a:solidFill>
                <a:latin typeface="Microsoft YaHei"/>
              </a:rPr>
              <a:t>·　不主张任何一个幅度：效应与重复运行的离散度同量级。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667085"/>
                </a:solidFill>
                <a:latin typeface="Microsoft YaHei"/>
              </a:rPr>
              <a:t>·　不主张「路由学会了按尺度分工」——我们没测到。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667085"/>
                </a:solidFill>
                <a:latin typeface="Microsoft YaHei"/>
              </a:rPr>
              <a:t>·　不主张论文的架构对比结论，那不是本课题测的东西。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01091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1">
                <a:solidFill>
                  <a:srgbClr val="B3272D"/>
                </a:solidFill>
                <a:latin typeface="Microsoft YaHei"/>
              </a:rPr>
              <a:t>这两栏的分界，就是这份工作最想守住的东西：</a:t>
            </a:r>
            <a:r>
              <a:rPr sz="1400" b="0">
                <a:solidFill>
                  <a:srgbClr val="1B1F24"/>
                </a:solidFill>
                <a:latin typeface="Microsoft YaHei"/>
              </a:rPr>
              <a:t>　测出来的写进左边，没测的一律留在右边。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75488"/>
            <a:ext cx="110578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 b="0">
                <a:solidFill>
                  <a:srgbClr val="1F8A80"/>
                </a:solidFill>
                <a:latin typeface="Microsoft YaHei"/>
              </a:rPr>
              <a:t>第四章 · 收尾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86384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3000" b="0">
                <a:solidFill>
                  <a:srgbClr val="1B1F24"/>
                </a:solidFill>
                <a:latin typeface="Microsoft YaHei"/>
              </a:rPr>
              <a:t>交付清单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37376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>
                <a:solidFill>
                  <a:srgbClr val="667085"/>
                </a:solidFill>
                <a:latin typeface="Microsoft YaHei"/>
              </a:rPr>
              <a:t>第四章　实验与数据</a:t>
            </a:r>
            <a:r>
              <a:rPr sz="950">
                <a:solidFill>
                  <a:srgbClr val="667085"/>
                </a:solidFill>
                <a:latin typeface="Consolas"/>
              </a:rPr>
              <a:t>　·　85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36192"/>
          <a:ext cx="1097280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交付物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1F24"/>
                          </a:solidFill>
                          <a:latin typeface="Microsoft YaHei"/>
                        </a:rPr>
                        <a:t>在哪里</a:t>
                      </a:r>
                    </a:p>
                  </a:txBody>
                  <a:tcPr marL="73152" marR="73152" marT="18288" marB="18288"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插件包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PyPI esmoe 1.0.0；仓库 github.com/Lfan-ke/ES-MoE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文档与教程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lfan-ke.github.io/ES-MoE（九页中英双语）+ Colab 快速上手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实验记录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results/ 里每条运行一份 JSON；表与图由脚本重算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权重与曲线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checkpoints 分支（Git LFS）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判读线与更正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docs/JUDGMENT.md，八轮，含被推翻的预测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上游贡献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667085"/>
                          </a:solidFill>
                          <a:latin typeface="Microsoft YaHei"/>
                        </a:rPr>
                        <a:t>YOLO-Master PR #241（已合入）、结项讨论 #276</a:t>
                      </a:r>
                    </a:p>
                  </a:txBody>
                  <a:tcPr marL="73152" marR="73152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27939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400" b="0">
                <a:solidFill>
                  <a:srgbClr val="1B1F24"/>
                </a:solidFill>
                <a:latin typeface="Microsoft YaHei"/>
              </a:rPr>
              <a:t>感谢阅读。问题与复现障碍都欢迎开 issue——这份工作最想留下的，是「结论能被别人重算」这件事本身。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7379</Words>
  <Application>Microsoft Office PowerPoint</Application>
  <PresentationFormat>宽屏</PresentationFormat>
  <Paragraphs>1235</Paragraphs>
  <Slides>85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85</vt:i4>
      </vt:variant>
    </vt:vector>
  </HeadingPairs>
  <TitlesOfParts>
    <vt:vector size="90" baseType="lpstr">
      <vt:lpstr>Arial</vt:lpstr>
      <vt:lpstr>Calibri</vt:lpstr>
      <vt:lpstr>Consolas</vt:lpstr>
      <vt:lpstr>Microsoft YaHei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Leo Cheng</cp:lastModifiedBy>
  <cp:revision>5</cp:revision>
  <dcterms:created xsi:type="dcterms:W3CDTF">2013-01-27T09:14:16Z</dcterms:created>
  <dcterms:modified xsi:type="dcterms:W3CDTF">2026-09-14T12:16:06Z</dcterms:modified>
  <cp:category/>
</cp:coreProperties>
</file>