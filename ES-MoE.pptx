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9" r:id="rId3"/>
    <p:sldId id="267" r:id="rId4"/>
    <p:sldId id="268" r:id="rId5"/>
    <p:sldId id="269" r:id="rId6"/>
    <p:sldId id="270" r:id="rId7"/>
    <p:sldId id="271" r:id="rId8"/>
    <p:sldId id="273" r:id="rId9"/>
    <p:sldId id="274" r:id="rId10"/>
    <p:sldId id="275" r:id="rId11"/>
    <p:sldId id="280" r:id="rId12"/>
    <p:sldId id="282" r:id="rId13"/>
    <p:sldId id="283" r:id="rId14"/>
    <p:sldId id="284" r:id="rId15"/>
    <p:sldId id="287" r:id="rId16"/>
    <p:sldId id="290" r:id="rId17"/>
    <p:sldId id="265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10" r:id="rId33"/>
    <p:sldId id="305" r:id="rId34"/>
    <p:sldId id="306" r:id="rId35"/>
    <p:sldId id="307" r:id="rId36"/>
    <p:sldId id="308" r:id="rId37"/>
    <p:sldId id="309" r:id="rId38"/>
  </p:sldIdLst>
  <p:sldSz cx="12192000" cy="6858000"/>
  <p:notesSz cx="6858000" cy="9144000"/>
  <p:embeddedFontLst>
    <p:embeddedFont>
      <p:font typeface="Microsoft YaHei" panose="020B0503020204020204" pitchFamily="34" charset="-122"/>
      <p:regular r:id="rId39"/>
      <p:bold r:id="rId40"/>
    </p:embeddedFont>
    <p:embeddedFont>
      <p:font typeface="Microsoft YaHei UI" panose="020B0503020204020204" pitchFamily="34" charset="-122"/>
      <p:regular r:id="rId41"/>
      <p:bold r:id="rId42"/>
    </p:embeddedFont>
    <p:embeddedFont>
      <p:font typeface="Consolas" panose="020B0609020204030204" pitchFamily="49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03120"/>
            <a:ext cx="11057839" cy="316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dirty="0" err="1">
                <a:solidFill>
                  <a:srgbClr val="1F8A80"/>
                </a:solidFill>
                <a:latin typeface="Microsoft YaHei"/>
              </a:rPr>
              <a:t>腾讯犀牛鸟开源人才培养计划</a:t>
            </a:r>
            <a:r>
              <a:rPr sz="1700" b="0" dirty="0">
                <a:solidFill>
                  <a:srgbClr val="1F8A80"/>
                </a:solidFill>
                <a:latin typeface="Microsoft YaHei"/>
              </a:rPr>
              <a:t> · </a:t>
            </a:r>
            <a:r>
              <a:rPr sz="1700" b="0" dirty="0" err="1">
                <a:solidFill>
                  <a:srgbClr val="1F8A80"/>
                </a:solidFill>
                <a:latin typeface="Microsoft YaHei"/>
              </a:rPr>
              <a:t>课题</a:t>
            </a:r>
            <a:r>
              <a:rPr sz="1700" b="0" dirty="0">
                <a:solidFill>
                  <a:srgbClr val="1F8A80"/>
                </a:solidFill>
                <a:latin typeface="Microsoft YaHei"/>
              </a:rPr>
              <a:t> 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4600" b="0">
                <a:solidFill>
                  <a:srgbClr val="1B1F24"/>
                </a:solidFill>
                <a:latin typeface="Microsoft YaHei"/>
              </a:rPr>
              <a:t>ES-MoE：插件与实验数据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把 YOLO-Master 的 ES-MoE 块做成装在官方 Ultralytics 上的插件：不改框架、不用 fork，路由的负载均衡损失真的进优化器。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endParaRPr sz="1400" b="0">
              <a:solidFill>
                <a:srgbClr val="667085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仓库 github.com/Lfan-ke/ES-MoE　　文档 lfan-ke.github.io/ES-MoE　　包 pypi.org/project/esmoe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先给答案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导览</a:t>
            </a:r>
            <a:r>
              <a:rPr sz="950">
                <a:solidFill>
                  <a:srgbClr val="667085"/>
                </a:solidFill>
                <a:latin typeface="Consolas"/>
              </a:rPr>
              <a:t>　·　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包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PyPI esmoe 1.0.0，三个调用接进任意一份官方 YOLO 配置，七代主干都能嫁接、能训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证据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199 条记录、142 条满协议运行，权重与逐轮曲线全部公开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方法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八轮判读线先于结果提交，被推翻的预测照原文留在判读线里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上游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修复已合入 #241；发布模型用本包重建，COCO 指标逐位一致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11057839" cy="251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dirty="0" err="1">
                <a:solidFill>
                  <a:srgbClr val="1B1F2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这份材料里的</a:t>
            </a:r>
            <a:r>
              <a:rPr lang="zh-CN" altLang="en-US" sz="1350" dirty="0">
                <a:solidFill>
                  <a:srgbClr val="1B1F2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实验结果位于</a:t>
            </a:r>
            <a:r>
              <a:rPr sz="1350" b="0" dirty="0">
                <a:solidFill>
                  <a:srgbClr val="1B1F2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sz="1350" b="1" dirty="0">
                <a:solidFill>
                  <a:srgbClr val="B3272D"/>
                </a:solidFill>
                <a:latin typeface="Microsoft YaHei"/>
              </a:rPr>
              <a:t>results/</a:t>
            </a:r>
            <a:endParaRPr sz="1350" b="0" dirty="0">
              <a:solidFill>
                <a:srgbClr val="1B1F24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1F8A80"/>
                </a:solidFill>
                <a:latin typeface="Microsoft YaHei"/>
              </a:rP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88920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800" b="0">
                <a:solidFill>
                  <a:srgbClr val="1B1F24"/>
                </a:solidFill>
                <a:latin typeface="Microsoft YaHei"/>
              </a:rPr>
              <a:t>我们的包：逐处讲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三个入口怎么工作、块的每一段代码在防什么，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以及每一处对应上游或论文的哪一行。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怎么用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三行代码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400800" cy="1918823"/>
          </a:xfrm>
          <a:prstGeom prst="roundRect">
            <a:avLst>
              <a:gd name="adj" fmla="val 6419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>
                <a:solidFill>
                  <a:srgbClr val="1B1F24"/>
                </a:solidFill>
                <a:latin typeface="Consolas"/>
              </a:rPr>
              <a:t>pip install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esmoe</a:t>
            </a: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>
                <a:solidFill>
                  <a:srgbClr val="1B1F24"/>
                </a:solidFill>
                <a:latin typeface="Consolas"/>
              </a:rPr>
              <a:t>import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esmoe</a:t>
            </a: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>
                <a:solidFill>
                  <a:srgbClr val="1B1F24"/>
                </a:solidFill>
                <a:latin typeface="Consolas"/>
              </a:rPr>
              <a:t>model =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esmoe.equip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("yolo11n.yaml", weight=0.01)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 err="1">
                <a:solidFill>
                  <a:srgbClr val="1B1F24"/>
                </a:solidFill>
                <a:latin typeface="Consolas"/>
              </a:rPr>
              <a:t>model.train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(data="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visdrone.yaml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", epochs=120,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imgsz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=800)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8167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官方 Ultralytics，不装 fork；块、层号、辅助损失、训练器子类都在 equip 里接好了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153619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Consolas"/>
              </a:rPr>
              <a:t>equip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一次调用做完四步：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① </a:t>
            </a:r>
            <a:r>
              <a:rPr sz="1300" b="0">
                <a:solidFill>
                  <a:srgbClr val="1B1F24"/>
                </a:solidFill>
                <a:latin typeface="Consolas"/>
              </a:rPr>
              <a:t>inject_esmoe()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注册块名；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② </a:t>
            </a:r>
            <a:r>
              <a:rPr sz="1300" b="0">
                <a:solidFill>
                  <a:srgbClr val="1B1F24"/>
                </a:solidFill>
                <a:latin typeface="Consolas"/>
              </a:rPr>
              <a:t>graft()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插块、修层号，写出新 yaml；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③ 按新 yaml 建出模型；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④ </a:t>
            </a:r>
            <a:r>
              <a:rPr sz="1300" b="0">
                <a:solidFill>
                  <a:srgbClr val="1B1F24"/>
                </a:solidFill>
                <a:latin typeface="Consolas"/>
              </a:rPr>
              <a:t>attach_aux_loss()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接上平衡项与包内训练器。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包内训练器让 DDP 子进程一导入就自动装回。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想分步做的，三个入口都单独导出，后面逐个讲。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包里有什么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5</a:t>
            </a:r>
          </a:p>
        </p:txBody>
      </p:sp>
      <p:pic>
        <p:nvPicPr>
          <p:cNvPr id="5" name="Picture 4" descr="packag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36192"/>
            <a:ext cx="8778240" cy="3716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3517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依赖方向是单向的：块不知道训练器的存在，训练器也不关心块里怎么算——这让块可以单独拿去用，也让配方可以替换。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入口一：注册一个名字就够了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583680" cy="1297940"/>
          </a:xfrm>
          <a:prstGeom prst="roundRect">
            <a:avLst>
              <a:gd name="adj" fmla="val 9849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def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inject_esmoe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import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ultralytics.nn.tasks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as tasks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B3272D"/>
                </a:solidFill>
                <a:latin typeface="Consolas"/>
              </a:rPr>
              <a:t>▸  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tasks.ESMoE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ESMoE</a:t>
            </a:r>
            <a:endParaRPr sz="1300" dirty="0">
              <a:solidFill>
                <a:srgbClr val="B3272D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return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ESMoE</a:t>
            </a:r>
            <a:endParaRPr sz="130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90728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esmoe/inject.py:22-28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esmoe/inject.py:22-28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对应上游 </a:t>
            </a:r>
            <a:r>
              <a:rPr sz="1050">
                <a:solidFill>
                  <a:srgbClr val="1B1F24"/>
                </a:solidFill>
                <a:latin typeface="Consolas"/>
              </a:rPr>
              <a:t>它直接改 tasks.py 的模块表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官方机制 </a:t>
            </a:r>
            <a:r>
              <a:rPr sz="1050">
                <a:solidFill>
                  <a:srgbClr val="1B1F24"/>
                </a:solidFill>
                <a:latin typeface="Consolas"/>
              </a:rPr>
              <a:t>nn/tasks.py parse_model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53619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为什么这三行就够？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因为官方的 </a:t>
            </a:r>
            <a:r>
              <a:rPr sz="1300" b="0">
                <a:solidFill>
                  <a:srgbClr val="1B1F24"/>
                </a:solidFill>
                <a:latin typeface="Consolas"/>
              </a:rPr>
              <a:t>parse_model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在解析 yaml 时，是按模块名在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ultralytics.nn.tasks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的命名空间里查的。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名字放进去，</a:t>
            </a:r>
            <a:r>
              <a:rPr sz="1300" b="0">
                <a:solidFill>
                  <a:srgbClr val="1B1F24"/>
                </a:solidFill>
                <a:latin typeface="Consolas"/>
              </a:rPr>
              <a:t>[-1, 1, ESMoE, [4, 2]]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这一行就能建出块来——不打补丁、不改框架源码。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代价是一个约定：</a:t>
            </a:r>
            <a:r>
              <a:rPr sz="1350" b="1">
                <a:solidFill>
                  <a:srgbClr val="B3272D"/>
                </a:solidFill>
                <a:latin typeface="Microsoft YaHei"/>
              </a:rPr>
              <a:t>块必须能只靠 yaml 里的参数把自己建起来。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yaml 里通道数留空，由建模型时那次试探前向推断；在 Python 里直接构造时传 </a:t>
            </a:r>
            <a:r>
              <a:rPr sz="1350" b="0">
                <a:solidFill>
                  <a:srgbClr val="1B1F24"/>
                </a:solidFill>
                <a:latin typeface="Consolas"/>
              </a:rPr>
              <a:t>channels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即可当场建好。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入口二：插一层，然后把层号全部修回去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7</a:t>
            </a:r>
          </a:p>
        </p:txBody>
      </p:sp>
      <p:pic>
        <p:nvPicPr>
          <p:cNvPr id="5" name="Picture 4" descr="graft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36192"/>
            <a:ext cx="8778240" cy="24497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6451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Consolas"/>
              </a:rPr>
              <a:t>graft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读官方 yaml，插入块，再把 backbone 与 head 里所有绝对层号按位移重写一遍（</a:t>
            </a:r>
            <a:r>
              <a:rPr sz="1350" b="0">
                <a:solidFill>
                  <a:srgbClr val="1B1F24"/>
                </a:solidFill>
                <a:latin typeface="Consolas"/>
              </a:rPr>
              <a:t>_shift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rewire=True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多做一步：把「原本读块前那一层」的引用改成读块的输出。两条臂参数量完全相同，差别只有一根线——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这是纯接线对照。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入口三：让平衡项真的进反向传播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132320" cy="2674454"/>
          </a:xfrm>
          <a:prstGeom prst="roundRect">
            <a:avLst>
              <a:gd name="adj" fmla="val 600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total, items = _original(self)(self, batch, preds)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aux = 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collect_aux_loss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(self, device=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total.device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).to(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total.dtype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B3272D"/>
                </a:solidFill>
                <a:latin typeface="Consolas"/>
              </a:rPr>
              <a:t>▸ if not </a:t>
            </a:r>
            <a:r>
              <a:rPr sz="1219" dirty="0" err="1">
                <a:solidFill>
                  <a:srgbClr val="B3272D"/>
                </a:solidFill>
                <a:latin typeface="Consolas"/>
              </a:rPr>
              <a:t>torch.isfinite</a:t>
            </a:r>
            <a:r>
              <a:rPr sz="1219" dirty="0">
                <a:solidFill>
                  <a:srgbClr val="B3272D"/>
                </a:solidFill>
                <a:latin typeface="Consolas"/>
              </a:rPr>
              <a:t>(aux):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B3272D"/>
                </a:solidFill>
                <a:latin typeface="Consolas"/>
              </a:rPr>
              <a:t>▸     aux = </a:t>
            </a:r>
            <a:r>
              <a:rPr sz="1219" dirty="0" err="1">
                <a:solidFill>
                  <a:srgbClr val="B3272D"/>
                </a:solidFill>
                <a:latin typeface="Consolas"/>
              </a:rPr>
              <a:t>torch.zeros_like</a:t>
            </a:r>
            <a:r>
              <a:rPr sz="1219" dirty="0">
                <a:solidFill>
                  <a:srgbClr val="B3272D"/>
                </a:solidFill>
                <a:latin typeface="Consolas"/>
              </a:rPr>
              <a:t>(aux)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if recipe == "upstream":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    aux = 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upstream.normalise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(self, aux, weight) if 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self.training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 else 0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    total = total + aux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else: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B3272D"/>
                </a:solidFill>
                <a:latin typeface="Consolas"/>
              </a:rPr>
              <a:t>▸   scaled = (aux * weight * batch["</a:t>
            </a:r>
            <a:r>
              <a:rPr sz="1219" dirty="0" err="1">
                <a:solidFill>
                  <a:srgbClr val="B3272D"/>
                </a:solidFill>
                <a:latin typeface="Consolas"/>
              </a:rPr>
              <a:t>img</a:t>
            </a:r>
            <a:r>
              <a:rPr sz="1219" dirty="0">
                <a:solidFill>
                  <a:srgbClr val="B3272D"/>
                </a:solidFill>
                <a:latin typeface="Consolas"/>
              </a:rPr>
              <a:t>"].shape[0]).view(1)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    total = torch.cat([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total.reshape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(-1), scaled])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8379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esmoe/inject.py：把 loss() 换成「先调原损失，再加平衡项」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esmoe/inject.py:_loss_with_aux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nn/mixture_loss.py CompositeCriterion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论文 </a:t>
            </a:r>
            <a:r>
              <a:rPr sz="1050">
                <a:solidFill>
                  <a:srgbClr val="1B1F24"/>
                </a:solidFill>
                <a:latin typeface="Consolas"/>
              </a:rPr>
              <a:t>式 (12)(13) 的项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7" y="15361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patch 打在定义 loss() 的那个类上，不是叶子类。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RT-DETR、YOLO-World 这些重写了 </a:t>
            </a:r>
            <a:r>
              <a:rPr sz="1200" b="0">
                <a:solidFill>
                  <a:srgbClr val="1B1F24"/>
                </a:solidFill>
                <a:latin typeface="Consolas"/>
              </a:rPr>
              <a:t>loss()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的模型保留自己的实现；其余继承 </a:t>
            </a:r>
            <a:r>
              <a:rPr sz="1200" b="0">
                <a:solidFill>
                  <a:srgbClr val="1B1F24"/>
                </a:solidFill>
                <a:latin typeface="Consolas"/>
              </a:rPr>
              <a:t>BaseModel.loss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的共用一份。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非有限就换成零。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平衡项一旦变成 NaN，整个损失就废了。这里挡一道，与上游的守卫同一个意思。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量级对齐两种约定。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任务损失是「乘了 batch 的量」，日志里却是每图的值。辅助损失两边都跟上，才不会在日志里显得大了 batch 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块的正向：一共七步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680960" cy="2556832"/>
          </a:xfrm>
          <a:prstGeom prst="roundRect">
            <a:avLst>
              <a:gd name="adj" fmla="val 474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if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self.channels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is None:              # ①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第一次前向推断通道</a:t>
            </a:r>
            <a:endParaRPr sz="1159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   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self.build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x.shape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[1]); self.to(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x.device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B3272D"/>
                </a:solidFill>
                <a:latin typeface="Consolas"/>
              </a:rPr>
              <a:t>▸ probs =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F.softmax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self.router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(x).float().clamp(-30, 30), 1).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type_as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(x)   # ②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weights, chosen =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probs.topk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self.top_k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, dim=1)                          # ③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gate =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torch.zeros_like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(probs).scatter(1, chosen, weights)               # ④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B3272D"/>
                </a:solidFill>
                <a:latin typeface="Consolas"/>
              </a:rPr>
              <a:t>▸ gate = gate /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gate.sum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(dim=1,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keepdim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=True).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clamp_min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(1e-9)             # ⑤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重归一</a:t>
            </a:r>
            <a:endParaRPr sz="1159" dirty="0">
              <a:solidFill>
                <a:srgbClr val="B3272D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if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self.dynamic_threshold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and not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self.training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and ...:                 # ⑥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推理剪枝</a:t>
            </a:r>
            <a:endParaRPr sz="1159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out = sum(gate[:,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i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] * expert(x) for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i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in ...)                           # ⑦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加权求和</a:t>
            </a:r>
            <a:endParaRPr sz="1159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return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self.norm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617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esmoe/module.py:284-336（为上屏做了缩排，逻辑与源码一致）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esmoe/module.py:284-336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moe/modules.py:535-704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论文 </a:t>
            </a:r>
            <a:r>
              <a:rPr sz="1050">
                <a:solidFill>
                  <a:srgbClr val="1B1F24"/>
                </a:solidFill>
                <a:latin typeface="Consolas"/>
              </a:rPr>
              <a:t>式 (2)(8)(9)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69652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② 与上游逐行对应：先 clamp 再转 fp32 做 softmax。上游在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routers.py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，我们在块里——因为本包的路由器就是两层 Linear，不单独成类。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⑤ 的位置就是那个关键次序：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重归一在剪枝之前。0.1.6 之前我们把顺序写反了，下一页讲。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那个把 mAP 打到 0.04 的缺陷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5394960" cy="1504632"/>
          </a:xfrm>
          <a:prstGeom prst="roundRect">
            <a:avLst>
              <a:gd name="adj" fmla="val 9479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# 0.1.5（错）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gate = scatter(top-k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的原始概率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if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阈值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and not training: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 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剪掉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gate &lt; 0.4 的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gate = gate /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gate.sum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1397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拿原始概率去比 0.4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536192"/>
            <a:ext cx="5394960" cy="1504632"/>
          </a:xfrm>
          <a:prstGeom prst="roundRect">
            <a:avLst>
              <a:gd name="adj" fmla="val 10132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# 0.1.6（对，与上游一致）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gate = scatter(top-k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的原始概率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gate = gate /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gate.sum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if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阈值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and not training: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 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剪掉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gate &lt; 0.4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的；再归一一次</a:t>
            </a:r>
            <a:endParaRPr sz="125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6208" y="311397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拿重归一后的份额去比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5288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四选二时，四个概率加起来是 1，第二名极少能到 0.4——所以验证时几乎每张图都被剪成单专家，而训练走的是两专家混合。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四个块叠加，特征分布整个偏掉：训练损失一切正常，验证 mAP50 塌到 0.0427。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同一份权重，只换这一处次序：0.0427 → 0.3741（不剪枝 0.3748）。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怎么发现的：B 臂三张卡的训练损失与另两臂逐项持平，验证却全塌——训练正常、推理崩，只可能是块内训练/推理分叉的那几处。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怎么防住下一次：补了两条把上游语义钉死的测试。原来那两条剪枝测试用的是 </a:t>
            </a:r>
            <a:r>
              <a:rPr sz="1300" b="0">
                <a:solidFill>
                  <a:srgbClr val="1B1F24"/>
                </a:solidFill>
                <a:latin typeface="Consolas"/>
              </a:rPr>
              <a:t>top_k == num_experts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，断言只要求调用了 1 到 4 个专家，怎么剪都会通过，是空测——</a:t>
            </a:r>
            <a:r>
              <a:rPr sz="1350" b="1">
                <a:solidFill>
                  <a:srgbClr val="1B1F24"/>
                </a:solidFill>
                <a:latin typeface="Microsoft YaHei"/>
              </a:rPr>
              <a:t>这比缺陷本身更值得记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配方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上游配方：把「怎么训」做成可替换的一项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132320" cy="2407555"/>
          </a:xfrm>
          <a:prstGeom prst="roundRect">
            <a:avLst>
              <a:gd name="adj" fmla="val 564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DECAY, FLOOR, CEILING, BUDGET = 0.99, 1e-4, 1e4, 3.0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ROUTER_LR, EXPERT_WARMUP = 0.5, 3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083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def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normalise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(owner, aux, weight):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    aux = aux if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torch.isfinite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(aux) else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zeros_like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(aux)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B3272D"/>
                </a:solidFill>
                <a:latin typeface="Consolas"/>
              </a:rPr>
              <a:t>▸   magnitude = min(max(float(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aux.detach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().abs()), FLOOR), CEILING)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B3272D"/>
                </a:solidFill>
                <a:latin typeface="Consolas"/>
              </a:rPr>
              <a:t>▸   scale = owner._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esmoe_aux_scale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 = DECAY * 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prev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 + (1 - DECAY) * magnitude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    term = aux / scale * weight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B3272D"/>
                </a:solidFill>
                <a:latin typeface="Consolas"/>
              </a:rPr>
              <a:t>▸   term = term * min(1.0, BUDGET / max(float(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term.detach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().abs()), FLOOR))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    return term if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isfinite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(term) and abs(term) &lt;= CEILING else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zeros_like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(term)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16899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esmoe/upstream.py：常数与出处都写在模块头部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esmoe/upstream.py:normalise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nn/mixture_loss.py:69-75,214-241,300-353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断言 </a:t>
            </a:r>
            <a:r>
              <a:rPr sz="1050">
                <a:solidFill>
                  <a:srgbClr val="1B1F24"/>
                </a:solidFill>
                <a:latin typeface="Consolas"/>
              </a:rPr>
              <a:t>tests/test_recipe.py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7" y="15361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照上游 </a:t>
            </a:r>
            <a:r>
              <a:rPr sz="1200" b="0">
                <a:solidFill>
                  <a:srgbClr val="1B1F24"/>
                </a:solidFill>
                <a:latin typeface="Consolas"/>
              </a:rPr>
              <a:t>nn/mixture_loss.py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逐行写成：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非有限换零 → 幅值夹到 [1e-4, 1e4] → decay 0.99 的 EMA → 除以它再乘 weight → 按 3.0 封顶（系数 detach）→ 末端再守一次。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为什么要做成配方而不是默认？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因为定这件事的时候，</a:t>
            </a:r>
            <a:r>
              <a:rPr sz="1200" b="0">
                <a:solidFill>
                  <a:srgbClr val="1B1F24"/>
                </a:solidFill>
                <a:latin typeface="Consolas"/>
              </a:rPr>
              <a:t>results/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里已经有 113 条按本包原来的方式训出来的记录。默认一改，它们就不再是「现在这个包」的产物。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所以：默认不动，上游那一套作为一个可选配方并列存在，同配置对照时才用它。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踩过的坑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设置必须写进配置文件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0.1.4 的缺陷：</a:t>
            </a:r>
            <a:r>
              <a:rPr sz="1400" b="0">
                <a:solidFill>
                  <a:srgbClr val="1B1F24"/>
                </a:solidFill>
                <a:latin typeface="Consolas"/>
              </a:rPr>
              <a:t>equip()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之后在块实例上设的开关，训练出来的模型里根本没有。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原因：训练器照 </a:t>
            </a:r>
            <a:r>
              <a:rPr sz="1400" b="0">
                <a:solidFill>
                  <a:srgbClr val="1B1F24"/>
                </a:solidFill>
                <a:latin typeface="Consolas"/>
              </a:rPr>
              <a:t>model.yaml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重建模型，之前那个实例连同它身上的设置一起被丢掉。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不报错、不留痕——命令行记录里写着 </a:t>
            </a:r>
            <a:r>
              <a:rPr sz="1400" b="0">
                <a:solidFill>
                  <a:srgbClr val="1B1F24"/>
                </a:solidFill>
                <a:latin typeface="Consolas"/>
              </a:rPr>
              <a:t>--balance gshard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，实际训练的是构造函数默认值。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73552"/>
            <a:ext cx="3551834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怎么修的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graft() / equip() 把设置写进 yaml；块接受一个 options 映射并按名字解析目标函数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9930" y="3273552"/>
            <a:ext cx="3551834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怎么防住下次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scripts/train.py 建好模型就读回块上的设置
与请求不符，训练开始前就退出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3273552"/>
            <a:ext cx="3551834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怎么对账历史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scripts/blockspec.py 从每个检查点读回当时真正生效的设置，逐条核对记录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85231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核完的结论：当时仓库里已发布的 120 条记录零条需要更正，因为受影响的那几条那时还没跑。这件事写在发布说明里，也写进了已知局限。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一条实验记录里要写下什么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5852160" cy="2433744"/>
          </a:xfrm>
          <a:prstGeom prst="roundRect">
            <a:avLst>
              <a:gd name="adj" fmla="val 4951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{"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experiment_id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git_ref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{"toolkit": "...",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ultralytics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"8.4.101",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            "framework": "...",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yolo_master_base_ref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"config": {"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model_yaml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"...", "sha256": "...", "balance": "...",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          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out_norm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false,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dynamic_threshold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0.0, "blocks": 1},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"dataset": {"name": "...", "splits": {"train": 6471,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val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548}},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"hardware": {"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gpu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"...", "torch": "..."},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"budget": {"epochs": 120, "batch": 32,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imgsz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800,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           "amp": true,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amp_at_end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false,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gpu_hours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10.75},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"seed": 0, "metrics": {...}, "params": 2814406,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"artifact": {"path": "...", "sha256": "..."}}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4308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scripts/train.py 每跑完一条就写一条；任务书附录 B 要求的字段逐项对得上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4848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199 条记录，其中 142 条满协议。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1">
              <a:solidFill>
                <a:srgbClr val="B3272D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三个字段是后来加的，都是被现实逼出来的：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amp_at_end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训练器可能中途关掉混合精度，</a:t>
            </a:r>
            <a:r>
              <a:rPr sz="1250" b="0">
                <a:solidFill>
                  <a:srgbClr val="1B1F24"/>
                </a:solidFill>
                <a:latin typeface="Consolas"/>
              </a:rPr>
              <a:t>args.amp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 不会变；只有读训练器状态才知道。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batch_at_end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首轮显存不足时 ultralytics 会自动把 batch 减半，那一轮就不是同一个实验了。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epochs_replayed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上游会回滚重跑某一轮，不记下来就对不上时间。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为什么要再测一遍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训练曲线上的指标，是</a:t>
            </a:r>
            <a:r>
              <a:rPr sz="1450" b="1">
                <a:solidFill>
                  <a:srgbClr val="1B1F24"/>
                </a:solidFill>
                <a:latin typeface="Microsoft YaHei"/>
              </a:rPr>
              <a:t>各自的训练器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测出来的：两个框架的验证实现不同，不该直接相减。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scripts/measure.py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　按各 run 自己的配置重建模型 → 装回它 </a:t>
            </a:r>
            <a:r>
              <a:rPr sz="1400" b="0">
                <a:solidFill>
                  <a:srgbClr val="1B1F24"/>
                </a:solidFill>
                <a:latin typeface="Consolas"/>
              </a:rPr>
              <a:t>last.pt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里的 EMA 权重 → 用同一套验证参数各测一遍。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取 </a:t>
            </a:r>
            <a:r>
              <a:rPr sz="1400" b="0">
                <a:solidFill>
                  <a:srgbClr val="1B1F24"/>
                </a:solidFill>
                <a:latin typeface="Consolas"/>
              </a:rPr>
              <a:t>last.pt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而不是 </a:t>
            </a:r>
            <a:r>
              <a:rPr sz="1400" b="0">
                <a:solidFill>
                  <a:srgbClr val="1B1F24"/>
                </a:solidFill>
                <a:latin typeface="Consolas"/>
              </a:rPr>
              <a:t>best.pt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：四臂都 </a:t>
            </a:r>
            <a:r>
              <a:rPr sz="1400" b="0">
                <a:solidFill>
                  <a:srgbClr val="1B1F24"/>
                </a:solidFill>
                <a:latin typeface="Consolas"/>
              </a:rPr>
              <a:t>patience=0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跑满 120 轮，末轮权重可比；而 B 臂的 </a:t>
            </a:r>
            <a:r>
              <a:rPr sz="1400" b="0">
                <a:solidFill>
                  <a:srgbClr val="1B1F24"/>
                </a:solidFill>
                <a:latin typeface="Consolas"/>
              </a:rPr>
              <a:t>best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曾由那个坏掉的验证指标挑出。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记录本身不改写——训练器当时测到的值留在 </a:t>
            </a:r>
            <a:r>
              <a:rPr sz="1400" b="0">
                <a:solidFill>
                  <a:srgbClr val="1B1F24"/>
                </a:solidFill>
                <a:latin typeface="Consolas"/>
              </a:rPr>
              <a:t>metrics_by_trainer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里，谁都能对照。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462272"/>
            <a:ext cx="3551834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同一份权重重复测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差约 0.0002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9930" y="4462272"/>
            <a:ext cx="3551834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验证集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548 张图、38759 个实例，三张卡一致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4462272"/>
            <a:ext cx="3551834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评测参数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imgsz 800、batch 16、不用半精度、同一份 data yaml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我们的包 · 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对账两件套与交付审计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我们的包</a:t>
            </a:r>
            <a:r>
              <a:rPr sz="950">
                <a:solidFill>
                  <a:srgbClr val="667085"/>
                </a:solidFill>
                <a:latin typeface="Consolas"/>
              </a:rPr>
              <a:t>　·　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blockspec.py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从每个检查点读回它当时真正生效的块设置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backfill.py --check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配置哈希、数据集划分、卡时、产物校验和，逐条补齐并复核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closure.py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把交付与实验纪律逐条对着仓库证据核一遍，当前 0 项未达标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547872"/>
          <a:ext cx="106070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criterion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met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evidence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provenance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142 条满协议记录带版本、环境与配置哈希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controls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100 条臂运行与同 seed、同卡的基线配对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statistics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31 个比较格，29 个满三 seed；不满的两格已在已知局限里声明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negative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11 次登记、3 条结果出来之前的更正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upstream fix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#241 已合入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aux loss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94 条运行优化了它；verify.json 里 10 项检查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closure.py 的输出（节选）——它读的是记录与 git 历史，不是人写的清单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1F8A80"/>
                </a:solidFill>
                <a:latin typeface="Microsoft YaHei"/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88920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800" b="0">
                <a:solidFill>
                  <a:srgbClr val="1B1F24"/>
                </a:solidFill>
                <a:latin typeface="Microsoft YaHei"/>
              </a:rPr>
              <a:t>实验与数据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199 条记录、142 条满协议运行、八轮判读线。这一部分只讲测出了什么，以及哪些没测出来。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方法论：先把噪声底量出来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17</a:t>
            </a:r>
          </a:p>
        </p:txBody>
      </p:sp>
      <p:pic>
        <p:nvPicPr>
          <p:cNvPr id="5" name="Picture 4" descr="noise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536192"/>
            <a:ext cx="7315200" cy="3273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467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同配置、同 seed、同一张卡跑两遍，mAP50 差多少？混合精度下平均 0.0045、最大 0.0130；FP32 下平均 0.0038、最大 0.0103。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这就是所有效应的分母。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比它小的差别，我们只写方向，不写幅度；大于它的才谈得上「有效」。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这几对重复运行不是特意安排的：是一次误标把同一条臂跑了两遍，发现后没有丢掉，而是当尺子用。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怎么测的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数据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VisDrone2019-DET 全量：train 6471 / val 548，10 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预算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imgsz 800、120 epoch、batch 32、patience 0，其余取默认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配对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开关两臂同 seed、同卡，比的是配对差值而不是两组均值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重复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每格三个 seed 起（v10n 五个）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564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为什么强调「同卡」：同一配置换一台机器跑，结果会差——我们实测过，所以分组键里带硬件栈，配对也只在卡内做。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为什么强调「配对差」：两组均值会被 seed 的离散度淹没；配对差消掉了 seed 本身的影响。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三个 seed 不支持显著性检验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（3/3 全胜时符号检验 p = 0.125），所以这里任何「有效」都只写成方向一致的小幅改善。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七代主干：效应按主干末端分组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19</a:t>
            </a:r>
          </a:p>
        </p:txBody>
      </p:sp>
      <p:pic>
        <p:nvPicPr>
          <p:cNvPr id="5" name="Picture 4" descr="generation-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36192"/>
            <a:ext cx="7132320" cy="3571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1786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SPPF 结尾的三代为正；末端换成注意力块之后贴零；E2E 头转负。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按版本号排并不单调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：v10n（−0.0002）低于 11n（+0.0013）。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对照臂：上游的每一处默认，单独测一遍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20</a:t>
            </a:r>
          </a:p>
        </p:txBody>
      </p:sp>
      <p:pic>
        <p:nvPicPr>
          <p:cNvPr id="5" name="Picture 4" descr="alignment-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536192"/>
            <a:ext cx="8046720" cy="3704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85231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上游块内的两个默认（输出归一化、训练期跑满专家）在 v5n 上都是 3/3 为正——它们不是无谓的复杂度。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四块布局在本包默认配方下两个主干 9 个 seed 全负；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每块权重降到四分之一、辅助损失总量对齐单块后仍然全负：差在块数，不在平衡压力。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塌缩分两层：分派集中，和专家死掉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21</a:t>
            </a:r>
          </a:p>
        </p:txBody>
      </p:sp>
      <p:pic>
        <p:nvPicPr>
          <p:cNvPr id="5" name="Picture 4" descr="dead-e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0512"/>
            <a:ext cx="6035040" cy="2262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0608" y="15361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第一层：分派集中。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主导专家吃下 0.47–0.94 的 top-1 选择。但它不预测精度——81 个运行上相关系数 r = +0.044。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第二层：专家死掉。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进入 top-2 的验证图不足 1%，就再也拿不到梯度。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去掉平衡项：6 个检查点全部死掉两个专家。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权重 0.01 的 Switch 项：66 个检查点一个都没有。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读门控的目标（上游、论文）：6 个里 5 个有死专家。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47357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左图是第七轮 B 臂的三个检查点：四个块里三个各有死专家，块 3 三次都没有。路由概率的熵是最大值的 98.5%（几乎均匀），而 top-2 组合恒定——概率均匀掩盖了分派塌缩。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先复核一遍：他们发布的模型，我们能不能装起来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95097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COCO val2017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YOLO-Master 分支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官方 Ultralytics + 本包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precision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0.68425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0.68425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recall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0.53357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0.53357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mAP50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0.58532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0.58532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mAP50-95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0.42288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0.42288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参数量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2,694,364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2,694,364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136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把发布权重装进本包的块，四项指标逐位一致。这说明块的前向在数值上就是同一个东西。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顺带一条供上游参考：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发布的这个模型是每块 3 专家、top-3 全开，与仓库 yaml 在当前代码下建出的 4 专家 top-2 不是同一个配置。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第七轮：同一个模型，两个框架各训一遍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79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臂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框架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训练方式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上游分支（锁定 acce839c）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它自己的 yolo-master-n，四个 ES_MOE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上游分支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同一模型去掉四个块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官方 8.4.101 + 本包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同一模型，四个 ESMoE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复刻上游配方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官方 8.4.101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同一模型去掉四个块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3649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每个 seed 的四臂在同一张卡上。A 与 B 逐层参数一致（2,814,406），两条基线一致（2,291,406）。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两个问题：</a:t>
            </a:r>
            <a:r>
              <a:rPr sz="1400" b="1">
                <a:solidFill>
                  <a:srgbClr val="1B1F24"/>
                </a:solidFill>
                <a:latin typeface="Microsoft YaHei"/>
              </a:rPr>
              <a:t>两个实现是不是一回事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（A − B），以及</a:t>
            </a:r>
            <a:r>
              <a:rPr sz="1400" b="1">
                <a:solidFill>
                  <a:srgbClr val="1B1F24"/>
                </a:solidFill>
                <a:latin typeface="Microsoft YaHei"/>
              </a:rPr>
              <a:t>同样的块在两个框架里是不是同样的作用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（差之差）。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四条预测在开跑前就登记了。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第八轮把四臂都换成 FP32，摘掉 A − B 里的精度混杂。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第七轮的结果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24</a:t>
            </a:r>
          </a:p>
        </p:txBody>
      </p:sp>
      <p:pic>
        <p:nvPicPr>
          <p:cNvPr id="5" name="Picture 4" descr="same-config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536192"/>
            <a:ext cx="7498079" cy="3919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三个 seed，四臂逐一重测。A0 在每个 seed 上都低于 C，差 0.0055 至 0.0084；两条带块的臂都高于各自的基线。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把它读成四条配对差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25</a:t>
            </a:r>
          </a:p>
        </p:txBody>
      </p:sp>
      <p:pic>
        <p:nvPicPr>
          <p:cNvPr id="5" name="Picture 4" descr="same-config-d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536192"/>
            <a:ext cx="7863840" cy="3268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 − A0 与 B − C 都为正、都 3/3、区间都不跨零：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块在两个框架里都有效。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差之差落在噪声带内：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两边加的量一样多——这就是「同样的块在两个框架里作用一致」。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 − B 跨在两条判读线之间，记为无法判定，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　并且含一项混杂：A、A0 在第 1 轮就被上游训练器关成 FP32，B、C 是混合精度。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第七轮的分档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26</a:t>
            </a:r>
          </a:p>
        </p:txBody>
      </p:sp>
      <p:pic>
        <p:nvPicPr>
          <p:cNvPr id="5" name="Picture 4" descr="buckets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6766560" cy="3440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两个框架里，块都让各档齐涨，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大目标涨得最多。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第七轮里小目标的增益最小，这与论文说本设计利好小目标不一致。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训练成本：两轮分开看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27</a:t>
            </a:r>
          </a:p>
        </p:txBody>
      </p:sp>
      <p:pic>
        <p:nvPicPr>
          <p:cNvPr id="5" name="Picture 4" descr="cost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6766560" cy="3201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第七轮（混合精度）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上游那两条臂在第 1 轮被自己的训练器关掉混合精度，此后整程 FP32；B、C 全程混合精度。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A 臂 10.8 卡时，B 臂 4.7 卡时。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第八轮（FP32）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四臂从第 1 轮就是 FP32。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A 臂 10.6 卡时，B 臂 10.6 卡时，两者相当：第七轮的耗时差来自精度。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第八轮四臂都在 FP32 下训，A − B 只剩实现差。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第八轮：四臂全程 FP32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怎么做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四臂全部 --amp 0，从第 1 轮就是 FP32；一台机器三张 C500，一卡一个 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开跑前验了什么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卡上的 fork 与配置与锁定版本逐字节一致；四臂冒烟都是 amp_at_end=False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中途出的事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seed 2 的 A0 三次被同一个设备故障打断，由完成 114 轮的检查点续跑完成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顺带修的设计缺口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分组键补上精度；同一配置再跑一遍只进噪声底，不顶替原实验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22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问题与第七轮相同：两个实现是不是一回事（A − B），同样的块在两个框架里是不是同样的作用（差之差）。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四条预测在 B、C 臂结果出来之前登记，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见判读线的第八轮预登记。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29</a:t>
            </a:r>
          </a:p>
        </p:txBody>
      </p:sp>
      <p:pic>
        <p:nvPicPr>
          <p:cNvPr id="5" name="Picture 4" descr="same-config-bars-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536192"/>
            <a:ext cx="7498079" cy="3919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三个 seed，四臂逐一重测。两条带块的臂仍都高于各自的基线；seed 2 上 B 与 A 几乎打平。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第八轮的四条配对差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30</a:t>
            </a:r>
          </a:p>
        </p:txBody>
      </p:sp>
      <p:pic>
        <p:nvPicPr>
          <p:cNvPr id="5" name="Picture 4" descr="same-config-did-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536192"/>
            <a:ext cx="7863840" cy="3268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差之差 +0.0009，仍等效；A − A0 +0.0104，仍有效（3/3）：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块在两个框架里的作用一致，这一条两轮都成立。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B − C 三个 seed 都为正、mAP50-95 也为正，按判读线有效；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seed 0 只有 +0.0042，区间跨零，按噪声底三档无法判定。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 − B 从第七轮的 −0.0069 翻到 +0.0046，仍跨在判读线之间。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　B 在 FP32 下也要 10.6 小时，与 A 相同：第七轮的耗时差来自精度。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第八轮的分档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31</a:t>
            </a:r>
          </a:p>
        </p:txBody>
      </p:sp>
      <p:pic>
        <p:nvPicPr>
          <p:cNvPr id="5" name="Picture 4" descr="buckets-bars-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6766560" cy="34829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两个框架里都是大目标涨得最多，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但都只有 2/3 为正。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上游一侧：小目标 +0.0086，仍小于中目标 +0.0106。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本包一侧：小目标 +0.0069，与中目标 +0.0063 相当。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第七轮两侧都是小目标最小（+0.0049、+0.0080）。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FP32 下同配置跑两遍差多少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58521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臂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原运行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重复运行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差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B（seed 0）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0.3636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0.0035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C（seed 0）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0.3559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0.3560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A（seed 1）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0.3651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0.3634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0.0018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A0（seed 1）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0.3552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0.3519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0.0033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C（seed 2）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0.3521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0.0103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87952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五对的差：均值 0.0038，最大 0.0103。混合精度下是 0.0045 / 0.0130，同一量级。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带块两对的差都小于基线三对的均值，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预登记的「带块运行离散度更大」没有成立。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76288" y="1536192"/>
          <a:ext cx="46634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第八轮的差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混合精度底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FP32 底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判读线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 − B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 − A0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B − C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差之差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76288" y="418795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两套噪声底给出的档位相同。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A − A0、B − C 另按判读线判：配对 mAP50 均值 &gt; 0、至少 2/3 为正、mAP50-95 均值 ≥ 0。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判读线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八轮判读线，逐条对账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800" cy="2282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轮次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问的问题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一 ~ 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块在单个主干上有没有效、随预算怎么变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两条预测成立，一条被推翻并公开更正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四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平衡项换成读门控的目标会怎样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预测成立：塌缩没有解除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四块布局是不是更好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预测被推翻，方向相反：四块全负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六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平衡项到底在防什么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预测成立：它防的是专家死掉，不是分派集中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七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我们的实现与上游是不是一回事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块的作用一致（等效）；整体比较无法判定；四块那条预测被推翻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八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去掉精度混杂后还是不是一回事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块的作用仍一致（等效）；整体比较仍无法判定；两侧加块都有效；FP32 噪声底与混合精度同量级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336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11 次登记、3 条结果出来之前的更正，全部带 git 时间戳（</a:t>
            </a:r>
            <a:r>
              <a:rPr sz="1350" b="0">
                <a:solidFill>
                  <a:srgbClr val="1B1F24"/>
                </a:solidFill>
                <a:latin typeface="Consolas"/>
              </a:rPr>
              <a:t>closure.py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从 git 历史数出）。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被结果推翻的预测不删，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判读线页上每一轮都保留原文，判定写在后面。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不主张的部分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已知局限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只在 VisDrone 上做过满协议对照，没有跨数据集结论；nano 量级主干、单卡。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三个 seed，统计力不足以做显著性检验；效应量与同配置重复运行的离散度同量级。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路由没有学到按尺度分工：概率与目标尺寸的相关跨 seed 变号。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平衡项防得住专家死掉，维持不了均匀分派。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四块布局的结论限定在配方之内：换上游那一整套之后结论相反。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上游训练器静默关闭混合精度，只在曦云 C500 上实测到，未在其他卡复现。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没有用 </a:t>
            </a:r>
            <a:r>
              <a:rPr sz="1400" b="0">
                <a:solidFill>
                  <a:srgbClr val="1B1F24"/>
                </a:solidFill>
                <a:latin typeface="Consolas"/>
              </a:rPr>
              <a:t>compile=True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实跑过多卡训练；对应的 DDP 设置与编译路径分别验证过。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6451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这一页与文档站的已知局限逐条一致。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引用这里的任何数字之前，请先读它。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复算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怎么复现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680960" cy="2242819"/>
          </a:xfrm>
          <a:prstGeom prst="roundRect">
            <a:avLst>
              <a:gd name="adj" fmla="val 4831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git clone https://github.com/Lfan-ke/ES-MoE &amp;&amp; cd ES-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MoE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sync --group dev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pytest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-q                      # 319 项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scripts/report.py       #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配对表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scripts/same_config.py  #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与上游的同配置对照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scripts/buckets.py --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summarise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scripts/routing.py --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summarise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scripts/closure.py      #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交付审计</a:t>
            </a:r>
            <a:endParaRPr sz="125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852163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不需要重训：分档与路由都只读检查点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5361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权重在 </a:t>
            </a:r>
            <a:r>
              <a:rPr sz="1150" b="0">
                <a:solidFill>
                  <a:srgbClr val="1B1F24"/>
                </a:solidFill>
                <a:latin typeface="Consolas"/>
              </a:rPr>
              <a:t>checkpoints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 分支（Git LFS，孤儿分支，与 main 隔离）：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weights/&lt;run&gt;-best.pt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每个满协议运行的检查点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weights/&lt;run&gt;-last.pt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同配置对照四臂的最终权重（重测用的就是它）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args/&lt;run&gt;.yaml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完整训练参数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curves/&lt;run&gt;.csv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逐轮曲线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我们主张什么，不主张什么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5303520" cy="31089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54864" rtlCol="0" anchor="t"/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1">
                <a:solidFill>
                  <a:srgbClr val="1B1F24"/>
                </a:solidFill>
                <a:latin typeface="Microsoft YaHei"/>
              </a:rPr>
              <a:t>我们主张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这个块可以不改框架、不用 fork 就装进官方 Ultralytics，并且辅助损失真的进优化器。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我们的实现与上游在块这一层是同一个东西：发布模型逐位复核过，满协议对照里作用等效。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在 VisDrone、nano 主干、这个预算下，效应的方向按主干末端的结构分组。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平衡项防的是专家死掉；读门控的目标防不住。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536192"/>
            <a:ext cx="5303520" cy="31089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54864" rtlCol="0" anchor="t"/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1">
                <a:solidFill>
                  <a:srgbClr val="1B1F24"/>
                </a:solidFill>
                <a:latin typeface="Microsoft YaHei"/>
              </a:rPr>
              <a:t>我们不主张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不主张这个块在别的数据集、别的量级上也涨点。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不主张任何一个幅度：效应与重复运行的离散度同量级。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不主张「路由学会了按尺度分工」——我们没测到。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不主张论文的架构对比结论，那不是本课题测的东西。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109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这两栏的分界，就是这份工作最想守住的东西：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测出来的写进左边，没测的一律留在右边。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实验与数据 ·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交付清单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8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交付物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在哪里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插件包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PyPI esmoe 1.0.0；仓库 github.com/Lfan-ke/ES-MoE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文档与教程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lfan-ke.github.io/ES-MoE（九页中英双语）+ Colab 快速上手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实验记录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results/ 里每条运行一份 JSON；表与图由脚本重算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权重与曲线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checkpoints 分支（Git LFS）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判读线与更正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docs/JUDGMENT.md，八轮，含被推翻的预测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上游贡献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YOLO-Master PR #241（已合入）、结项讨论 #276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793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感谢阅读。问题与复现障碍都欢迎开 issue——这份工作最想留下的，是「结论能被别人重算」这件事本身。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3184</Words>
  <Application>Microsoft Office PowerPoint</Application>
  <PresentationFormat>宽屏</PresentationFormat>
  <Paragraphs>530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Arial</vt:lpstr>
      <vt:lpstr>Calibri</vt:lpstr>
      <vt:lpstr>Consolas</vt:lpstr>
      <vt:lpstr>Microsoft YaHei</vt:lpstr>
      <vt:lpstr>Microsoft YaHei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 Cheng</cp:lastModifiedBy>
  <cp:revision>14</cp:revision>
  <dcterms:created xsi:type="dcterms:W3CDTF">2013-01-27T09:14:16Z</dcterms:created>
  <dcterms:modified xsi:type="dcterms:W3CDTF">2026-09-14T12:14:32Z</dcterms:modified>
  <cp:category/>
</cp:coreProperties>
</file>